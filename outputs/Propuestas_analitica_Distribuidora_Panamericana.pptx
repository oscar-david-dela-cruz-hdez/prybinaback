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mpany">
            <a:extLst>
              <a:ext uri="{FF2B5EF4-FFF2-40B4-BE49-F238E27FC236}">
                <a16:creationId xmlns:a16="http://schemas.microsoft.com/office/drawing/2014/main" id="{7FF50296-E953-40D3-B781-59A9A581C3EE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DISTRIBUIDORA PANAMERICANA · GRUPO 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D04C9F4-83FF-419A-8EE8-5FBD6FDCC659}"/>
              </a:ext>
            </a:extLst>
          </p:cNvPr>
          <p:cNvSpPr>
            <a:spLocks noGrp="1"/>
          </p:cNvSpPr>
          <p:nvPr/>
        </p:nvSpPr>
        <p:spPr>
          <a:xfrm>
            <a:off x="457200" y="685800"/>
            <a:ext cx="52197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315DBF"/>
                </a:solidFill>
              </a:defRPr>
            </a:pPr>
            <a:r>
              <a:rPr sz="2625" b="1">
                <a:solidFill>
                  <a:srgbClr val="315DBF"/>
                </a:solidFill>
              </a:rPr>
              <a:t>Sistema de gestión de ventas e inventario para la Distribuidora Panamericana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FD91BBFA-AA86-4434-91AB-FEC07EBF3014}"/>
              </a:ext>
            </a:extLst>
          </p:cNvPr>
          <p:cNvSpPr>
            <a:spLocks noGrp="1"/>
          </p:cNvSpPr>
          <p:nvPr/>
        </p:nvSpPr>
        <p:spPr>
          <a:xfrm>
            <a:off x="457200" y="2324100"/>
            <a:ext cx="5219700" cy="19050"/>
          </a:xfrm>
          <a:prstGeom prst="rect">
            <a:avLst/>
          </a:prstGeom>
          <a:solidFill>
            <a:srgbClr val="20252D"/>
          </a:solidFill>
          <a:ln w="0">
            <a:solidFill>
              <a:srgbClr val="20252D"/>
            </a:solidFill>
            <a:prstDash val="solid"/>
          </a:ln>
        </p:spPr>
      </p:sp>
      <p:sp>
        <p:nvSpPr>
          <p:cNvPr id="4" name="description">
            <a:extLst>
              <a:ext uri="{FF2B5EF4-FFF2-40B4-BE49-F238E27FC236}">
                <a16:creationId xmlns:a16="http://schemas.microsoft.com/office/drawing/2014/main" id="{4525A92F-2C4E-448E-8122-44A700D76803}"/>
              </a:ext>
            </a:extLst>
          </p:cNvPr>
          <p:cNvSpPr>
            <a:spLocks noGrp="1"/>
          </p:cNvSpPr>
          <p:nvPr/>
        </p:nvSpPr>
        <p:spPr>
          <a:xfrm>
            <a:off x="457200" y="2628900"/>
            <a:ext cx="49530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20252D"/>
                </a:solidFill>
              </a:defRPr>
            </a:pPr>
            <a:r>
              <a:rPr lang="es-MX" sz="1350" dirty="0">
                <a:solidFill>
                  <a:srgbClr val="20252D"/>
                </a:solidFill>
              </a:rPr>
              <a:t>La aplicación es una p</a:t>
            </a:r>
            <a:r>
              <a:rPr sz="1350" b="0" dirty="0" err="1">
                <a:solidFill>
                  <a:srgbClr val="20252D"/>
                </a:solidFill>
              </a:rPr>
              <a:t>lataforma</a:t>
            </a:r>
            <a:r>
              <a:rPr sz="1350" b="0" dirty="0">
                <a:solidFill>
                  <a:srgbClr val="20252D"/>
                </a:solidFill>
              </a:rPr>
              <a:t> web para </a:t>
            </a:r>
            <a:r>
              <a:rPr sz="1350" b="0" dirty="0" err="1">
                <a:solidFill>
                  <a:srgbClr val="20252D"/>
                </a:solidFill>
              </a:rPr>
              <a:t>administrar</a:t>
            </a:r>
            <a:r>
              <a:rPr sz="1350" b="0" dirty="0">
                <a:solidFill>
                  <a:srgbClr val="20252D"/>
                </a:solidFill>
              </a:rPr>
              <a:t> </a:t>
            </a:r>
            <a:r>
              <a:rPr sz="1350" b="0" dirty="0" err="1">
                <a:solidFill>
                  <a:srgbClr val="20252D"/>
                </a:solidFill>
              </a:rPr>
              <a:t>el</a:t>
            </a:r>
            <a:r>
              <a:rPr sz="1350" b="0" dirty="0">
                <a:solidFill>
                  <a:srgbClr val="20252D"/>
                </a:solidFill>
              </a:rPr>
              <a:t> </a:t>
            </a:r>
            <a:r>
              <a:rPr sz="1350" b="0" dirty="0" err="1">
                <a:solidFill>
                  <a:srgbClr val="20252D"/>
                </a:solidFill>
              </a:rPr>
              <a:t>catálogo</a:t>
            </a:r>
            <a:r>
              <a:rPr sz="1350" b="0" dirty="0">
                <a:solidFill>
                  <a:srgbClr val="20252D"/>
                </a:solidFill>
              </a:rPr>
              <a:t>, </a:t>
            </a:r>
            <a:r>
              <a:rPr sz="1350" b="0" dirty="0" err="1">
                <a:solidFill>
                  <a:srgbClr val="20252D"/>
                </a:solidFill>
              </a:rPr>
              <a:t>controlar</a:t>
            </a:r>
            <a:r>
              <a:rPr sz="1350" b="0" dirty="0">
                <a:solidFill>
                  <a:srgbClr val="20252D"/>
                </a:solidFill>
              </a:rPr>
              <a:t> </a:t>
            </a:r>
            <a:r>
              <a:rPr sz="1350" b="0" dirty="0" err="1">
                <a:solidFill>
                  <a:srgbClr val="20252D"/>
                </a:solidFill>
              </a:rPr>
              <a:t>existencias</a:t>
            </a:r>
            <a:r>
              <a:rPr sz="1350" b="0" dirty="0">
                <a:solidFill>
                  <a:srgbClr val="20252D"/>
                </a:solidFill>
              </a:rPr>
              <a:t>, registrar </a:t>
            </a:r>
            <a:r>
              <a:rPr sz="1350" b="0" dirty="0" err="1">
                <a:solidFill>
                  <a:srgbClr val="20252D"/>
                </a:solidFill>
              </a:rPr>
              <a:t>pedidos</a:t>
            </a:r>
            <a:r>
              <a:rPr sz="1350" b="0" dirty="0">
                <a:solidFill>
                  <a:srgbClr val="20252D"/>
                </a:solidFill>
              </a:rPr>
              <a:t> y </a:t>
            </a:r>
            <a:r>
              <a:rPr sz="1350" b="0" dirty="0" err="1">
                <a:solidFill>
                  <a:srgbClr val="20252D"/>
                </a:solidFill>
              </a:rPr>
              <a:t>consultar</a:t>
            </a:r>
            <a:r>
              <a:rPr sz="1350" b="0" dirty="0">
                <a:solidFill>
                  <a:srgbClr val="20252D"/>
                </a:solidFill>
              </a:rPr>
              <a:t> </a:t>
            </a:r>
            <a:r>
              <a:rPr sz="1350" b="0" dirty="0" err="1">
                <a:solidFill>
                  <a:srgbClr val="20252D"/>
                </a:solidFill>
              </a:rPr>
              <a:t>ventas</a:t>
            </a:r>
            <a:r>
              <a:rPr sz="1350" b="0" dirty="0">
                <a:solidFill>
                  <a:srgbClr val="20252D"/>
                </a:solidFill>
              </a:rPr>
              <a:t>. Integra </a:t>
            </a:r>
            <a:r>
              <a:rPr sz="1350" b="0" dirty="0" err="1">
                <a:solidFill>
                  <a:srgbClr val="20252D"/>
                </a:solidFill>
              </a:rPr>
              <a:t>productos</a:t>
            </a:r>
            <a:r>
              <a:rPr sz="1350" b="0" dirty="0">
                <a:solidFill>
                  <a:srgbClr val="20252D"/>
                </a:solidFill>
              </a:rPr>
              <a:t>, </a:t>
            </a:r>
            <a:r>
              <a:rPr sz="1350" b="0" dirty="0" err="1">
                <a:solidFill>
                  <a:srgbClr val="20252D"/>
                </a:solidFill>
              </a:rPr>
              <a:t>marcas</a:t>
            </a:r>
            <a:r>
              <a:rPr sz="1350" b="0" dirty="0">
                <a:solidFill>
                  <a:srgbClr val="20252D"/>
                </a:solidFill>
              </a:rPr>
              <a:t>, </a:t>
            </a:r>
            <a:r>
              <a:rPr sz="1350" b="0" dirty="0" err="1">
                <a:solidFill>
                  <a:srgbClr val="20252D"/>
                </a:solidFill>
              </a:rPr>
              <a:t>familias</a:t>
            </a:r>
            <a:r>
              <a:rPr sz="1350" b="0" dirty="0">
                <a:solidFill>
                  <a:srgbClr val="20252D"/>
                </a:solidFill>
              </a:rPr>
              <a:t>, </a:t>
            </a:r>
            <a:r>
              <a:rPr sz="1350" b="0" dirty="0" err="1">
                <a:solidFill>
                  <a:srgbClr val="20252D"/>
                </a:solidFill>
              </a:rPr>
              <a:t>usuarios</a:t>
            </a:r>
            <a:r>
              <a:rPr sz="1350" b="0" dirty="0">
                <a:solidFill>
                  <a:srgbClr val="20252D"/>
                </a:solidFill>
              </a:rPr>
              <a:t>, </a:t>
            </a:r>
            <a:r>
              <a:rPr sz="1350" b="0" dirty="0" err="1">
                <a:solidFill>
                  <a:srgbClr val="20252D"/>
                </a:solidFill>
              </a:rPr>
              <a:t>ofertas</a:t>
            </a:r>
            <a:r>
              <a:rPr sz="1350" b="0" dirty="0">
                <a:solidFill>
                  <a:srgbClr val="20252D"/>
                </a:solidFill>
              </a:rPr>
              <a:t> y </a:t>
            </a:r>
            <a:r>
              <a:rPr sz="1350" b="0" dirty="0" err="1">
                <a:solidFill>
                  <a:srgbClr val="20252D"/>
                </a:solidFill>
              </a:rPr>
              <a:t>métodos</a:t>
            </a:r>
            <a:r>
              <a:rPr sz="1350" b="0" dirty="0">
                <a:solidFill>
                  <a:srgbClr val="20252D"/>
                </a:solidFill>
              </a:rPr>
              <a:t> de </a:t>
            </a:r>
            <a:r>
              <a:rPr sz="1350" b="0" dirty="0" err="1">
                <a:solidFill>
                  <a:srgbClr val="20252D"/>
                </a:solidFill>
              </a:rPr>
              <a:t>entrega</a:t>
            </a:r>
            <a:r>
              <a:rPr sz="1350" b="0" dirty="0">
                <a:solidFill>
                  <a:srgbClr val="20252D"/>
                </a:solidFill>
              </a:rPr>
              <a:t> </a:t>
            </a:r>
            <a:r>
              <a:rPr sz="1350" b="0" dirty="0" err="1">
                <a:solidFill>
                  <a:srgbClr val="20252D"/>
                </a:solidFill>
              </a:rPr>
              <a:t>en</a:t>
            </a:r>
            <a:r>
              <a:rPr sz="1350" b="0" dirty="0">
                <a:solidFill>
                  <a:srgbClr val="20252D"/>
                </a:solidFill>
              </a:rPr>
              <a:t> una sola </a:t>
            </a:r>
            <a:r>
              <a:rPr sz="1350" b="0" dirty="0" err="1">
                <a:solidFill>
                  <a:srgbClr val="20252D"/>
                </a:solidFill>
              </a:rPr>
              <a:t>operación</a:t>
            </a:r>
            <a:r>
              <a:rPr sz="1350" b="0" dirty="0">
                <a:solidFill>
                  <a:srgbClr val="20252D"/>
                </a:solidFill>
              </a:rPr>
              <a:t>.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00A74733-789C-4C0B-A574-F02956D7DD66}"/>
              </a:ext>
            </a:extLst>
          </p:cNvPr>
          <p:cNvSpPr>
            <a:spLocks noGrp="1"/>
          </p:cNvSpPr>
          <p:nvPr/>
        </p:nvSpPr>
        <p:spPr>
          <a:xfrm>
            <a:off x="457200" y="42100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315DBF"/>
                </a:solidFill>
              </a:defRPr>
            </a:pPr>
            <a:r>
              <a:rPr lang="es-MX" sz="975" b="1" dirty="0">
                <a:solidFill>
                  <a:srgbClr val="315DBF"/>
                </a:solidFill>
              </a:rPr>
              <a:t>COLECCIONES PRINCIPALES: </a:t>
            </a:r>
            <a:r>
              <a:rPr sz="975" b="1" dirty="0">
                <a:solidFill>
                  <a:srgbClr val="315DBF"/>
                </a:solidFill>
              </a:rPr>
              <a:t>CATÁLOGO  ·  INVENTARIO  ·  PEDIDOS  ·  VENTAS</a:t>
            </a:r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00750" y="1156803"/>
            <a:ext cx="5734050" cy="3001344"/>
          </a:xfrm>
          <a:prstGeom prst="roundRect">
            <a:avLst>
              <a:gd name="adj" fmla="val 1449"/>
            </a:avLst>
          </a:prstGeom>
        </p:spPr>
      </p:pic>
      <p:sp>
        <p:nvSpPr>
          <p:cNvPr id="7" name="caption">
            <a:extLst>
              <a:ext uri="{FF2B5EF4-FFF2-40B4-BE49-F238E27FC236}">
                <a16:creationId xmlns:a16="http://schemas.microsoft.com/office/drawing/2014/main" id="{415B6DED-B94E-4747-B967-6E354AEEBCDE}"/>
              </a:ext>
            </a:extLst>
          </p:cNvPr>
          <p:cNvSpPr>
            <a:spLocks noGrp="1"/>
          </p:cNvSpPr>
          <p:nvPr/>
        </p:nvSpPr>
        <p:spPr>
          <a:xfrm>
            <a:off x="6000750" y="4762500"/>
            <a:ext cx="5734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Captura del sistema — página principal</a:t>
            </a:r>
          </a:p>
        </p:txBody>
      </p:sp>
      <p:sp>
        <p:nvSpPr>
          <p:cNvPr id="8" name="note">
            <a:extLst>
              <a:ext uri="{FF2B5EF4-FFF2-40B4-BE49-F238E27FC236}">
                <a16:creationId xmlns:a16="http://schemas.microsoft.com/office/drawing/2014/main" id="{656A97F5-12FA-4324-AE14-104EF03ABB83}"/>
              </a:ext>
            </a:extLst>
          </p:cNvPr>
          <p:cNvSpPr>
            <a:spLocks noGrp="1"/>
          </p:cNvSpPr>
          <p:nvPr/>
        </p:nvSpPr>
        <p:spPr>
          <a:xfrm>
            <a:off x="457200" y="5715000"/>
            <a:ext cx="1028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315DBF"/>
                </a:solidFill>
              </a:defRPr>
            </a:pPr>
            <a:r>
              <a:rPr sz="1275" b="1">
                <a:solidFill>
                  <a:srgbClr val="315DBF"/>
                </a:solidFill>
              </a:rPr>
              <a:t>Base para tres aplicaciones de analítica: anticipar, segmentar decisiones y personalizar la experiencia.</a:t>
            </a:r>
          </a:p>
        </p:txBody>
      </p:sp>
      <p:sp>
        <p:nvSpPr>
          <p:cNvPr id="9" name="page">
            <a:extLst>
              <a:ext uri="{FF2B5EF4-FFF2-40B4-BE49-F238E27FC236}">
                <a16:creationId xmlns:a16="http://schemas.microsoft.com/office/drawing/2014/main" id="{727DC9AF-F81C-46D2-83F6-681A1C53504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28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14264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kicker">
            <a:extLst>
              <a:ext uri="{FF2B5EF4-FFF2-40B4-BE49-F238E27FC236}">
                <a16:creationId xmlns:a16="http://schemas.microsoft.com/office/drawing/2014/main" id="{A50AC536-C4E6-441A-9A42-6846ED9C5850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PROPUESTA 1 · CLASIFICACIÓN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C739B1F-E09E-4838-A7A9-0EEDBFFCE7D8}"/>
              </a:ext>
            </a:extLst>
          </p:cNvPr>
          <p:cNvSpPr>
            <a:spLocks noGrp="1"/>
          </p:cNvSpPr>
          <p:nvPr/>
        </p:nvSpPr>
        <p:spPr>
          <a:xfrm>
            <a:off x="457200" y="495300"/>
            <a:ext cx="10668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250" b="1">
                <a:solidFill>
                  <a:srgbClr val="315DBF"/>
                </a:solidFill>
              </a:defRPr>
            </a:pPr>
            <a:r>
              <a:rPr sz="2250" b="1">
                <a:solidFill>
                  <a:srgbClr val="315DBF"/>
                </a:solidFill>
              </a:rPr>
              <a:t>Clasificar el riesgo de desabasto prioriza la reposición</a:t>
            </a:r>
          </a:p>
        </p:txBody>
      </p:sp>
      <p:sp>
        <p:nvSpPr>
          <p:cNvPr id="3" name="page">
            <a:extLst>
              <a:ext uri="{FF2B5EF4-FFF2-40B4-BE49-F238E27FC236}">
                <a16:creationId xmlns:a16="http://schemas.microsoft.com/office/drawing/2014/main" id="{E45805A3-B275-4C15-8A97-340AD0053A3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28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</a:t>
            </a:r>
          </a:p>
        </p:txBody>
      </p:sp>
      <p:sp>
        <p:nvSpPr>
          <p:cNvPr id="4" name="source-box">
            <a:extLst>
              <a:ext uri="{FF2B5EF4-FFF2-40B4-BE49-F238E27FC236}">
                <a16:creationId xmlns:a16="http://schemas.microsoft.com/office/drawing/2014/main" id="{63C51FDA-F41E-48D8-B173-BE3AE04C53BD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2381250" cy="1104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" name="source-label">
            <a:extLst>
              <a:ext uri="{FF2B5EF4-FFF2-40B4-BE49-F238E27FC236}">
                <a16:creationId xmlns:a16="http://schemas.microsoft.com/office/drawing/2014/main" id="{026A5439-BBE0-47A8-8E03-BCB4B0394FC1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COLECCIONES</a:t>
            </a:r>
          </a:p>
        </p:txBody>
      </p:sp>
      <p:sp>
        <p:nvSpPr>
          <p:cNvPr id="6" name="sources">
            <a:extLst>
              <a:ext uri="{FF2B5EF4-FFF2-40B4-BE49-F238E27FC236}">
                <a16:creationId xmlns:a16="http://schemas.microsoft.com/office/drawing/2014/main" id="{F2BE4782-4A8D-48D7-ADBC-D5785FA70C3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2000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pedidos</a:t>
            </a:r>
          </a:p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productos</a:t>
            </a:r>
          </a:p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marcas · familias</a:t>
            </a:r>
          </a:p>
        </p:txBody>
      </p:sp>
      <p:sp>
        <p:nvSpPr>
          <p:cNvPr id="7" name="flow-arrow">
            <a:extLst>
              <a:ext uri="{FF2B5EF4-FFF2-40B4-BE49-F238E27FC236}">
                <a16:creationId xmlns:a16="http://schemas.microsoft.com/office/drawing/2014/main" id="{51E02295-2676-42C3-B3E6-4E11440860E5}"/>
              </a:ext>
            </a:extLst>
          </p:cNvPr>
          <p:cNvSpPr>
            <a:spLocks noGrp="1"/>
          </p:cNvSpPr>
          <p:nvPr/>
        </p:nvSpPr>
        <p:spPr>
          <a:xfrm>
            <a:off x="2952750" y="1695450"/>
            <a:ext cx="400050" cy="209550"/>
          </a:xfrm>
          <a:prstGeom prst="rightArrow">
            <a:avLst/>
          </a:prstGeom>
          <a:solidFill>
            <a:srgbClr val="315DBF"/>
          </a:solidFill>
          <a:ln w="0">
            <a:solidFill>
              <a:srgbClr val="315DBF"/>
            </a:solidFill>
            <a:prstDash val="solid"/>
          </a:ln>
        </p:spPr>
      </p:sp>
      <p:sp>
        <p:nvSpPr>
          <p:cNvPr id="8" name="transform-box">
            <a:extLst>
              <a:ext uri="{FF2B5EF4-FFF2-40B4-BE49-F238E27FC236}">
                <a16:creationId xmlns:a16="http://schemas.microsoft.com/office/drawing/2014/main" id="{EB4FAD78-CBE2-4CE8-A51D-2FBEE7A5EE4F}"/>
              </a:ext>
            </a:extLst>
          </p:cNvPr>
          <p:cNvSpPr>
            <a:spLocks noGrp="1"/>
          </p:cNvSpPr>
          <p:nvPr/>
        </p:nvSpPr>
        <p:spPr>
          <a:xfrm>
            <a:off x="3467100" y="1257300"/>
            <a:ext cx="3238500" cy="1104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9" name="transform-label">
            <a:extLst>
              <a:ext uri="{FF2B5EF4-FFF2-40B4-BE49-F238E27FC236}">
                <a16:creationId xmlns:a16="http://schemas.microsoft.com/office/drawing/2014/main" id="{7708B0BF-B965-42C9-A00F-7DEFD2227C0B}"/>
              </a:ext>
            </a:extLst>
          </p:cNvPr>
          <p:cNvSpPr>
            <a:spLocks noGrp="1"/>
          </p:cNvSpPr>
          <p:nvPr/>
        </p:nvSpPr>
        <p:spPr>
          <a:xfrm>
            <a:off x="3619500" y="135255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TRANSFORMACIÓN</a:t>
            </a:r>
          </a:p>
        </p:txBody>
      </p:sp>
      <p:sp>
        <p:nvSpPr>
          <p:cNvPr id="10" name="transform">
            <a:extLst>
              <a:ext uri="{FF2B5EF4-FFF2-40B4-BE49-F238E27FC236}">
                <a16:creationId xmlns:a16="http://schemas.microsoft.com/office/drawing/2014/main" id="{B37E37D4-FCEA-4AD9-9DEA-48EF285D731A}"/>
              </a:ext>
            </a:extLst>
          </p:cNvPr>
          <p:cNvSpPr>
            <a:spLocks noGrp="1"/>
          </p:cNvSpPr>
          <p:nvPr/>
        </p:nvSpPr>
        <p:spPr>
          <a:xfrm>
            <a:off x="3619500" y="1581150"/>
            <a:ext cx="29337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20252D"/>
                </a:solidFill>
              </a:defRPr>
            </a:pPr>
            <a:r>
              <a:rPr sz="975" b="0">
                <a:solidFill>
                  <a:srgbClr val="20252D"/>
                </a:solidFill>
              </a:rPr>
              <a:t>Filtrar pedidos entregados → separar productos → agregar ventas de 7, 15 y 30 días → unir stock y catálogo.</a:t>
            </a:r>
          </a:p>
        </p:txBody>
      </p:sp>
      <p:sp>
        <p:nvSpPr>
          <p:cNvPr id="11" name="flow-arrow">
            <a:extLst>
              <a:ext uri="{FF2B5EF4-FFF2-40B4-BE49-F238E27FC236}">
                <a16:creationId xmlns:a16="http://schemas.microsoft.com/office/drawing/2014/main" id="{D3AD4D01-5BCF-4A25-89D3-D32900A03DD4}"/>
              </a:ext>
            </a:extLst>
          </p:cNvPr>
          <p:cNvSpPr>
            <a:spLocks noGrp="1"/>
          </p:cNvSpPr>
          <p:nvPr/>
        </p:nvSpPr>
        <p:spPr>
          <a:xfrm>
            <a:off x="6819900" y="1695450"/>
            <a:ext cx="400050" cy="209550"/>
          </a:xfrm>
          <a:prstGeom prst="rightArrow">
            <a:avLst/>
          </a:prstGeom>
          <a:solidFill>
            <a:srgbClr val="315DBF"/>
          </a:solidFill>
          <a:ln w="0">
            <a:solidFill>
              <a:srgbClr val="315DBF"/>
            </a:solidFill>
            <a:prstDash val="solid"/>
          </a:ln>
        </p:spPr>
      </p:sp>
      <p:sp>
        <p:nvSpPr>
          <p:cNvPr id="12" name="target-box">
            <a:extLst>
              <a:ext uri="{FF2B5EF4-FFF2-40B4-BE49-F238E27FC236}">
                <a16:creationId xmlns:a16="http://schemas.microsoft.com/office/drawing/2014/main" id="{85A0FF85-235D-4FB0-AE66-9172140BF0C8}"/>
              </a:ext>
            </a:extLst>
          </p:cNvPr>
          <p:cNvSpPr>
            <a:spLocks noGrp="1"/>
          </p:cNvSpPr>
          <p:nvPr/>
        </p:nvSpPr>
        <p:spPr>
          <a:xfrm>
            <a:off x="7334250" y="1257300"/>
            <a:ext cx="4400550" cy="1104900"/>
          </a:xfrm>
          <a:prstGeom prst="roundRect">
            <a:avLst>
              <a:gd name="adj" fmla="val 5172"/>
            </a:avLst>
          </a:prstGeom>
          <a:solidFill>
            <a:srgbClr val="DCE5FA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3" name="target-label">
            <a:extLst>
              <a:ext uri="{FF2B5EF4-FFF2-40B4-BE49-F238E27FC236}">
                <a16:creationId xmlns:a16="http://schemas.microsoft.com/office/drawing/2014/main" id="{68F16576-2B4F-4670-A658-380F7A219BB2}"/>
              </a:ext>
            </a:extLst>
          </p:cNvPr>
          <p:cNvSpPr>
            <a:spLocks noGrp="1"/>
          </p:cNvSpPr>
          <p:nvPr/>
        </p:nvSpPr>
        <p:spPr>
          <a:xfrm>
            <a:off x="7486650" y="13525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VARIABLE / RESULTADO</a:t>
            </a:r>
          </a:p>
        </p:txBody>
      </p:sp>
      <p:sp>
        <p:nvSpPr>
          <p:cNvPr id="14" name="target">
            <a:extLst>
              <a:ext uri="{FF2B5EF4-FFF2-40B4-BE49-F238E27FC236}">
                <a16:creationId xmlns:a16="http://schemas.microsoft.com/office/drawing/2014/main" id="{0DF24989-D5A3-4487-8010-E29D1F4A5F34}"/>
              </a:ext>
            </a:extLst>
          </p:cNvPr>
          <p:cNvSpPr>
            <a:spLocks noGrp="1"/>
          </p:cNvSpPr>
          <p:nvPr/>
        </p:nvSpPr>
        <p:spPr>
          <a:xfrm>
            <a:off x="7486650" y="1581150"/>
            <a:ext cx="4095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20252D"/>
                </a:solidFill>
              </a:defRPr>
            </a:pPr>
            <a:r>
              <a:rPr sz="1050" b="1">
                <a:solidFill>
                  <a:srgbClr val="20252D"/>
                </a:solidFill>
              </a:rPr>
              <a:t>Objetivo: riesgo_desabasto</a:t>
            </a:r>
          </a:p>
          <a:p>
            <a:pPr algn="l">
              <a:defRPr sz="1050" b="1">
                <a:solidFill>
                  <a:srgbClr val="20252D"/>
                </a:solidFill>
              </a:defRPr>
            </a:pPr>
            <a:r>
              <a:rPr sz="1050" b="1">
                <a:solidFill>
                  <a:srgbClr val="20252D"/>
                </a:solidFill>
              </a:rPr>
              <a:t>Clases: ALTO · MEDIO · BAJO</a:t>
            </a:r>
          </a:p>
        </p:txBody>
      </p:sp>
      <p:sp>
        <p:nvSpPr>
          <p:cNvPr id="15" name="dataset-title">
            <a:extLst>
              <a:ext uri="{FF2B5EF4-FFF2-40B4-BE49-F238E27FC236}">
                <a16:creationId xmlns:a16="http://schemas.microsoft.com/office/drawing/2014/main" id="{9E299E26-841F-4DBA-9F68-B74006CF7A24}"/>
              </a:ext>
            </a:extLst>
          </p:cNvPr>
          <p:cNvSpPr>
            <a:spLocks noGrp="1"/>
          </p:cNvSpPr>
          <p:nvPr/>
        </p:nvSpPr>
        <p:spPr>
          <a:xfrm>
            <a:off x="457200" y="2571750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20252D"/>
                </a:solidFill>
              </a:defRPr>
            </a:pPr>
            <a:r>
              <a:rPr sz="1050" b="1">
                <a:solidFill>
                  <a:srgbClr val="20252D"/>
                </a:solidFill>
              </a:rPr>
              <a:t>Dataset de entrenamiento — una fila por producto y fecha de corte</a:t>
            </a:r>
          </a:p>
        </p:txBody>
      </p:sp>
      <p:sp>
        <p:nvSpPr>
          <p:cNvPr id="16" name="th">
            <a:extLst>
              <a:ext uri="{FF2B5EF4-FFF2-40B4-BE49-F238E27FC236}">
                <a16:creationId xmlns:a16="http://schemas.microsoft.com/office/drawing/2014/main" id="{6DC9D939-6B28-43A2-9186-642527169E31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140970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7" name="th-text">
            <a:extLst>
              <a:ext uri="{FF2B5EF4-FFF2-40B4-BE49-F238E27FC236}">
                <a16:creationId xmlns:a16="http://schemas.microsoft.com/office/drawing/2014/main" id="{99E1D4D4-DAB8-41D4-9F60-E59469D79BE8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producto</a:t>
            </a:r>
          </a:p>
        </p:txBody>
      </p:sp>
      <p:sp>
        <p:nvSpPr>
          <p:cNvPr id="18" name="th">
            <a:extLst>
              <a:ext uri="{FF2B5EF4-FFF2-40B4-BE49-F238E27FC236}">
                <a16:creationId xmlns:a16="http://schemas.microsoft.com/office/drawing/2014/main" id="{8F9030DC-FD50-49BE-A122-7AC2DA66A4C5}"/>
              </a:ext>
            </a:extLst>
          </p:cNvPr>
          <p:cNvSpPr>
            <a:spLocks noGrp="1"/>
          </p:cNvSpPr>
          <p:nvPr/>
        </p:nvSpPr>
        <p:spPr>
          <a:xfrm>
            <a:off x="1866900" y="2895600"/>
            <a:ext cx="8572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9" name="th-text">
            <a:extLst>
              <a:ext uri="{FF2B5EF4-FFF2-40B4-BE49-F238E27FC236}">
                <a16:creationId xmlns:a16="http://schemas.microsoft.com/office/drawing/2014/main" id="{9A7EF47C-2D90-492E-866E-A5B0C667881B}"/>
              </a:ext>
            </a:extLst>
          </p:cNvPr>
          <p:cNvSpPr>
            <a:spLocks noGrp="1"/>
          </p:cNvSpPr>
          <p:nvPr/>
        </p:nvSpPr>
        <p:spPr>
          <a:xfrm>
            <a:off x="1924050" y="289560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stock</a:t>
            </a:r>
          </a:p>
        </p:txBody>
      </p:sp>
      <p:sp>
        <p:nvSpPr>
          <p:cNvPr id="20" name="th">
            <a:extLst>
              <a:ext uri="{FF2B5EF4-FFF2-40B4-BE49-F238E27FC236}">
                <a16:creationId xmlns:a16="http://schemas.microsoft.com/office/drawing/2014/main" id="{AB304DC2-2D5C-4884-89DD-87E576380B2D}"/>
              </a:ext>
            </a:extLst>
          </p:cNvPr>
          <p:cNvSpPr>
            <a:spLocks noGrp="1"/>
          </p:cNvSpPr>
          <p:nvPr/>
        </p:nvSpPr>
        <p:spPr>
          <a:xfrm>
            <a:off x="2724150" y="2895600"/>
            <a:ext cx="904875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1" name="th-text">
            <a:extLst>
              <a:ext uri="{FF2B5EF4-FFF2-40B4-BE49-F238E27FC236}">
                <a16:creationId xmlns:a16="http://schemas.microsoft.com/office/drawing/2014/main" id="{37E10B71-5075-447E-816D-BF2D37E388D8}"/>
              </a:ext>
            </a:extLst>
          </p:cNvPr>
          <p:cNvSpPr>
            <a:spLocks noGrp="1"/>
          </p:cNvSpPr>
          <p:nvPr/>
        </p:nvSpPr>
        <p:spPr>
          <a:xfrm>
            <a:off x="2781300" y="2895600"/>
            <a:ext cx="790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ventas_7d</a:t>
            </a:r>
          </a:p>
        </p:txBody>
      </p:sp>
      <p:sp>
        <p:nvSpPr>
          <p:cNvPr id="22" name="th">
            <a:extLst>
              <a:ext uri="{FF2B5EF4-FFF2-40B4-BE49-F238E27FC236}">
                <a16:creationId xmlns:a16="http://schemas.microsoft.com/office/drawing/2014/main" id="{6C35305C-AD3B-4109-9172-EB6001EC56F7}"/>
              </a:ext>
            </a:extLst>
          </p:cNvPr>
          <p:cNvSpPr>
            <a:spLocks noGrp="1"/>
          </p:cNvSpPr>
          <p:nvPr/>
        </p:nvSpPr>
        <p:spPr>
          <a:xfrm>
            <a:off x="3629025" y="2895600"/>
            <a:ext cx="904875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3" name="th-text">
            <a:extLst>
              <a:ext uri="{FF2B5EF4-FFF2-40B4-BE49-F238E27FC236}">
                <a16:creationId xmlns:a16="http://schemas.microsoft.com/office/drawing/2014/main" id="{99B028B0-AEF5-4F53-868B-207A85516E5F}"/>
              </a:ext>
            </a:extLst>
          </p:cNvPr>
          <p:cNvSpPr>
            <a:spLocks noGrp="1"/>
          </p:cNvSpPr>
          <p:nvPr/>
        </p:nvSpPr>
        <p:spPr>
          <a:xfrm>
            <a:off x="3686175" y="2895600"/>
            <a:ext cx="790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ventas_30d</a:t>
            </a:r>
          </a:p>
        </p:txBody>
      </p:sp>
      <p:sp>
        <p:nvSpPr>
          <p:cNvPr id="24" name="th">
            <a:extLst>
              <a:ext uri="{FF2B5EF4-FFF2-40B4-BE49-F238E27FC236}">
                <a16:creationId xmlns:a16="http://schemas.microsoft.com/office/drawing/2014/main" id="{0F828815-D3CE-47AB-BBC3-D2F6064C5005}"/>
              </a:ext>
            </a:extLst>
          </p:cNvPr>
          <p:cNvSpPr>
            <a:spLocks noGrp="1"/>
          </p:cNvSpPr>
          <p:nvPr/>
        </p:nvSpPr>
        <p:spPr>
          <a:xfrm>
            <a:off x="4533900" y="2895600"/>
            <a:ext cx="10477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5" name="th-text">
            <a:extLst>
              <a:ext uri="{FF2B5EF4-FFF2-40B4-BE49-F238E27FC236}">
                <a16:creationId xmlns:a16="http://schemas.microsoft.com/office/drawing/2014/main" id="{BB9A6A25-6F8E-427B-A8DC-8A68E91A9C14}"/>
              </a:ext>
            </a:extLst>
          </p:cNvPr>
          <p:cNvSpPr>
            <a:spLocks noGrp="1"/>
          </p:cNvSpPr>
          <p:nvPr/>
        </p:nvSpPr>
        <p:spPr>
          <a:xfrm>
            <a:off x="4591050" y="28956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promedio/día</a:t>
            </a:r>
          </a:p>
        </p:txBody>
      </p:sp>
      <p:sp>
        <p:nvSpPr>
          <p:cNvPr id="26" name="th">
            <a:extLst>
              <a:ext uri="{FF2B5EF4-FFF2-40B4-BE49-F238E27FC236}">
                <a16:creationId xmlns:a16="http://schemas.microsoft.com/office/drawing/2014/main" id="{0F59993F-5C4F-453F-AA6D-6D212D1AD04D}"/>
              </a:ext>
            </a:extLst>
          </p:cNvPr>
          <p:cNvSpPr>
            <a:spLocks noGrp="1"/>
          </p:cNvSpPr>
          <p:nvPr/>
        </p:nvSpPr>
        <p:spPr>
          <a:xfrm>
            <a:off x="5581650" y="2895600"/>
            <a:ext cx="110490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7" name="th-text">
            <a:extLst>
              <a:ext uri="{FF2B5EF4-FFF2-40B4-BE49-F238E27FC236}">
                <a16:creationId xmlns:a16="http://schemas.microsoft.com/office/drawing/2014/main" id="{1FB4F6F6-B40E-4461-B110-F81CC7126DFB}"/>
              </a:ext>
            </a:extLst>
          </p:cNvPr>
          <p:cNvSpPr>
            <a:spLocks noGrp="1"/>
          </p:cNvSpPr>
          <p:nvPr/>
        </p:nvSpPr>
        <p:spPr>
          <a:xfrm>
            <a:off x="5638800" y="2895600"/>
            <a:ext cx="990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días cobertura</a:t>
            </a:r>
          </a:p>
        </p:txBody>
      </p:sp>
      <p:sp>
        <p:nvSpPr>
          <p:cNvPr id="28" name="th">
            <a:extLst>
              <a:ext uri="{FF2B5EF4-FFF2-40B4-BE49-F238E27FC236}">
                <a16:creationId xmlns:a16="http://schemas.microsoft.com/office/drawing/2014/main" id="{4EC605CC-46C4-4942-9C17-91BB209BFF67}"/>
              </a:ext>
            </a:extLst>
          </p:cNvPr>
          <p:cNvSpPr>
            <a:spLocks noGrp="1"/>
          </p:cNvSpPr>
          <p:nvPr/>
        </p:nvSpPr>
        <p:spPr>
          <a:xfrm>
            <a:off x="6686550" y="2895600"/>
            <a:ext cx="12382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9" name="th-text">
            <a:extLst>
              <a:ext uri="{FF2B5EF4-FFF2-40B4-BE49-F238E27FC236}">
                <a16:creationId xmlns:a16="http://schemas.microsoft.com/office/drawing/2014/main" id="{D06CBA90-3CF6-409D-A575-D0230495452D}"/>
              </a:ext>
            </a:extLst>
          </p:cNvPr>
          <p:cNvSpPr>
            <a:spLocks noGrp="1"/>
          </p:cNvSpPr>
          <p:nvPr/>
        </p:nvSpPr>
        <p:spPr>
          <a:xfrm>
            <a:off x="6743700" y="2895600"/>
            <a:ext cx="1123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clase</a:t>
            </a:r>
          </a:p>
        </p:txBody>
      </p:sp>
      <p:sp>
        <p:nvSpPr>
          <p:cNvPr id="30" name="td">
            <a:extLst>
              <a:ext uri="{FF2B5EF4-FFF2-40B4-BE49-F238E27FC236}">
                <a16:creationId xmlns:a16="http://schemas.microsoft.com/office/drawing/2014/main" id="{4F263907-D190-4C89-BE9A-60A597AF6AB7}"/>
              </a:ext>
            </a:extLst>
          </p:cNvPr>
          <p:cNvSpPr>
            <a:spLocks noGrp="1"/>
          </p:cNvSpPr>
          <p:nvPr/>
        </p:nvSpPr>
        <p:spPr>
          <a:xfrm>
            <a:off x="457200" y="3219450"/>
            <a:ext cx="1409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1" name="td-text">
            <a:extLst>
              <a:ext uri="{FF2B5EF4-FFF2-40B4-BE49-F238E27FC236}">
                <a16:creationId xmlns:a16="http://schemas.microsoft.com/office/drawing/2014/main" id="{9EE1315D-BC7E-48B2-829F-713D57ABB618}"/>
              </a:ext>
            </a:extLst>
          </p:cNvPr>
          <p:cNvSpPr>
            <a:spLocks noGrp="1"/>
          </p:cNvSpPr>
          <p:nvPr/>
        </p:nvSpPr>
        <p:spPr>
          <a:xfrm>
            <a:off x="514350" y="3219450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Alicate P001</a:t>
            </a:r>
          </a:p>
        </p:txBody>
      </p:sp>
      <p:sp>
        <p:nvSpPr>
          <p:cNvPr id="32" name="td">
            <a:extLst>
              <a:ext uri="{FF2B5EF4-FFF2-40B4-BE49-F238E27FC236}">
                <a16:creationId xmlns:a16="http://schemas.microsoft.com/office/drawing/2014/main" id="{B2FF27D1-E6F9-48FC-B0A4-3238FFE71609}"/>
              </a:ext>
            </a:extLst>
          </p:cNvPr>
          <p:cNvSpPr>
            <a:spLocks noGrp="1"/>
          </p:cNvSpPr>
          <p:nvPr/>
        </p:nvSpPr>
        <p:spPr>
          <a:xfrm>
            <a:off x="1866900" y="3219450"/>
            <a:ext cx="857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3" name="td-text">
            <a:extLst>
              <a:ext uri="{FF2B5EF4-FFF2-40B4-BE49-F238E27FC236}">
                <a16:creationId xmlns:a16="http://schemas.microsoft.com/office/drawing/2014/main" id="{744DB67A-8C09-41B4-AB06-281FE401D551}"/>
              </a:ext>
            </a:extLst>
          </p:cNvPr>
          <p:cNvSpPr>
            <a:spLocks noGrp="1"/>
          </p:cNvSpPr>
          <p:nvPr/>
        </p:nvSpPr>
        <p:spPr>
          <a:xfrm>
            <a:off x="1924050" y="32194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8</a:t>
            </a:r>
          </a:p>
        </p:txBody>
      </p:sp>
      <p:sp>
        <p:nvSpPr>
          <p:cNvPr id="34" name="td">
            <a:extLst>
              <a:ext uri="{FF2B5EF4-FFF2-40B4-BE49-F238E27FC236}">
                <a16:creationId xmlns:a16="http://schemas.microsoft.com/office/drawing/2014/main" id="{7B422F96-15C9-415D-A696-514FD1C40E2C}"/>
              </a:ext>
            </a:extLst>
          </p:cNvPr>
          <p:cNvSpPr>
            <a:spLocks noGrp="1"/>
          </p:cNvSpPr>
          <p:nvPr/>
        </p:nvSpPr>
        <p:spPr>
          <a:xfrm>
            <a:off x="2724150" y="3219450"/>
            <a:ext cx="904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5" name="td-text">
            <a:extLst>
              <a:ext uri="{FF2B5EF4-FFF2-40B4-BE49-F238E27FC236}">
                <a16:creationId xmlns:a16="http://schemas.microsoft.com/office/drawing/2014/main" id="{65FB8FEE-071D-4FAB-9A2F-083346EB013A}"/>
              </a:ext>
            </a:extLst>
          </p:cNvPr>
          <p:cNvSpPr>
            <a:spLocks noGrp="1"/>
          </p:cNvSpPr>
          <p:nvPr/>
        </p:nvSpPr>
        <p:spPr>
          <a:xfrm>
            <a:off x="2781300" y="3219450"/>
            <a:ext cx="790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6</a:t>
            </a:r>
          </a:p>
        </p:txBody>
      </p:sp>
      <p:sp>
        <p:nvSpPr>
          <p:cNvPr id="36" name="td">
            <a:extLst>
              <a:ext uri="{FF2B5EF4-FFF2-40B4-BE49-F238E27FC236}">
                <a16:creationId xmlns:a16="http://schemas.microsoft.com/office/drawing/2014/main" id="{678756E3-0C7E-4476-B845-0BFEBE0AD642}"/>
              </a:ext>
            </a:extLst>
          </p:cNvPr>
          <p:cNvSpPr>
            <a:spLocks noGrp="1"/>
          </p:cNvSpPr>
          <p:nvPr/>
        </p:nvSpPr>
        <p:spPr>
          <a:xfrm>
            <a:off x="3629025" y="3219450"/>
            <a:ext cx="904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7" name="td-text">
            <a:extLst>
              <a:ext uri="{FF2B5EF4-FFF2-40B4-BE49-F238E27FC236}">
                <a16:creationId xmlns:a16="http://schemas.microsoft.com/office/drawing/2014/main" id="{99746644-9991-44A0-9174-AE34FE4DD80A}"/>
              </a:ext>
            </a:extLst>
          </p:cNvPr>
          <p:cNvSpPr>
            <a:spLocks noGrp="1"/>
          </p:cNvSpPr>
          <p:nvPr/>
        </p:nvSpPr>
        <p:spPr>
          <a:xfrm>
            <a:off x="3686175" y="3219450"/>
            <a:ext cx="790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27</a:t>
            </a:r>
          </a:p>
        </p:txBody>
      </p:sp>
      <p:sp>
        <p:nvSpPr>
          <p:cNvPr id="38" name="td">
            <a:extLst>
              <a:ext uri="{FF2B5EF4-FFF2-40B4-BE49-F238E27FC236}">
                <a16:creationId xmlns:a16="http://schemas.microsoft.com/office/drawing/2014/main" id="{6D22B157-AFAE-4650-BB22-32E469CBB559}"/>
              </a:ext>
            </a:extLst>
          </p:cNvPr>
          <p:cNvSpPr>
            <a:spLocks noGrp="1"/>
          </p:cNvSpPr>
          <p:nvPr/>
        </p:nvSpPr>
        <p:spPr>
          <a:xfrm>
            <a:off x="4533900" y="3219450"/>
            <a:ext cx="1047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9" name="td-text">
            <a:extLst>
              <a:ext uri="{FF2B5EF4-FFF2-40B4-BE49-F238E27FC236}">
                <a16:creationId xmlns:a16="http://schemas.microsoft.com/office/drawing/2014/main" id="{7FB1FDA2-60C7-4E9D-ABDE-63D649946270}"/>
              </a:ext>
            </a:extLst>
          </p:cNvPr>
          <p:cNvSpPr>
            <a:spLocks noGrp="1"/>
          </p:cNvSpPr>
          <p:nvPr/>
        </p:nvSpPr>
        <p:spPr>
          <a:xfrm>
            <a:off x="4591050" y="321945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0.90</a:t>
            </a:r>
          </a:p>
        </p:txBody>
      </p:sp>
      <p:sp>
        <p:nvSpPr>
          <p:cNvPr id="40" name="td">
            <a:extLst>
              <a:ext uri="{FF2B5EF4-FFF2-40B4-BE49-F238E27FC236}">
                <a16:creationId xmlns:a16="http://schemas.microsoft.com/office/drawing/2014/main" id="{8BE4505C-3417-4A46-81AC-09028E3A6432}"/>
              </a:ext>
            </a:extLst>
          </p:cNvPr>
          <p:cNvSpPr>
            <a:spLocks noGrp="1"/>
          </p:cNvSpPr>
          <p:nvPr/>
        </p:nvSpPr>
        <p:spPr>
          <a:xfrm>
            <a:off x="5581650" y="3219450"/>
            <a:ext cx="11049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1" name="td-text">
            <a:extLst>
              <a:ext uri="{FF2B5EF4-FFF2-40B4-BE49-F238E27FC236}">
                <a16:creationId xmlns:a16="http://schemas.microsoft.com/office/drawing/2014/main" id="{32073658-95FD-4261-B12D-3DC2AE62AD8D}"/>
              </a:ext>
            </a:extLst>
          </p:cNvPr>
          <p:cNvSpPr>
            <a:spLocks noGrp="1"/>
          </p:cNvSpPr>
          <p:nvPr/>
        </p:nvSpPr>
        <p:spPr>
          <a:xfrm>
            <a:off x="5638800" y="3219450"/>
            <a:ext cx="990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9</a:t>
            </a:r>
          </a:p>
        </p:txBody>
      </p:sp>
      <p:sp>
        <p:nvSpPr>
          <p:cNvPr id="42" name="td">
            <a:extLst>
              <a:ext uri="{FF2B5EF4-FFF2-40B4-BE49-F238E27FC236}">
                <a16:creationId xmlns:a16="http://schemas.microsoft.com/office/drawing/2014/main" id="{962635CB-48C0-43B9-AAC3-0D63C07F516F}"/>
              </a:ext>
            </a:extLst>
          </p:cNvPr>
          <p:cNvSpPr>
            <a:spLocks noGrp="1"/>
          </p:cNvSpPr>
          <p:nvPr/>
        </p:nvSpPr>
        <p:spPr>
          <a:xfrm>
            <a:off x="6686550" y="3219450"/>
            <a:ext cx="1238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3" name="td-text">
            <a:extLst>
              <a:ext uri="{FF2B5EF4-FFF2-40B4-BE49-F238E27FC236}">
                <a16:creationId xmlns:a16="http://schemas.microsoft.com/office/drawing/2014/main" id="{31E65178-AD73-44E7-AF4A-6A7AC805CBEC}"/>
              </a:ext>
            </a:extLst>
          </p:cNvPr>
          <p:cNvSpPr>
            <a:spLocks noGrp="1"/>
          </p:cNvSpPr>
          <p:nvPr/>
        </p:nvSpPr>
        <p:spPr>
          <a:xfrm>
            <a:off x="6743700" y="3219450"/>
            <a:ext cx="1123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ALTO</a:t>
            </a:r>
          </a:p>
        </p:txBody>
      </p:sp>
      <p:sp>
        <p:nvSpPr>
          <p:cNvPr id="44" name="td">
            <a:extLst>
              <a:ext uri="{FF2B5EF4-FFF2-40B4-BE49-F238E27FC236}">
                <a16:creationId xmlns:a16="http://schemas.microsoft.com/office/drawing/2014/main" id="{8C7DCC28-60FE-4DAE-9929-2D8BB625BD35}"/>
              </a:ext>
            </a:extLst>
          </p:cNvPr>
          <p:cNvSpPr>
            <a:spLocks noGrp="1"/>
          </p:cNvSpPr>
          <p:nvPr/>
        </p:nvSpPr>
        <p:spPr>
          <a:xfrm>
            <a:off x="457200" y="3543300"/>
            <a:ext cx="140970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5" name="td-text">
            <a:extLst>
              <a:ext uri="{FF2B5EF4-FFF2-40B4-BE49-F238E27FC236}">
                <a16:creationId xmlns:a16="http://schemas.microsoft.com/office/drawing/2014/main" id="{C033482A-6F52-4918-925D-8099FED0C478}"/>
              </a:ext>
            </a:extLst>
          </p:cNvPr>
          <p:cNvSpPr>
            <a:spLocks noGrp="1"/>
          </p:cNvSpPr>
          <p:nvPr/>
        </p:nvSpPr>
        <p:spPr>
          <a:xfrm>
            <a:off x="514350" y="3543300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Peine P002</a:t>
            </a:r>
          </a:p>
        </p:txBody>
      </p:sp>
      <p:sp>
        <p:nvSpPr>
          <p:cNvPr id="46" name="td">
            <a:extLst>
              <a:ext uri="{FF2B5EF4-FFF2-40B4-BE49-F238E27FC236}">
                <a16:creationId xmlns:a16="http://schemas.microsoft.com/office/drawing/2014/main" id="{180D4E2C-A0BD-410B-92DA-257B2F228A46}"/>
              </a:ext>
            </a:extLst>
          </p:cNvPr>
          <p:cNvSpPr>
            <a:spLocks noGrp="1"/>
          </p:cNvSpPr>
          <p:nvPr/>
        </p:nvSpPr>
        <p:spPr>
          <a:xfrm>
            <a:off x="1866900" y="3543300"/>
            <a:ext cx="8572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7" name="td-text">
            <a:extLst>
              <a:ext uri="{FF2B5EF4-FFF2-40B4-BE49-F238E27FC236}">
                <a16:creationId xmlns:a16="http://schemas.microsoft.com/office/drawing/2014/main" id="{1E444EE2-8696-4CE0-9216-53A9AF7BEAB8}"/>
              </a:ext>
            </a:extLst>
          </p:cNvPr>
          <p:cNvSpPr>
            <a:spLocks noGrp="1"/>
          </p:cNvSpPr>
          <p:nvPr/>
        </p:nvSpPr>
        <p:spPr>
          <a:xfrm>
            <a:off x="1924050" y="354330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35</a:t>
            </a:r>
          </a:p>
        </p:txBody>
      </p:sp>
      <p:sp>
        <p:nvSpPr>
          <p:cNvPr id="48" name="td">
            <a:extLst>
              <a:ext uri="{FF2B5EF4-FFF2-40B4-BE49-F238E27FC236}">
                <a16:creationId xmlns:a16="http://schemas.microsoft.com/office/drawing/2014/main" id="{D26E3678-E960-4C94-9241-7CCFB5F02A8A}"/>
              </a:ext>
            </a:extLst>
          </p:cNvPr>
          <p:cNvSpPr>
            <a:spLocks noGrp="1"/>
          </p:cNvSpPr>
          <p:nvPr/>
        </p:nvSpPr>
        <p:spPr>
          <a:xfrm>
            <a:off x="2724150" y="3543300"/>
            <a:ext cx="904875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9" name="td-text">
            <a:extLst>
              <a:ext uri="{FF2B5EF4-FFF2-40B4-BE49-F238E27FC236}">
                <a16:creationId xmlns:a16="http://schemas.microsoft.com/office/drawing/2014/main" id="{B6743B78-B979-4A1A-9938-565F42299DA9}"/>
              </a:ext>
            </a:extLst>
          </p:cNvPr>
          <p:cNvSpPr>
            <a:spLocks noGrp="1"/>
          </p:cNvSpPr>
          <p:nvPr/>
        </p:nvSpPr>
        <p:spPr>
          <a:xfrm>
            <a:off x="2781300" y="3543300"/>
            <a:ext cx="790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3</a:t>
            </a:r>
          </a:p>
        </p:txBody>
      </p:sp>
      <p:sp>
        <p:nvSpPr>
          <p:cNvPr id="50" name="td">
            <a:extLst>
              <a:ext uri="{FF2B5EF4-FFF2-40B4-BE49-F238E27FC236}">
                <a16:creationId xmlns:a16="http://schemas.microsoft.com/office/drawing/2014/main" id="{BA703C71-0222-4E32-A639-C540AEFD7DC4}"/>
              </a:ext>
            </a:extLst>
          </p:cNvPr>
          <p:cNvSpPr>
            <a:spLocks noGrp="1"/>
          </p:cNvSpPr>
          <p:nvPr/>
        </p:nvSpPr>
        <p:spPr>
          <a:xfrm>
            <a:off x="3629025" y="3543300"/>
            <a:ext cx="904875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1" name="td-text">
            <a:extLst>
              <a:ext uri="{FF2B5EF4-FFF2-40B4-BE49-F238E27FC236}">
                <a16:creationId xmlns:a16="http://schemas.microsoft.com/office/drawing/2014/main" id="{725D90B7-0A86-4A0F-8BD2-E9EF81EC4A03}"/>
              </a:ext>
            </a:extLst>
          </p:cNvPr>
          <p:cNvSpPr>
            <a:spLocks noGrp="1"/>
          </p:cNvSpPr>
          <p:nvPr/>
        </p:nvSpPr>
        <p:spPr>
          <a:xfrm>
            <a:off x="3686175" y="3543300"/>
            <a:ext cx="790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13</a:t>
            </a:r>
          </a:p>
        </p:txBody>
      </p:sp>
      <p:sp>
        <p:nvSpPr>
          <p:cNvPr id="52" name="td">
            <a:extLst>
              <a:ext uri="{FF2B5EF4-FFF2-40B4-BE49-F238E27FC236}">
                <a16:creationId xmlns:a16="http://schemas.microsoft.com/office/drawing/2014/main" id="{C0AB677E-8C59-4174-82C1-91A2A9A64DDA}"/>
              </a:ext>
            </a:extLst>
          </p:cNvPr>
          <p:cNvSpPr>
            <a:spLocks noGrp="1"/>
          </p:cNvSpPr>
          <p:nvPr/>
        </p:nvSpPr>
        <p:spPr>
          <a:xfrm>
            <a:off x="4533900" y="3543300"/>
            <a:ext cx="10477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3" name="td-text">
            <a:extLst>
              <a:ext uri="{FF2B5EF4-FFF2-40B4-BE49-F238E27FC236}">
                <a16:creationId xmlns:a16="http://schemas.microsoft.com/office/drawing/2014/main" id="{9FB04FF5-6B58-4338-B9A4-AE8D15A527FE}"/>
              </a:ext>
            </a:extLst>
          </p:cNvPr>
          <p:cNvSpPr>
            <a:spLocks noGrp="1"/>
          </p:cNvSpPr>
          <p:nvPr/>
        </p:nvSpPr>
        <p:spPr>
          <a:xfrm>
            <a:off x="4591050" y="35433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0.43</a:t>
            </a:r>
          </a:p>
        </p:txBody>
      </p:sp>
      <p:sp>
        <p:nvSpPr>
          <p:cNvPr id="54" name="td">
            <a:extLst>
              <a:ext uri="{FF2B5EF4-FFF2-40B4-BE49-F238E27FC236}">
                <a16:creationId xmlns:a16="http://schemas.microsoft.com/office/drawing/2014/main" id="{6F95CAE0-7A79-4CC6-9D3F-8DF3961F9FB8}"/>
              </a:ext>
            </a:extLst>
          </p:cNvPr>
          <p:cNvSpPr>
            <a:spLocks noGrp="1"/>
          </p:cNvSpPr>
          <p:nvPr/>
        </p:nvSpPr>
        <p:spPr>
          <a:xfrm>
            <a:off x="5581650" y="3543300"/>
            <a:ext cx="110490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5" name="td-text">
            <a:extLst>
              <a:ext uri="{FF2B5EF4-FFF2-40B4-BE49-F238E27FC236}">
                <a16:creationId xmlns:a16="http://schemas.microsoft.com/office/drawing/2014/main" id="{1405BD71-91CF-4034-9E3C-EF4459864C7A}"/>
              </a:ext>
            </a:extLst>
          </p:cNvPr>
          <p:cNvSpPr>
            <a:spLocks noGrp="1"/>
          </p:cNvSpPr>
          <p:nvPr/>
        </p:nvSpPr>
        <p:spPr>
          <a:xfrm>
            <a:off x="5638800" y="3543300"/>
            <a:ext cx="990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81</a:t>
            </a:r>
          </a:p>
        </p:txBody>
      </p:sp>
      <p:sp>
        <p:nvSpPr>
          <p:cNvPr id="56" name="td">
            <a:extLst>
              <a:ext uri="{FF2B5EF4-FFF2-40B4-BE49-F238E27FC236}">
                <a16:creationId xmlns:a16="http://schemas.microsoft.com/office/drawing/2014/main" id="{122E2024-D789-4755-938F-B514D618236C}"/>
              </a:ext>
            </a:extLst>
          </p:cNvPr>
          <p:cNvSpPr>
            <a:spLocks noGrp="1"/>
          </p:cNvSpPr>
          <p:nvPr/>
        </p:nvSpPr>
        <p:spPr>
          <a:xfrm>
            <a:off x="6686550" y="3543300"/>
            <a:ext cx="12382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7" name="td-text">
            <a:extLst>
              <a:ext uri="{FF2B5EF4-FFF2-40B4-BE49-F238E27FC236}">
                <a16:creationId xmlns:a16="http://schemas.microsoft.com/office/drawing/2014/main" id="{A135CC9E-710E-4B88-AB20-5DA54BB9CFE6}"/>
              </a:ext>
            </a:extLst>
          </p:cNvPr>
          <p:cNvSpPr>
            <a:spLocks noGrp="1"/>
          </p:cNvSpPr>
          <p:nvPr/>
        </p:nvSpPr>
        <p:spPr>
          <a:xfrm>
            <a:off x="6743700" y="3543300"/>
            <a:ext cx="1123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BAJO</a:t>
            </a:r>
          </a:p>
        </p:txBody>
      </p:sp>
      <p:sp>
        <p:nvSpPr>
          <p:cNvPr id="58" name="td">
            <a:extLst>
              <a:ext uri="{FF2B5EF4-FFF2-40B4-BE49-F238E27FC236}">
                <a16:creationId xmlns:a16="http://schemas.microsoft.com/office/drawing/2014/main" id="{D2985F7C-7699-4107-BE26-1B986A893255}"/>
              </a:ext>
            </a:extLst>
          </p:cNvPr>
          <p:cNvSpPr>
            <a:spLocks noGrp="1"/>
          </p:cNvSpPr>
          <p:nvPr/>
        </p:nvSpPr>
        <p:spPr>
          <a:xfrm>
            <a:off x="457200" y="3867150"/>
            <a:ext cx="1409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9" name="td-text">
            <a:extLst>
              <a:ext uri="{FF2B5EF4-FFF2-40B4-BE49-F238E27FC236}">
                <a16:creationId xmlns:a16="http://schemas.microsoft.com/office/drawing/2014/main" id="{5C3C0B63-3BD8-4117-8807-D02D712D68B9}"/>
              </a:ext>
            </a:extLst>
          </p:cNvPr>
          <p:cNvSpPr>
            <a:spLocks noGrp="1"/>
          </p:cNvSpPr>
          <p:nvPr/>
        </p:nvSpPr>
        <p:spPr>
          <a:xfrm>
            <a:off x="514350" y="3867150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Máquina P003</a:t>
            </a:r>
          </a:p>
        </p:txBody>
      </p:sp>
      <p:sp>
        <p:nvSpPr>
          <p:cNvPr id="60" name="td">
            <a:extLst>
              <a:ext uri="{FF2B5EF4-FFF2-40B4-BE49-F238E27FC236}">
                <a16:creationId xmlns:a16="http://schemas.microsoft.com/office/drawing/2014/main" id="{6DA10749-DEF9-40DC-AC52-CA52EC62DC83}"/>
              </a:ext>
            </a:extLst>
          </p:cNvPr>
          <p:cNvSpPr>
            <a:spLocks noGrp="1"/>
          </p:cNvSpPr>
          <p:nvPr/>
        </p:nvSpPr>
        <p:spPr>
          <a:xfrm>
            <a:off x="1866900" y="3867150"/>
            <a:ext cx="857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1" name="td-text">
            <a:extLst>
              <a:ext uri="{FF2B5EF4-FFF2-40B4-BE49-F238E27FC236}">
                <a16:creationId xmlns:a16="http://schemas.microsoft.com/office/drawing/2014/main" id="{3A7C95E0-B456-4F5C-8AD0-E41459BD146A}"/>
              </a:ext>
            </a:extLst>
          </p:cNvPr>
          <p:cNvSpPr>
            <a:spLocks noGrp="1"/>
          </p:cNvSpPr>
          <p:nvPr/>
        </p:nvSpPr>
        <p:spPr>
          <a:xfrm>
            <a:off x="1924050" y="38671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18</a:t>
            </a:r>
          </a:p>
        </p:txBody>
      </p:sp>
      <p:sp>
        <p:nvSpPr>
          <p:cNvPr id="62" name="td">
            <a:extLst>
              <a:ext uri="{FF2B5EF4-FFF2-40B4-BE49-F238E27FC236}">
                <a16:creationId xmlns:a16="http://schemas.microsoft.com/office/drawing/2014/main" id="{348053DC-71F8-4505-94A0-6BEADCA6A6BF}"/>
              </a:ext>
            </a:extLst>
          </p:cNvPr>
          <p:cNvSpPr>
            <a:spLocks noGrp="1"/>
          </p:cNvSpPr>
          <p:nvPr/>
        </p:nvSpPr>
        <p:spPr>
          <a:xfrm>
            <a:off x="2724150" y="3867150"/>
            <a:ext cx="904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3" name="td-text">
            <a:extLst>
              <a:ext uri="{FF2B5EF4-FFF2-40B4-BE49-F238E27FC236}">
                <a16:creationId xmlns:a16="http://schemas.microsoft.com/office/drawing/2014/main" id="{AC9F11ED-6AB3-48EF-8559-D2C560BD0471}"/>
              </a:ext>
            </a:extLst>
          </p:cNvPr>
          <p:cNvSpPr>
            <a:spLocks noGrp="1"/>
          </p:cNvSpPr>
          <p:nvPr/>
        </p:nvSpPr>
        <p:spPr>
          <a:xfrm>
            <a:off x="2781300" y="3867150"/>
            <a:ext cx="790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5</a:t>
            </a:r>
          </a:p>
        </p:txBody>
      </p:sp>
      <p:sp>
        <p:nvSpPr>
          <p:cNvPr id="64" name="td">
            <a:extLst>
              <a:ext uri="{FF2B5EF4-FFF2-40B4-BE49-F238E27FC236}">
                <a16:creationId xmlns:a16="http://schemas.microsoft.com/office/drawing/2014/main" id="{D7D970D2-D7D9-4D46-9A61-D0751E43952E}"/>
              </a:ext>
            </a:extLst>
          </p:cNvPr>
          <p:cNvSpPr>
            <a:spLocks noGrp="1"/>
          </p:cNvSpPr>
          <p:nvPr/>
        </p:nvSpPr>
        <p:spPr>
          <a:xfrm>
            <a:off x="3629025" y="3867150"/>
            <a:ext cx="904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5" name="td-text">
            <a:extLst>
              <a:ext uri="{FF2B5EF4-FFF2-40B4-BE49-F238E27FC236}">
                <a16:creationId xmlns:a16="http://schemas.microsoft.com/office/drawing/2014/main" id="{985C6371-0773-44FA-8A02-C44FE1BC1088}"/>
              </a:ext>
            </a:extLst>
          </p:cNvPr>
          <p:cNvSpPr>
            <a:spLocks noGrp="1"/>
          </p:cNvSpPr>
          <p:nvPr/>
        </p:nvSpPr>
        <p:spPr>
          <a:xfrm>
            <a:off x="3686175" y="3867150"/>
            <a:ext cx="790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24</a:t>
            </a:r>
          </a:p>
        </p:txBody>
      </p:sp>
      <p:sp>
        <p:nvSpPr>
          <p:cNvPr id="66" name="td">
            <a:extLst>
              <a:ext uri="{FF2B5EF4-FFF2-40B4-BE49-F238E27FC236}">
                <a16:creationId xmlns:a16="http://schemas.microsoft.com/office/drawing/2014/main" id="{896B95C6-1BC5-4D57-8DD1-66F1BAC42787}"/>
              </a:ext>
            </a:extLst>
          </p:cNvPr>
          <p:cNvSpPr>
            <a:spLocks noGrp="1"/>
          </p:cNvSpPr>
          <p:nvPr/>
        </p:nvSpPr>
        <p:spPr>
          <a:xfrm>
            <a:off x="4533900" y="3867150"/>
            <a:ext cx="1047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7" name="td-text">
            <a:extLst>
              <a:ext uri="{FF2B5EF4-FFF2-40B4-BE49-F238E27FC236}">
                <a16:creationId xmlns:a16="http://schemas.microsoft.com/office/drawing/2014/main" id="{A0591029-A55E-4030-81B0-6EEEA6D07ACB}"/>
              </a:ext>
            </a:extLst>
          </p:cNvPr>
          <p:cNvSpPr>
            <a:spLocks noGrp="1"/>
          </p:cNvSpPr>
          <p:nvPr/>
        </p:nvSpPr>
        <p:spPr>
          <a:xfrm>
            <a:off x="4591050" y="386715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0.80</a:t>
            </a:r>
          </a:p>
        </p:txBody>
      </p:sp>
      <p:sp>
        <p:nvSpPr>
          <p:cNvPr id="68" name="td">
            <a:extLst>
              <a:ext uri="{FF2B5EF4-FFF2-40B4-BE49-F238E27FC236}">
                <a16:creationId xmlns:a16="http://schemas.microsoft.com/office/drawing/2014/main" id="{3CC11051-A09A-4BD8-951F-C1CB017796D8}"/>
              </a:ext>
            </a:extLst>
          </p:cNvPr>
          <p:cNvSpPr>
            <a:spLocks noGrp="1"/>
          </p:cNvSpPr>
          <p:nvPr/>
        </p:nvSpPr>
        <p:spPr>
          <a:xfrm>
            <a:off x="5581650" y="3867150"/>
            <a:ext cx="11049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9" name="td-text">
            <a:extLst>
              <a:ext uri="{FF2B5EF4-FFF2-40B4-BE49-F238E27FC236}">
                <a16:creationId xmlns:a16="http://schemas.microsoft.com/office/drawing/2014/main" id="{DB343694-BA3C-401E-A7D9-1DF4C96FBFC1}"/>
              </a:ext>
            </a:extLst>
          </p:cNvPr>
          <p:cNvSpPr>
            <a:spLocks noGrp="1"/>
          </p:cNvSpPr>
          <p:nvPr/>
        </p:nvSpPr>
        <p:spPr>
          <a:xfrm>
            <a:off x="5638800" y="3867150"/>
            <a:ext cx="990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23</a:t>
            </a:r>
          </a:p>
        </p:txBody>
      </p:sp>
      <p:sp>
        <p:nvSpPr>
          <p:cNvPr id="70" name="td">
            <a:extLst>
              <a:ext uri="{FF2B5EF4-FFF2-40B4-BE49-F238E27FC236}">
                <a16:creationId xmlns:a16="http://schemas.microsoft.com/office/drawing/2014/main" id="{BE5354AF-2F58-4639-9FCC-1CD56A72AEC2}"/>
              </a:ext>
            </a:extLst>
          </p:cNvPr>
          <p:cNvSpPr>
            <a:spLocks noGrp="1"/>
          </p:cNvSpPr>
          <p:nvPr/>
        </p:nvSpPr>
        <p:spPr>
          <a:xfrm>
            <a:off x="6686550" y="3867150"/>
            <a:ext cx="1238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1" name="td-text">
            <a:extLst>
              <a:ext uri="{FF2B5EF4-FFF2-40B4-BE49-F238E27FC236}">
                <a16:creationId xmlns:a16="http://schemas.microsoft.com/office/drawing/2014/main" id="{903E980D-0B46-4A16-A668-6AE8F4CFAC78}"/>
              </a:ext>
            </a:extLst>
          </p:cNvPr>
          <p:cNvSpPr>
            <a:spLocks noGrp="1"/>
          </p:cNvSpPr>
          <p:nvPr/>
        </p:nvSpPr>
        <p:spPr>
          <a:xfrm>
            <a:off x="6743700" y="3867150"/>
            <a:ext cx="1123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MEDIO</a:t>
            </a:r>
          </a:p>
        </p:txBody>
      </p:sp>
      <p:sp>
        <p:nvSpPr>
          <p:cNvPr id="72" name="utility">
            <a:extLst>
              <a:ext uri="{FF2B5EF4-FFF2-40B4-BE49-F238E27FC236}">
                <a16:creationId xmlns:a16="http://schemas.microsoft.com/office/drawing/2014/main" id="{3D074465-3104-4762-9408-716BA2E7AAF0}"/>
              </a:ext>
            </a:extLst>
          </p:cNvPr>
          <p:cNvSpPr>
            <a:spLocks noGrp="1"/>
          </p:cNvSpPr>
          <p:nvPr/>
        </p:nvSpPr>
        <p:spPr>
          <a:xfrm>
            <a:off x="8782050" y="2724150"/>
            <a:ext cx="2952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3" name="utility-title">
            <a:extLst>
              <a:ext uri="{FF2B5EF4-FFF2-40B4-BE49-F238E27FC236}">
                <a16:creationId xmlns:a16="http://schemas.microsoft.com/office/drawing/2014/main" id="{593159AA-08BF-44F2-ACCF-886665620CEE}"/>
              </a:ext>
            </a:extLst>
          </p:cNvPr>
          <p:cNvSpPr>
            <a:spLocks noGrp="1"/>
          </p:cNvSpPr>
          <p:nvPr/>
        </p:nvSpPr>
        <p:spPr>
          <a:xfrm>
            <a:off x="8972550" y="28956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315DBF"/>
                </a:solidFill>
              </a:defRPr>
            </a:pPr>
            <a:r>
              <a:rPr sz="1275" b="1">
                <a:solidFill>
                  <a:srgbClr val="315DBF"/>
                </a:solidFill>
              </a:rPr>
              <a:t>¿Para qué sirve?</a:t>
            </a:r>
          </a:p>
        </p:txBody>
      </p:sp>
      <p:sp>
        <p:nvSpPr>
          <p:cNvPr id="74" name="utility-body">
            <a:extLst>
              <a:ext uri="{FF2B5EF4-FFF2-40B4-BE49-F238E27FC236}">
                <a16:creationId xmlns:a16="http://schemas.microsoft.com/office/drawing/2014/main" id="{16C22B22-4B79-4579-A34E-39C655157F21}"/>
              </a:ext>
            </a:extLst>
          </p:cNvPr>
          <p:cNvSpPr>
            <a:spLocks noGrp="1"/>
          </p:cNvSpPr>
          <p:nvPr/>
        </p:nvSpPr>
        <p:spPr>
          <a:xfrm>
            <a:off x="8972550" y="3238500"/>
            <a:ext cx="2476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20252D"/>
                </a:solidFill>
              </a:defRPr>
            </a:pPr>
            <a:r>
              <a:rPr sz="1125" b="0">
                <a:solidFill>
                  <a:srgbClr val="20252D"/>
                </a:solidFill>
              </a:rPr>
              <a:t>• Priorizar compras</a:t>
            </a:r>
          </a:p>
          <a:p>
            <a:pPr algn="l">
              <a:defRPr sz="1125" b="0">
                <a:solidFill>
                  <a:srgbClr val="20252D"/>
                </a:solidFill>
              </a:defRPr>
            </a:pPr>
            <a:r>
              <a:rPr sz="1125" b="0">
                <a:solidFill>
                  <a:srgbClr val="20252D"/>
                </a:solidFill>
              </a:rPr>
              <a:t>• Evitar productos agotados</a:t>
            </a:r>
          </a:p>
          <a:p>
            <a:pPr algn="l">
              <a:defRPr sz="1125" b="0">
                <a:solidFill>
                  <a:srgbClr val="20252D"/>
                </a:solidFill>
              </a:defRPr>
            </a:pPr>
            <a:r>
              <a:rPr sz="1125" b="0">
                <a:solidFill>
                  <a:srgbClr val="20252D"/>
                </a:solidFill>
              </a:rPr>
              <a:t>• Reducir sobreinventario</a:t>
            </a:r>
          </a:p>
          <a:p>
            <a:pPr algn="l">
              <a:defRPr sz="1125" b="0">
                <a:solidFill>
                  <a:srgbClr val="20252D"/>
                </a:solidFill>
              </a:defRPr>
            </a:pPr>
            <a:r>
              <a:rPr sz="1125" b="0">
                <a:solidFill>
                  <a:srgbClr val="20252D"/>
                </a:solidFill>
              </a:rPr>
              <a:t>• Alertar al administrador</a:t>
            </a:r>
          </a:p>
        </p:txBody>
      </p:sp>
      <p:sp>
        <p:nvSpPr>
          <p:cNvPr id="75" name="method-note">
            <a:extLst>
              <a:ext uri="{FF2B5EF4-FFF2-40B4-BE49-F238E27FC236}">
                <a16:creationId xmlns:a16="http://schemas.microsoft.com/office/drawing/2014/main" id="{4CAA9B6C-07F8-4AA3-ADC4-89EB03F2D5C5}"/>
              </a:ext>
            </a:extLst>
          </p:cNvPr>
          <p:cNvSpPr>
            <a:spLocks noGrp="1"/>
          </p:cNvSpPr>
          <p:nvPr/>
        </p:nvSpPr>
        <p:spPr>
          <a:xfrm>
            <a:off x="457200" y="4610100"/>
            <a:ext cx="11277600" cy="1066800"/>
          </a:xfrm>
          <a:prstGeom prst="roundRect">
            <a:avLst>
              <a:gd name="adj" fmla="val 5357"/>
            </a:avLst>
          </a:prstGeom>
          <a:solidFill>
            <a:srgbClr val="DCE5FA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76" name="method-title">
            <a:extLst>
              <a:ext uri="{FF2B5EF4-FFF2-40B4-BE49-F238E27FC236}">
                <a16:creationId xmlns:a16="http://schemas.microsoft.com/office/drawing/2014/main" id="{0024A3AA-5355-4561-85DB-1E0C21BEEFFF}"/>
              </a:ext>
            </a:extLst>
          </p:cNvPr>
          <p:cNvSpPr>
            <a:spLocks noGrp="1"/>
          </p:cNvSpPr>
          <p:nvPr/>
        </p:nvSpPr>
        <p:spPr>
          <a:xfrm>
            <a:off x="647700" y="4762500"/>
            <a:ext cx="2857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315DBF"/>
                </a:solidFill>
              </a:defRPr>
            </a:pPr>
            <a:r>
              <a:rPr sz="1050" b="1">
                <a:solidFill>
                  <a:srgbClr val="315DBF"/>
                </a:solidFill>
              </a:rPr>
              <a:t>Cómo se etiquetan las clases</a:t>
            </a:r>
          </a:p>
        </p:txBody>
      </p:sp>
      <p:sp>
        <p:nvSpPr>
          <p:cNvPr id="77" name="method-body">
            <a:extLst>
              <a:ext uri="{FF2B5EF4-FFF2-40B4-BE49-F238E27FC236}">
                <a16:creationId xmlns:a16="http://schemas.microsoft.com/office/drawing/2014/main" id="{145B68CF-0B61-4206-A75C-54144A458855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10668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20252D"/>
                </a:solidFill>
              </a:defRPr>
            </a:pPr>
            <a:r>
              <a:rPr sz="1125" b="0">
                <a:solidFill>
                  <a:srgbClr val="20252D"/>
                </a:solidFill>
              </a:rPr>
              <a:t>ALTO: cobertura ≤ 7 días   ·   MEDIO: 8–30 días   ·   BAJO: &gt; 30 días. Para entrenamiento real se guardarán cortes históricos de stock; el esquema actual permite iniciar con etiquetas calculadas.</a:t>
            </a:r>
          </a:p>
        </p:txBody>
      </p:sp>
      <p:sp>
        <p:nvSpPr>
          <p:cNvPr id="78" name="example-note">
            <a:extLst>
              <a:ext uri="{FF2B5EF4-FFF2-40B4-BE49-F238E27FC236}">
                <a16:creationId xmlns:a16="http://schemas.microsoft.com/office/drawing/2014/main" id="{6F6D3F8B-58F2-4855-8255-8A60568CE276}"/>
              </a:ext>
            </a:extLst>
          </p:cNvPr>
          <p:cNvSpPr>
            <a:spLocks noGrp="1"/>
          </p:cNvSpPr>
          <p:nvPr/>
        </p:nvSpPr>
        <p:spPr>
          <a:xfrm>
            <a:off x="457200" y="5981700"/>
            <a:ext cx="666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Valores de ejemplo para mostrar la estructura del dataset.</a:t>
            </a:r>
          </a:p>
        </p:txBody>
      </p:sp>
    </p:spTree>
    <p:extLst>
      <p:ext uri="{BB962C8B-B14F-4D97-AF65-F5344CB8AC3E}">
        <p14:creationId xmlns:p14="http://schemas.microsoft.com/office/powerpoint/2010/main" val="112651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kicker">
            <a:extLst>
              <a:ext uri="{FF2B5EF4-FFF2-40B4-BE49-F238E27FC236}">
                <a16:creationId xmlns:a16="http://schemas.microsoft.com/office/drawing/2014/main" id="{B6D1B762-8332-49E8-9620-75F67392EA4C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PROPUESTA 2 · REGRESIÓN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9090148-8256-4C44-BD30-AC19AD19B594}"/>
              </a:ext>
            </a:extLst>
          </p:cNvPr>
          <p:cNvSpPr>
            <a:spLocks noGrp="1"/>
          </p:cNvSpPr>
          <p:nvPr/>
        </p:nvSpPr>
        <p:spPr>
          <a:xfrm>
            <a:off x="457200" y="495300"/>
            <a:ext cx="10668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250" b="1">
                <a:solidFill>
                  <a:srgbClr val="315DBF"/>
                </a:solidFill>
              </a:defRPr>
            </a:pPr>
            <a:r>
              <a:rPr sz="2250" b="1">
                <a:solidFill>
                  <a:srgbClr val="315DBF"/>
                </a:solidFill>
              </a:rPr>
              <a:t>Predecir la demanda convierte ventas históricas en compras planeadas</a:t>
            </a:r>
          </a:p>
        </p:txBody>
      </p:sp>
      <p:sp>
        <p:nvSpPr>
          <p:cNvPr id="3" name="page">
            <a:extLst>
              <a:ext uri="{FF2B5EF4-FFF2-40B4-BE49-F238E27FC236}">
                <a16:creationId xmlns:a16="http://schemas.microsoft.com/office/drawing/2014/main" id="{237A6C58-40AA-4CF6-B836-8A45BD1C467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28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3</a:t>
            </a:r>
          </a:p>
        </p:txBody>
      </p:sp>
      <p:sp>
        <p:nvSpPr>
          <p:cNvPr id="4" name="source-box">
            <a:extLst>
              <a:ext uri="{FF2B5EF4-FFF2-40B4-BE49-F238E27FC236}">
                <a16:creationId xmlns:a16="http://schemas.microsoft.com/office/drawing/2014/main" id="{34657483-B81F-48A9-9A28-B8EACB4AC5E7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2381250" cy="1104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" name="source-label">
            <a:extLst>
              <a:ext uri="{FF2B5EF4-FFF2-40B4-BE49-F238E27FC236}">
                <a16:creationId xmlns:a16="http://schemas.microsoft.com/office/drawing/2014/main" id="{EEAA8899-BA71-4145-B89B-4728248E12E1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COLECCIONES</a:t>
            </a:r>
          </a:p>
        </p:txBody>
      </p:sp>
      <p:sp>
        <p:nvSpPr>
          <p:cNvPr id="6" name="sources">
            <a:extLst>
              <a:ext uri="{FF2B5EF4-FFF2-40B4-BE49-F238E27FC236}">
                <a16:creationId xmlns:a16="http://schemas.microsoft.com/office/drawing/2014/main" id="{93258A30-A513-41D9-B809-A8EE106FF7F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2000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pedidos</a:t>
            </a:r>
          </a:p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productos</a:t>
            </a:r>
          </a:p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ofertas</a:t>
            </a:r>
          </a:p>
        </p:txBody>
      </p:sp>
      <p:sp>
        <p:nvSpPr>
          <p:cNvPr id="7" name="flow-arrow">
            <a:extLst>
              <a:ext uri="{FF2B5EF4-FFF2-40B4-BE49-F238E27FC236}">
                <a16:creationId xmlns:a16="http://schemas.microsoft.com/office/drawing/2014/main" id="{319E6F2C-B228-4399-9CDC-70295FA6AF5B}"/>
              </a:ext>
            </a:extLst>
          </p:cNvPr>
          <p:cNvSpPr>
            <a:spLocks noGrp="1"/>
          </p:cNvSpPr>
          <p:nvPr/>
        </p:nvSpPr>
        <p:spPr>
          <a:xfrm>
            <a:off x="2952750" y="1695450"/>
            <a:ext cx="400050" cy="209550"/>
          </a:xfrm>
          <a:prstGeom prst="rightArrow">
            <a:avLst/>
          </a:prstGeom>
          <a:solidFill>
            <a:srgbClr val="315DBF"/>
          </a:solidFill>
          <a:ln w="0">
            <a:solidFill>
              <a:srgbClr val="315DBF"/>
            </a:solidFill>
            <a:prstDash val="solid"/>
          </a:ln>
        </p:spPr>
      </p:sp>
      <p:sp>
        <p:nvSpPr>
          <p:cNvPr id="8" name="transform-box">
            <a:extLst>
              <a:ext uri="{FF2B5EF4-FFF2-40B4-BE49-F238E27FC236}">
                <a16:creationId xmlns:a16="http://schemas.microsoft.com/office/drawing/2014/main" id="{8BF49D45-24B8-4C29-94EB-9D771B805A04}"/>
              </a:ext>
            </a:extLst>
          </p:cNvPr>
          <p:cNvSpPr>
            <a:spLocks noGrp="1"/>
          </p:cNvSpPr>
          <p:nvPr/>
        </p:nvSpPr>
        <p:spPr>
          <a:xfrm>
            <a:off x="3467100" y="1257300"/>
            <a:ext cx="3238500" cy="1104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9" name="transform-label">
            <a:extLst>
              <a:ext uri="{FF2B5EF4-FFF2-40B4-BE49-F238E27FC236}">
                <a16:creationId xmlns:a16="http://schemas.microsoft.com/office/drawing/2014/main" id="{80A056CA-B188-47A5-9EC1-EF635FD175FD}"/>
              </a:ext>
            </a:extLst>
          </p:cNvPr>
          <p:cNvSpPr>
            <a:spLocks noGrp="1"/>
          </p:cNvSpPr>
          <p:nvPr/>
        </p:nvSpPr>
        <p:spPr>
          <a:xfrm>
            <a:off x="3619500" y="135255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TRANSFORMACIÓN</a:t>
            </a:r>
          </a:p>
        </p:txBody>
      </p:sp>
      <p:sp>
        <p:nvSpPr>
          <p:cNvPr id="10" name="transform">
            <a:extLst>
              <a:ext uri="{FF2B5EF4-FFF2-40B4-BE49-F238E27FC236}">
                <a16:creationId xmlns:a16="http://schemas.microsoft.com/office/drawing/2014/main" id="{532355CC-73C2-4018-8BB3-5CEC4528B730}"/>
              </a:ext>
            </a:extLst>
          </p:cNvPr>
          <p:cNvSpPr>
            <a:spLocks noGrp="1"/>
          </p:cNvSpPr>
          <p:nvPr/>
        </p:nvSpPr>
        <p:spPr>
          <a:xfrm>
            <a:off x="3619500" y="1581150"/>
            <a:ext cx="29337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20252D"/>
                </a:solidFill>
              </a:defRPr>
            </a:pPr>
            <a:r>
              <a:rPr sz="975" b="0">
                <a:solidFill>
                  <a:srgbClr val="20252D"/>
                </a:solidFill>
              </a:rPr>
              <a:t>Pedidos pagados/entregados → una fila por producto y semana → sumar unidades → crear rezagos y variables de precio, oferta y calendario.</a:t>
            </a:r>
          </a:p>
        </p:txBody>
      </p:sp>
      <p:sp>
        <p:nvSpPr>
          <p:cNvPr id="11" name="flow-arrow">
            <a:extLst>
              <a:ext uri="{FF2B5EF4-FFF2-40B4-BE49-F238E27FC236}">
                <a16:creationId xmlns:a16="http://schemas.microsoft.com/office/drawing/2014/main" id="{BD598A45-14D3-4AA4-9927-955F56B1F74C}"/>
              </a:ext>
            </a:extLst>
          </p:cNvPr>
          <p:cNvSpPr>
            <a:spLocks noGrp="1"/>
          </p:cNvSpPr>
          <p:nvPr/>
        </p:nvSpPr>
        <p:spPr>
          <a:xfrm>
            <a:off x="6819900" y="1695450"/>
            <a:ext cx="400050" cy="209550"/>
          </a:xfrm>
          <a:prstGeom prst="rightArrow">
            <a:avLst/>
          </a:prstGeom>
          <a:solidFill>
            <a:srgbClr val="315DBF"/>
          </a:solidFill>
          <a:ln w="0">
            <a:solidFill>
              <a:srgbClr val="315DBF"/>
            </a:solidFill>
            <a:prstDash val="solid"/>
          </a:ln>
        </p:spPr>
      </p:sp>
      <p:sp>
        <p:nvSpPr>
          <p:cNvPr id="12" name="target-box">
            <a:extLst>
              <a:ext uri="{FF2B5EF4-FFF2-40B4-BE49-F238E27FC236}">
                <a16:creationId xmlns:a16="http://schemas.microsoft.com/office/drawing/2014/main" id="{993C2E6C-720E-4810-BB4D-E0E827FE8E8C}"/>
              </a:ext>
            </a:extLst>
          </p:cNvPr>
          <p:cNvSpPr>
            <a:spLocks noGrp="1"/>
          </p:cNvSpPr>
          <p:nvPr/>
        </p:nvSpPr>
        <p:spPr>
          <a:xfrm>
            <a:off x="7334250" y="1257300"/>
            <a:ext cx="4400550" cy="1104900"/>
          </a:xfrm>
          <a:prstGeom prst="roundRect">
            <a:avLst>
              <a:gd name="adj" fmla="val 5172"/>
            </a:avLst>
          </a:prstGeom>
          <a:solidFill>
            <a:srgbClr val="DCE5FA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3" name="target-label">
            <a:extLst>
              <a:ext uri="{FF2B5EF4-FFF2-40B4-BE49-F238E27FC236}">
                <a16:creationId xmlns:a16="http://schemas.microsoft.com/office/drawing/2014/main" id="{CDD6B15A-5D3B-4C9D-AF1B-24EE279707CF}"/>
              </a:ext>
            </a:extLst>
          </p:cNvPr>
          <p:cNvSpPr>
            <a:spLocks noGrp="1"/>
          </p:cNvSpPr>
          <p:nvPr/>
        </p:nvSpPr>
        <p:spPr>
          <a:xfrm>
            <a:off x="7486650" y="13525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VARIABLE / RESULTADO</a:t>
            </a:r>
          </a:p>
        </p:txBody>
      </p:sp>
      <p:sp>
        <p:nvSpPr>
          <p:cNvPr id="14" name="target">
            <a:extLst>
              <a:ext uri="{FF2B5EF4-FFF2-40B4-BE49-F238E27FC236}">
                <a16:creationId xmlns:a16="http://schemas.microsoft.com/office/drawing/2014/main" id="{6C271CBC-7A4D-4B7A-9728-53B4BB928E5B}"/>
              </a:ext>
            </a:extLst>
          </p:cNvPr>
          <p:cNvSpPr>
            <a:spLocks noGrp="1"/>
          </p:cNvSpPr>
          <p:nvPr/>
        </p:nvSpPr>
        <p:spPr>
          <a:xfrm>
            <a:off x="7486650" y="1581150"/>
            <a:ext cx="4095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20252D"/>
                </a:solidFill>
              </a:defRPr>
            </a:pPr>
            <a:r>
              <a:rPr sz="1050" b="1">
                <a:solidFill>
                  <a:srgbClr val="20252D"/>
                </a:solidFill>
              </a:rPr>
              <a:t>Valor continuo: unidades_siguientes_30d</a:t>
            </a:r>
          </a:p>
        </p:txBody>
      </p:sp>
      <p:sp>
        <p:nvSpPr>
          <p:cNvPr id="15" name="dataset-title">
            <a:extLst>
              <a:ext uri="{FF2B5EF4-FFF2-40B4-BE49-F238E27FC236}">
                <a16:creationId xmlns:a16="http://schemas.microsoft.com/office/drawing/2014/main" id="{2CFC4ECD-1698-40EF-9A57-BD284978093C}"/>
              </a:ext>
            </a:extLst>
          </p:cNvPr>
          <p:cNvSpPr>
            <a:spLocks noGrp="1"/>
          </p:cNvSpPr>
          <p:nvPr/>
        </p:nvSpPr>
        <p:spPr>
          <a:xfrm>
            <a:off x="457200" y="2571750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20252D"/>
                </a:solidFill>
              </a:defRPr>
            </a:pPr>
            <a:r>
              <a:rPr sz="1050" b="1">
                <a:solidFill>
                  <a:srgbClr val="20252D"/>
                </a:solidFill>
              </a:rPr>
              <a:t>Dataset de regresión — una fila por producto y semana</a:t>
            </a:r>
          </a:p>
        </p:txBody>
      </p:sp>
      <p:sp>
        <p:nvSpPr>
          <p:cNvPr id="16" name="th">
            <a:extLst>
              <a:ext uri="{FF2B5EF4-FFF2-40B4-BE49-F238E27FC236}">
                <a16:creationId xmlns:a16="http://schemas.microsoft.com/office/drawing/2014/main" id="{A8463D6B-E510-4534-AAC5-584955FE7C82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114300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7" name="th-text">
            <a:extLst>
              <a:ext uri="{FF2B5EF4-FFF2-40B4-BE49-F238E27FC236}">
                <a16:creationId xmlns:a16="http://schemas.microsoft.com/office/drawing/2014/main" id="{54DA3EAA-D72F-477A-BB3C-13233CCD9881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producto</a:t>
            </a:r>
          </a:p>
        </p:txBody>
      </p:sp>
      <p:sp>
        <p:nvSpPr>
          <p:cNvPr id="18" name="th">
            <a:extLst>
              <a:ext uri="{FF2B5EF4-FFF2-40B4-BE49-F238E27FC236}">
                <a16:creationId xmlns:a16="http://schemas.microsoft.com/office/drawing/2014/main" id="{F7FD3C27-3F14-49E5-928B-60F359BAE40F}"/>
              </a:ext>
            </a:extLst>
          </p:cNvPr>
          <p:cNvSpPr>
            <a:spLocks noGrp="1"/>
          </p:cNvSpPr>
          <p:nvPr/>
        </p:nvSpPr>
        <p:spPr>
          <a:xfrm>
            <a:off x="1600200" y="2895600"/>
            <a:ext cx="6667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9" name="th-text">
            <a:extLst>
              <a:ext uri="{FF2B5EF4-FFF2-40B4-BE49-F238E27FC236}">
                <a16:creationId xmlns:a16="http://schemas.microsoft.com/office/drawing/2014/main" id="{018058FF-6F5D-41B0-A7A2-F8371D655A5E}"/>
              </a:ext>
            </a:extLst>
          </p:cNvPr>
          <p:cNvSpPr>
            <a:spLocks noGrp="1"/>
          </p:cNvSpPr>
          <p:nvPr/>
        </p:nvSpPr>
        <p:spPr>
          <a:xfrm>
            <a:off x="1657350" y="289560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semana</a:t>
            </a:r>
          </a:p>
        </p:txBody>
      </p:sp>
      <p:sp>
        <p:nvSpPr>
          <p:cNvPr id="20" name="th">
            <a:extLst>
              <a:ext uri="{FF2B5EF4-FFF2-40B4-BE49-F238E27FC236}">
                <a16:creationId xmlns:a16="http://schemas.microsoft.com/office/drawing/2014/main" id="{8884F4A5-06A9-447C-94E5-58F86D35C7D7}"/>
              </a:ext>
            </a:extLst>
          </p:cNvPr>
          <p:cNvSpPr>
            <a:spLocks noGrp="1"/>
          </p:cNvSpPr>
          <p:nvPr/>
        </p:nvSpPr>
        <p:spPr>
          <a:xfrm>
            <a:off x="2266950" y="2895600"/>
            <a:ext cx="8572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1" name="th-text">
            <a:extLst>
              <a:ext uri="{FF2B5EF4-FFF2-40B4-BE49-F238E27FC236}">
                <a16:creationId xmlns:a16="http://schemas.microsoft.com/office/drawing/2014/main" id="{A4DE2117-5B35-4D41-8449-154BD280310B}"/>
              </a:ext>
            </a:extLst>
          </p:cNvPr>
          <p:cNvSpPr>
            <a:spLocks noGrp="1"/>
          </p:cNvSpPr>
          <p:nvPr/>
        </p:nvSpPr>
        <p:spPr>
          <a:xfrm>
            <a:off x="2324100" y="289560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precio</a:t>
            </a:r>
          </a:p>
        </p:txBody>
      </p:sp>
      <p:sp>
        <p:nvSpPr>
          <p:cNvPr id="22" name="th">
            <a:extLst>
              <a:ext uri="{FF2B5EF4-FFF2-40B4-BE49-F238E27FC236}">
                <a16:creationId xmlns:a16="http://schemas.microsoft.com/office/drawing/2014/main" id="{A3459CB5-4B0F-453B-9A70-890493E7AD1C}"/>
              </a:ext>
            </a:extLst>
          </p:cNvPr>
          <p:cNvSpPr>
            <a:spLocks noGrp="1"/>
          </p:cNvSpPr>
          <p:nvPr/>
        </p:nvSpPr>
        <p:spPr>
          <a:xfrm>
            <a:off x="3124200" y="2895600"/>
            <a:ext cx="8572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3" name="th-text">
            <a:extLst>
              <a:ext uri="{FF2B5EF4-FFF2-40B4-BE49-F238E27FC236}">
                <a16:creationId xmlns:a16="http://schemas.microsoft.com/office/drawing/2014/main" id="{7F52E9BF-72C1-48AB-846D-7F32FD7B0574}"/>
              </a:ext>
            </a:extLst>
          </p:cNvPr>
          <p:cNvSpPr>
            <a:spLocks noGrp="1"/>
          </p:cNvSpPr>
          <p:nvPr/>
        </p:nvSpPr>
        <p:spPr>
          <a:xfrm>
            <a:off x="3181350" y="289560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descuento</a:t>
            </a:r>
          </a:p>
        </p:txBody>
      </p:sp>
      <p:sp>
        <p:nvSpPr>
          <p:cNvPr id="24" name="th">
            <a:extLst>
              <a:ext uri="{FF2B5EF4-FFF2-40B4-BE49-F238E27FC236}">
                <a16:creationId xmlns:a16="http://schemas.microsoft.com/office/drawing/2014/main" id="{95F8761F-3905-4B6C-9ECC-CA70CC84ACEF}"/>
              </a:ext>
            </a:extLst>
          </p:cNvPr>
          <p:cNvSpPr>
            <a:spLocks noGrp="1"/>
          </p:cNvSpPr>
          <p:nvPr/>
        </p:nvSpPr>
        <p:spPr>
          <a:xfrm>
            <a:off x="3981450" y="2895600"/>
            <a:ext cx="10477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5" name="th-text">
            <a:extLst>
              <a:ext uri="{FF2B5EF4-FFF2-40B4-BE49-F238E27FC236}">
                <a16:creationId xmlns:a16="http://schemas.microsoft.com/office/drawing/2014/main" id="{2E7B5264-121B-4389-864C-19781C650AFD}"/>
              </a:ext>
            </a:extLst>
          </p:cNvPr>
          <p:cNvSpPr>
            <a:spLocks noGrp="1"/>
          </p:cNvSpPr>
          <p:nvPr/>
        </p:nvSpPr>
        <p:spPr>
          <a:xfrm>
            <a:off x="4038600" y="28956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ventas prev.</a:t>
            </a:r>
          </a:p>
        </p:txBody>
      </p:sp>
      <p:sp>
        <p:nvSpPr>
          <p:cNvPr id="26" name="th">
            <a:extLst>
              <a:ext uri="{FF2B5EF4-FFF2-40B4-BE49-F238E27FC236}">
                <a16:creationId xmlns:a16="http://schemas.microsoft.com/office/drawing/2014/main" id="{5A3A85D9-1FF0-4162-B6C4-B62205872284}"/>
              </a:ext>
            </a:extLst>
          </p:cNvPr>
          <p:cNvSpPr>
            <a:spLocks noGrp="1"/>
          </p:cNvSpPr>
          <p:nvPr/>
        </p:nvSpPr>
        <p:spPr>
          <a:xfrm>
            <a:off x="5029200" y="2895600"/>
            <a:ext cx="1000125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7" name="th-text">
            <a:extLst>
              <a:ext uri="{FF2B5EF4-FFF2-40B4-BE49-F238E27FC236}">
                <a16:creationId xmlns:a16="http://schemas.microsoft.com/office/drawing/2014/main" id="{ABD8614E-AF04-467A-B70F-D0E8A3E5ABA2}"/>
              </a:ext>
            </a:extLst>
          </p:cNvPr>
          <p:cNvSpPr>
            <a:spLocks noGrp="1"/>
          </p:cNvSpPr>
          <p:nvPr/>
        </p:nvSpPr>
        <p:spPr>
          <a:xfrm>
            <a:off x="5086350" y="289560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prom. 4 sem.</a:t>
            </a:r>
          </a:p>
        </p:txBody>
      </p:sp>
      <p:sp>
        <p:nvSpPr>
          <p:cNvPr id="28" name="th">
            <a:extLst>
              <a:ext uri="{FF2B5EF4-FFF2-40B4-BE49-F238E27FC236}">
                <a16:creationId xmlns:a16="http://schemas.microsoft.com/office/drawing/2014/main" id="{158086F2-D704-492C-B6F8-2F78209CF7C4}"/>
              </a:ext>
            </a:extLst>
          </p:cNvPr>
          <p:cNvSpPr>
            <a:spLocks noGrp="1"/>
          </p:cNvSpPr>
          <p:nvPr/>
        </p:nvSpPr>
        <p:spPr>
          <a:xfrm>
            <a:off x="6029325" y="2895600"/>
            <a:ext cx="10477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9" name="th-text">
            <a:extLst>
              <a:ext uri="{FF2B5EF4-FFF2-40B4-BE49-F238E27FC236}">
                <a16:creationId xmlns:a16="http://schemas.microsoft.com/office/drawing/2014/main" id="{BFD81DFB-FDA8-4B8D-B876-5E2259FECF5F}"/>
              </a:ext>
            </a:extLst>
          </p:cNvPr>
          <p:cNvSpPr>
            <a:spLocks noGrp="1"/>
          </p:cNvSpPr>
          <p:nvPr/>
        </p:nvSpPr>
        <p:spPr>
          <a:xfrm>
            <a:off x="6086475" y="28956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stock</a:t>
            </a:r>
          </a:p>
        </p:txBody>
      </p:sp>
      <p:sp>
        <p:nvSpPr>
          <p:cNvPr id="30" name="th">
            <a:extLst>
              <a:ext uri="{FF2B5EF4-FFF2-40B4-BE49-F238E27FC236}">
                <a16:creationId xmlns:a16="http://schemas.microsoft.com/office/drawing/2014/main" id="{F71CD512-BE57-432E-A054-FA20DB4804DC}"/>
              </a:ext>
            </a:extLst>
          </p:cNvPr>
          <p:cNvSpPr>
            <a:spLocks noGrp="1"/>
          </p:cNvSpPr>
          <p:nvPr/>
        </p:nvSpPr>
        <p:spPr>
          <a:xfrm>
            <a:off x="7077075" y="2895600"/>
            <a:ext cx="114300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31" name="th-text">
            <a:extLst>
              <a:ext uri="{FF2B5EF4-FFF2-40B4-BE49-F238E27FC236}">
                <a16:creationId xmlns:a16="http://schemas.microsoft.com/office/drawing/2014/main" id="{9B878465-DFB3-47DD-AA30-F12C42FD17DF}"/>
              </a:ext>
            </a:extLst>
          </p:cNvPr>
          <p:cNvSpPr>
            <a:spLocks noGrp="1"/>
          </p:cNvSpPr>
          <p:nvPr/>
        </p:nvSpPr>
        <p:spPr>
          <a:xfrm>
            <a:off x="7134225" y="289560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unid. próximos 30d</a:t>
            </a:r>
          </a:p>
        </p:txBody>
      </p:sp>
      <p:sp>
        <p:nvSpPr>
          <p:cNvPr id="32" name="td">
            <a:extLst>
              <a:ext uri="{FF2B5EF4-FFF2-40B4-BE49-F238E27FC236}">
                <a16:creationId xmlns:a16="http://schemas.microsoft.com/office/drawing/2014/main" id="{F6D90ABE-972F-413F-BF73-6312B866E584}"/>
              </a:ext>
            </a:extLst>
          </p:cNvPr>
          <p:cNvSpPr>
            <a:spLocks noGrp="1"/>
          </p:cNvSpPr>
          <p:nvPr/>
        </p:nvSpPr>
        <p:spPr>
          <a:xfrm>
            <a:off x="457200" y="32194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3" name="td-text">
            <a:extLst>
              <a:ext uri="{FF2B5EF4-FFF2-40B4-BE49-F238E27FC236}">
                <a16:creationId xmlns:a16="http://schemas.microsoft.com/office/drawing/2014/main" id="{404A71D6-EEA9-4DB4-8F2B-1CFADDB1381A}"/>
              </a:ext>
            </a:extLst>
          </p:cNvPr>
          <p:cNvSpPr>
            <a:spLocks noGrp="1"/>
          </p:cNvSpPr>
          <p:nvPr/>
        </p:nvSpPr>
        <p:spPr>
          <a:xfrm>
            <a:off x="514350" y="321945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P001</a:t>
            </a:r>
          </a:p>
        </p:txBody>
      </p:sp>
      <p:sp>
        <p:nvSpPr>
          <p:cNvPr id="34" name="td">
            <a:extLst>
              <a:ext uri="{FF2B5EF4-FFF2-40B4-BE49-F238E27FC236}">
                <a16:creationId xmlns:a16="http://schemas.microsoft.com/office/drawing/2014/main" id="{4DBDF79C-2600-4A91-B46A-07B1DD86606E}"/>
              </a:ext>
            </a:extLst>
          </p:cNvPr>
          <p:cNvSpPr>
            <a:spLocks noGrp="1"/>
          </p:cNvSpPr>
          <p:nvPr/>
        </p:nvSpPr>
        <p:spPr>
          <a:xfrm>
            <a:off x="1600200" y="3219450"/>
            <a:ext cx="666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5" name="td-text">
            <a:extLst>
              <a:ext uri="{FF2B5EF4-FFF2-40B4-BE49-F238E27FC236}">
                <a16:creationId xmlns:a16="http://schemas.microsoft.com/office/drawing/2014/main" id="{10068D2F-C66B-412B-A0A6-C1E6CDA12300}"/>
              </a:ext>
            </a:extLst>
          </p:cNvPr>
          <p:cNvSpPr>
            <a:spLocks noGrp="1"/>
          </p:cNvSpPr>
          <p:nvPr/>
        </p:nvSpPr>
        <p:spPr>
          <a:xfrm>
            <a:off x="1657350" y="32194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24</a:t>
            </a:r>
          </a:p>
        </p:txBody>
      </p:sp>
      <p:sp>
        <p:nvSpPr>
          <p:cNvPr id="36" name="td">
            <a:extLst>
              <a:ext uri="{FF2B5EF4-FFF2-40B4-BE49-F238E27FC236}">
                <a16:creationId xmlns:a16="http://schemas.microsoft.com/office/drawing/2014/main" id="{7BB3DE29-EC57-4EF8-A656-62CEBB81726B}"/>
              </a:ext>
            </a:extLst>
          </p:cNvPr>
          <p:cNvSpPr>
            <a:spLocks noGrp="1"/>
          </p:cNvSpPr>
          <p:nvPr/>
        </p:nvSpPr>
        <p:spPr>
          <a:xfrm>
            <a:off x="2266950" y="3219450"/>
            <a:ext cx="857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7" name="td-text">
            <a:extLst>
              <a:ext uri="{FF2B5EF4-FFF2-40B4-BE49-F238E27FC236}">
                <a16:creationId xmlns:a16="http://schemas.microsoft.com/office/drawing/2014/main" id="{DC233603-4404-4F7D-B227-F76A3FBBC6B0}"/>
              </a:ext>
            </a:extLst>
          </p:cNvPr>
          <p:cNvSpPr>
            <a:spLocks noGrp="1"/>
          </p:cNvSpPr>
          <p:nvPr/>
        </p:nvSpPr>
        <p:spPr>
          <a:xfrm>
            <a:off x="2324100" y="32194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$125</a:t>
            </a:r>
          </a:p>
        </p:txBody>
      </p:sp>
      <p:sp>
        <p:nvSpPr>
          <p:cNvPr id="38" name="td">
            <a:extLst>
              <a:ext uri="{FF2B5EF4-FFF2-40B4-BE49-F238E27FC236}">
                <a16:creationId xmlns:a16="http://schemas.microsoft.com/office/drawing/2014/main" id="{20730670-A55F-407A-AA37-A0A83B05582E}"/>
              </a:ext>
            </a:extLst>
          </p:cNvPr>
          <p:cNvSpPr>
            <a:spLocks noGrp="1"/>
          </p:cNvSpPr>
          <p:nvPr/>
        </p:nvSpPr>
        <p:spPr>
          <a:xfrm>
            <a:off x="3124200" y="3219450"/>
            <a:ext cx="857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9" name="td-text">
            <a:extLst>
              <a:ext uri="{FF2B5EF4-FFF2-40B4-BE49-F238E27FC236}">
                <a16:creationId xmlns:a16="http://schemas.microsoft.com/office/drawing/2014/main" id="{B58018E9-F471-4973-AEB1-361C35058C49}"/>
              </a:ext>
            </a:extLst>
          </p:cNvPr>
          <p:cNvSpPr>
            <a:spLocks noGrp="1"/>
          </p:cNvSpPr>
          <p:nvPr/>
        </p:nvSpPr>
        <p:spPr>
          <a:xfrm>
            <a:off x="3181350" y="32194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0%</a:t>
            </a:r>
          </a:p>
        </p:txBody>
      </p:sp>
      <p:sp>
        <p:nvSpPr>
          <p:cNvPr id="40" name="td">
            <a:extLst>
              <a:ext uri="{FF2B5EF4-FFF2-40B4-BE49-F238E27FC236}">
                <a16:creationId xmlns:a16="http://schemas.microsoft.com/office/drawing/2014/main" id="{0A2F7187-574C-4B06-9CD1-51F3A3609821}"/>
              </a:ext>
            </a:extLst>
          </p:cNvPr>
          <p:cNvSpPr>
            <a:spLocks noGrp="1"/>
          </p:cNvSpPr>
          <p:nvPr/>
        </p:nvSpPr>
        <p:spPr>
          <a:xfrm>
            <a:off x="3981450" y="3219450"/>
            <a:ext cx="1047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1" name="td-text">
            <a:extLst>
              <a:ext uri="{FF2B5EF4-FFF2-40B4-BE49-F238E27FC236}">
                <a16:creationId xmlns:a16="http://schemas.microsoft.com/office/drawing/2014/main" id="{A2D81028-7EFA-43F4-A5C7-6E1C2D9E3526}"/>
              </a:ext>
            </a:extLst>
          </p:cNvPr>
          <p:cNvSpPr>
            <a:spLocks noGrp="1"/>
          </p:cNvSpPr>
          <p:nvPr/>
        </p:nvSpPr>
        <p:spPr>
          <a:xfrm>
            <a:off x="4038600" y="321945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14</a:t>
            </a:r>
          </a:p>
        </p:txBody>
      </p:sp>
      <p:sp>
        <p:nvSpPr>
          <p:cNvPr id="42" name="td">
            <a:extLst>
              <a:ext uri="{FF2B5EF4-FFF2-40B4-BE49-F238E27FC236}">
                <a16:creationId xmlns:a16="http://schemas.microsoft.com/office/drawing/2014/main" id="{13E694A8-84B7-4E5B-B812-34B504F6B208}"/>
              </a:ext>
            </a:extLst>
          </p:cNvPr>
          <p:cNvSpPr>
            <a:spLocks noGrp="1"/>
          </p:cNvSpPr>
          <p:nvPr/>
        </p:nvSpPr>
        <p:spPr>
          <a:xfrm>
            <a:off x="5029200" y="3219450"/>
            <a:ext cx="1000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3" name="td-text">
            <a:extLst>
              <a:ext uri="{FF2B5EF4-FFF2-40B4-BE49-F238E27FC236}">
                <a16:creationId xmlns:a16="http://schemas.microsoft.com/office/drawing/2014/main" id="{ED59422D-C940-4DAA-B177-69A82C81C1D1}"/>
              </a:ext>
            </a:extLst>
          </p:cNvPr>
          <p:cNvSpPr>
            <a:spLocks noGrp="1"/>
          </p:cNvSpPr>
          <p:nvPr/>
        </p:nvSpPr>
        <p:spPr>
          <a:xfrm>
            <a:off x="5086350" y="321945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12.5</a:t>
            </a:r>
          </a:p>
        </p:txBody>
      </p:sp>
      <p:sp>
        <p:nvSpPr>
          <p:cNvPr id="44" name="td">
            <a:extLst>
              <a:ext uri="{FF2B5EF4-FFF2-40B4-BE49-F238E27FC236}">
                <a16:creationId xmlns:a16="http://schemas.microsoft.com/office/drawing/2014/main" id="{551D5F98-6743-4E7D-82C1-25FD38A117C9}"/>
              </a:ext>
            </a:extLst>
          </p:cNvPr>
          <p:cNvSpPr>
            <a:spLocks noGrp="1"/>
          </p:cNvSpPr>
          <p:nvPr/>
        </p:nvSpPr>
        <p:spPr>
          <a:xfrm>
            <a:off x="6029325" y="3219450"/>
            <a:ext cx="1047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5" name="td-text">
            <a:extLst>
              <a:ext uri="{FF2B5EF4-FFF2-40B4-BE49-F238E27FC236}">
                <a16:creationId xmlns:a16="http://schemas.microsoft.com/office/drawing/2014/main" id="{B8170834-E289-4A7B-93DC-AFC17CE5AC83}"/>
              </a:ext>
            </a:extLst>
          </p:cNvPr>
          <p:cNvSpPr>
            <a:spLocks noGrp="1"/>
          </p:cNvSpPr>
          <p:nvPr/>
        </p:nvSpPr>
        <p:spPr>
          <a:xfrm>
            <a:off x="6086475" y="321945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38</a:t>
            </a:r>
          </a:p>
        </p:txBody>
      </p:sp>
      <p:sp>
        <p:nvSpPr>
          <p:cNvPr id="46" name="td">
            <a:extLst>
              <a:ext uri="{FF2B5EF4-FFF2-40B4-BE49-F238E27FC236}">
                <a16:creationId xmlns:a16="http://schemas.microsoft.com/office/drawing/2014/main" id="{CC52687A-31D1-4ACD-8F27-6FF018D3948F}"/>
              </a:ext>
            </a:extLst>
          </p:cNvPr>
          <p:cNvSpPr>
            <a:spLocks noGrp="1"/>
          </p:cNvSpPr>
          <p:nvPr/>
        </p:nvSpPr>
        <p:spPr>
          <a:xfrm>
            <a:off x="7077075" y="32194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7" name="td-text">
            <a:extLst>
              <a:ext uri="{FF2B5EF4-FFF2-40B4-BE49-F238E27FC236}">
                <a16:creationId xmlns:a16="http://schemas.microsoft.com/office/drawing/2014/main" id="{C140A48E-E378-4B06-8961-E337C143298A}"/>
              </a:ext>
            </a:extLst>
          </p:cNvPr>
          <p:cNvSpPr>
            <a:spLocks noGrp="1"/>
          </p:cNvSpPr>
          <p:nvPr/>
        </p:nvSpPr>
        <p:spPr>
          <a:xfrm>
            <a:off x="7134225" y="321945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51</a:t>
            </a:r>
          </a:p>
        </p:txBody>
      </p:sp>
      <p:sp>
        <p:nvSpPr>
          <p:cNvPr id="48" name="td">
            <a:extLst>
              <a:ext uri="{FF2B5EF4-FFF2-40B4-BE49-F238E27FC236}">
                <a16:creationId xmlns:a16="http://schemas.microsoft.com/office/drawing/2014/main" id="{BD250F8F-E4D9-4256-8746-8BC317C3C3E8}"/>
              </a:ext>
            </a:extLst>
          </p:cNvPr>
          <p:cNvSpPr>
            <a:spLocks noGrp="1"/>
          </p:cNvSpPr>
          <p:nvPr/>
        </p:nvSpPr>
        <p:spPr>
          <a:xfrm>
            <a:off x="457200" y="3543300"/>
            <a:ext cx="114300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9" name="td-text">
            <a:extLst>
              <a:ext uri="{FF2B5EF4-FFF2-40B4-BE49-F238E27FC236}">
                <a16:creationId xmlns:a16="http://schemas.microsoft.com/office/drawing/2014/main" id="{2A2D595B-1A28-4F72-BA24-19D350BA01B9}"/>
              </a:ext>
            </a:extLst>
          </p:cNvPr>
          <p:cNvSpPr>
            <a:spLocks noGrp="1"/>
          </p:cNvSpPr>
          <p:nvPr/>
        </p:nvSpPr>
        <p:spPr>
          <a:xfrm>
            <a:off x="514350" y="354330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P002</a:t>
            </a:r>
          </a:p>
        </p:txBody>
      </p:sp>
      <p:sp>
        <p:nvSpPr>
          <p:cNvPr id="50" name="td">
            <a:extLst>
              <a:ext uri="{FF2B5EF4-FFF2-40B4-BE49-F238E27FC236}">
                <a16:creationId xmlns:a16="http://schemas.microsoft.com/office/drawing/2014/main" id="{D774E16A-E1FD-447A-8F68-155C7CFCF47C}"/>
              </a:ext>
            </a:extLst>
          </p:cNvPr>
          <p:cNvSpPr>
            <a:spLocks noGrp="1"/>
          </p:cNvSpPr>
          <p:nvPr/>
        </p:nvSpPr>
        <p:spPr>
          <a:xfrm>
            <a:off x="1600200" y="3543300"/>
            <a:ext cx="6667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1" name="td-text">
            <a:extLst>
              <a:ext uri="{FF2B5EF4-FFF2-40B4-BE49-F238E27FC236}">
                <a16:creationId xmlns:a16="http://schemas.microsoft.com/office/drawing/2014/main" id="{5B6C9632-8505-44DC-A1E4-BED4E0E56119}"/>
              </a:ext>
            </a:extLst>
          </p:cNvPr>
          <p:cNvSpPr>
            <a:spLocks noGrp="1"/>
          </p:cNvSpPr>
          <p:nvPr/>
        </p:nvSpPr>
        <p:spPr>
          <a:xfrm>
            <a:off x="1657350" y="354330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24</a:t>
            </a:r>
          </a:p>
        </p:txBody>
      </p:sp>
      <p:sp>
        <p:nvSpPr>
          <p:cNvPr id="52" name="td">
            <a:extLst>
              <a:ext uri="{FF2B5EF4-FFF2-40B4-BE49-F238E27FC236}">
                <a16:creationId xmlns:a16="http://schemas.microsoft.com/office/drawing/2014/main" id="{1171EB77-54CD-4AB3-915C-4CD300E19B72}"/>
              </a:ext>
            </a:extLst>
          </p:cNvPr>
          <p:cNvSpPr>
            <a:spLocks noGrp="1"/>
          </p:cNvSpPr>
          <p:nvPr/>
        </p:nvSpPr>
        <p:spPr>
          <a:xfrm>
            <a:off x="2266950" y="3543300"/>
            <a:ext cx="8572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3" name="td-text">
            <a:extLst>
              <a:ext uri="{FF2B5EF4-FFF2-40B4-BE49-F238E27FC236}">
                <a16:creationId xmlns:a16="http://schemas.microsoft.com/office/drawing/2014/main" id="{D81F1F97-E773-436A-9397-0E4A93A08C12}"/>
              </a:ext>
            </a:extLst>
          </p:cNvPr>
          <p:cNvSpPr>
            <a:spLocks noGrp="1"/>
          </p:cNvSpPr>
          <p:nvPr/>
        </p:nvSpPr>
        <p:spPr>
          <a:xfrm>
            <a:off x="2324100" y="354330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$189</a:t>
            </a:r>
          </a:p>
        </p:txBody>
      </p:sp>
      <p:sp>
        <p:nvSpPr>
          <p:cNvPr id="54" name="td">
            <a:extLst>
              <a:ext uri="{FF2B5EF4-FFF2-40B4-BE49-F238E27FC236}">
                <a16:creationId xmlns:a16="http://schemas.microsoft.com/office/drawing/2014/main" id="{A7C9F478-14BD-4E0A-8FE1-DB4A0DC4295B}"/>
              </a:ext>
            </a:extLst>
          </p:cNvPr>
          <p:cNvSpPr>
            <a:spLocks noGrp="1"/>
          </p:cNvSpPr>
          <p:nvPr/>
        </p:nvSpPr>
        <p:spPr>
          <a:xfrm>
            <a:off x="3124200" y="3543300"/>
            <a:ext cx="8572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5" name="td-text">
            <a:extLst>
              <a:ext uri="{FF2B5EF4-FFF2-40B4-BE49-F238E27FC236}">
                <a16:creationId xmlns:a16="http://schemas.microsoft.com/office/drawing/2014/main" id="{D06A5842-40FF-4386-9C42-C123CD622447}"/>
              </a:ext>
            </a:extLst>
          </p:cNvPr>
          <p:cNvSpPr>
            <a:spLocks noGrp="1"/>
          </p:cNvSpPr>
          <p:nvPr/>
        </p:nvSpPr>
        <p:spPr>
          <a:xfrm>
            <a:off x="3181350" y="354330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10%</a:t>
            </a:r>
          </a:p>
        </p:txBody>
      </p:sp>
      <p:sp>
        <p:nvSpPr>
          <p:cNvPr id="56" name="td">
            <a:extLst>
              <a:ext uri="{FF2B5EF4-FFF2-40B4-BE49-F238E27FC236}">
                <a16:creationId xmlns:a16="http://schemas.microsoft.com/office/drawing/2014/main" id="{ABF651F5-38F2-46D7-A745-C4C8B953C94A}"/>
              </a:ext>
            </a:extLst>
          </p:cNvPr>
          <p:cNvSpPr>
            <a:spLocks noGrp="1"/>
          </p:cNvSpPr>
          <p:nvPr/>
        </p:nvSpPr>
        <p:spPr>
          <a:xfrm>
            <a:off x="3981450" y="3543300"/>
            <a:ext cx="10477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7" name="td-text">
            <a:extLst>
              <a:ext uri="{FF2B5EF4-FFF2-40B4-BE49-F238E27FC236}">
                <a16:creationId xmlns:a16="http://schemas.microsoft.com/office/drawing/2014/main" id="{8CDF214D-F777-4830-96F6-B879D163E2C2}"/>
              </a:ext>
            </a:extLst>
          </p:cNvPr>
          <p:cNvSpPr>
            <a:spLocks noGrp="1"/>
          </p:cNvSpPr>
          <p:nvPr/>
        </p:nvSpPr>
        <p:spPr>
          <a:xfrm>
            <a:off x="4038600" y="35433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8</a:t>
            </a:r>
          </a:p>
        </p:txBody>
      </p:sp>
      <p:sp>
        <p:nvSpPr>
          <p:cNvPr id="58" name="td">
            <a:extLst>
              <a:ext uri="{FF2B5EF4-FFF2-40B4-BE49-F238E27FC236}">
                <a16:creationId xmlns:a16="http://schemas.microsoft.com/office/drawing/2014/main" id="{F34572C1-2797-4EB9-9141-D41115AE8D39}"/>
              </a:ext>
            </a:extLst>
          </p:cNvPr>
          <p:cNvSpPr>
            <a:spLocks noGrp="1"/>
          </p:cNvSpPr>
          <p:nvPr/>
        </p:nvSpPr>
        <p:spPr>
          <a:xfrm>
            <a:off x="5029200" y="3543300"/>
            <a:ext cx="1000125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9" name="td-text">
            <a:extLst>
              <a:ext uri="{FF2B5EF4-FFF2-40B4-BE49-F238E27FC236}">
                <a16:creationId xmlns:a16="http://schemas.microsoft.com/office/drawing/2014/main" id="{A5C35DD2-58EA-43C5-8642-86EF96D321AE}"/>
              </a:ext>
            </a:extLst>
          </p:cNvPr>
          <p:cNvSpPr>
            <a:spLocks noGrp="1"/>
          </p:cNvSpPr>
          <p:nvPr/>
        </p:nvSpPr>
        <p:spPr>
          <a:xfrm>
            <a:off x="5086350" y="354330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7.2</a:t>
            </a:r>
          </a:p>
        </p:txBody>
      </p:sp>
      <p:sp>
        <p:nvSpPr>
          <p:cNvPr id="60" name="td">
            <a:extLst>
              <a:ext uri="{FF2B5EF4-FFF2-40B4-BE49-F238E27FC236}">
                <a16:creationId xmlns:a16="http://schemas.microsoft.com/office/drawing/2014/main" id="{394EF7C3-E513-4A29-A309-D0CE6D89FD65}"/>
              </a:ext>
            </a:extLst>
          </p:cNvPr>
          <p:cNvSpPr>
            <a:spLocks noGrp="1"/>
          </p:cNvSpPr>
          <p:nvPr/>
        </p:nvSpPr>
        <p:spPr>
          <a:xfrm>
            <a:off x="6029325" y="3543300"/>
            <a:ext cx="10477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1" name="td-text">
            <a:extLst>
              <a:ext uri="{FF2B5EF4-FFF2-40B4-BE49-F238E27FC236}">
                <a16:creationId xmlns:a16="http://schemas.microsoft.com/office/drawing/2014/main" id="{DCDFEC3B-D0BA-4A8C-B72E-09FFBF0923C9}"/>
              </a:ext>
            </a:extLst>
          </p:cNvPr>
          <p:cNvSpPr>
            <a:spLocks noGrp="1"/>
          </p:cNvSpPr>
          <p:nvPr/>
        </p:nvSpPr>
        <p:spPr>
          <a:xfrm>
            <a:off x="6086475" y="35433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45</a:t>
            </a:r>
          </a:p>
        </p:txBody>
      </p:sp>
      <p:sp>
        <p:nvSpPr>
          <p:cNvPr id="62" name="td">
            <a:extLst>
              <a:ext uri="{FF2B5EF4-FFF2-40B4-BE49-F238E27FC236}">
                <a16:creationId xmlns:a16="http://schemas.microsoft.com/office/drawing/2014/main" id="{89EF6FFE-1309-48CD-A475-EBDE77CC9A5E}"/>
              </a:ext>
            </a:extLst>
          </p:cNvPr>
          <p:cNvSpPr>
            <a:spLocks noGrp="1"/>
          </p:cNvSpPr>
          <p:nvPr/>
        </p:nvSpPr>
        <p:spPr>
          <a:xfrm>
            <a:off x="7077075" y="3543300"/>
            <a:ext cx="114300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3" name="td-text">
            <a:extLst>
              <a:ext uri="{FF2B5EF4-FFF2-40B4-BE49-F238E27FC236}">
                <a16:creationId xmlns:a16="http://schemas.microsoft.com/office/drawing/2014/main" id="{0BB7E306-0F0E-44EF-B23A-3F0BB5EE6C92}"/>
              </a:ext>
            </a:extLst>
          </p:cNvPr>
          <p:cNvSpPr>
            <a:spLocks noGrp="1"/>
          </p:cNvSpPr>
          <p:nvPr/>
        </p:nvSpPr>
        <p:spPr>
          <a:xfrm>
            <a:off x="7134225" y="354330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34</a:t>
            </a:r>
          </a:p>
        </p:txBody>
      </p:sp>
      <p:sp>
        <p:nvSpPr>
          <p:cNvPr id="64" name="td">
            <a:extLst>
              <a:ext uri="{FF2B5EF4-FFF2-40B4-BE49-F238E27FC236}">
                <a16:creationId xmlns:a16="http://schemas.microsoft.com/office/drawing/2014/main" id="{F51B4B51-74F6-4836-B224-4774C19533A6}"/>
              </a:ext>
            </a:extLst>
          </p:cNvPr>
          <p:cNvSpPr>
            <a:spLocks noGrp="1"/>
          </p:cNvSpPr>
          <p:nvPr/>
        </p:nvSpPr>
        <p:spPr>
          <a:xfrm>
            <a:off x="457200" y="38671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5" name="td-text">
            <a:extLst>
              <a:ext uri="{FF2B5EF4-FFF2-40B4-BE49-F238E27FC236}">
                <a16:creationId xmlns:a16="http://schemas.microsoft.com/office/drawing/2014/main" id="{A603C13E-4B6A-4585-971B-122E6432B37A}"/>
              </a:ext>
            </a:extLst>
          </p:cNvPr>
          <p:cNvSpPr>
            <a:spLocks noGrp="1"/>
          </p:cNvSpPr>
          <p:nvPr/>
        </p:nvSpPr>
        <p:spPr>
          <a:xfrm>
            <a:off x="514350" y="386715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P003</a:t>
            </a:r>
          </a:p>
        </p:txBody>
      </p:sp>
      <p:sp>
        <p:nvSpPr>
          <p:cNvPr id="66" name="td">
            <a:extLst>
              <a:ext uri="{FF2B5EF4-FFF2-40B4-BE49-F238E27FC236}">
                <a16:creationId xmlns:a16="http://schemas.microsoft.com/office/drawing/2014/main" id="{EF29B900-A94D-4885-BA27-875C7B5C0E4C}"/>
              </a:ext>
            </a:extLst>
          </p:cNvPr>
          <p:cNvSpPr>
            <a:spLocks noGrp="1"/>
          </p:cNvSpPr>
          <p:nvPr/>
        </p:nvSpPr>
        <p:spPr>
          <a:xfrm>
            <a:off x="1600200" y="3867150"/>
            <a:ext cx="666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7" name="td-text">
            <a:extLst>
              <a:ext uri="{FF2B5EF4-FFF2-40B4-BE49-F238E27FC236}">
                <a16:creationId xmlns:a16="http://schemas.microsoft.com/office/drawing/2014/main" id="{A1C27358-1C33-408E-ABBD-0FD2CD5180DC}"/>
              </a:ext>
            </a:extLst>
          </p:cNvPr>
          <p:cNvSpPr>
            <a:spLocks noGrp="1"/>
          </p:cNvSpPr>
          <p:nvPr/>
        </p:nvSpPr>
        <p:spPr>
          <a:xfrm>
            <a:off x="1657350" y="38671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24</a:t>
            </a:r>
          </a:p>
        </p:txBody>
      </p:sp>
      <p:sp>
        <p:nvSpPr>
          <p:cNvPr id="68" name="td">
            <a:extLst>
              <a:ext uri="{FF2B5EF4-FFF2-40B4-BE49-F238E27FC236}">
                <a16:creationId xmlns:a16="http://schemas.microsoft.com/office/drawing/2014/main" id="{A413D651-2125-4112-BF5E-B0F01D0547B3}"/>
              </a:ext>
            </a:extLst>
          </p:cNvPr>
          <p:cNvSpPr>
            <a:spLocks noGrp="1"/>
          </p:cNvSpPr>
          <p:nvPr/>
        </p:nvSpPr>
        <p:spPr>
          <a:xfrm>
            <a:off x="2266950" y="3867150"/>
            <a:ext cx="857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9" name="td-text">
            <a:extLst>
              <a:ext uri="{FF2B5EF4-FFF2-40B4-BE49-F238E27FC236}">
                <a16:creationId xmlns:a16="http://schemas.microsoft.com/office/drawing/2014/main" id="{DAD381C5-C833-4DD2-8EC5-B5811E5A47B7}"/>
              </a:ext>
            </a:extLst>
          </p:cNvPr>
          <p:cNvSpPr>
            <a:spLocks noGrp="1"/>
          </p:cNvSpPr>
          <p:nvPr/>
        </p:nvSpPr>
        <p:spPr>
          <a:xfrm>
            <a:off x="2324100" y="38671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$95</a:t>
            </a:r>
          </a:p>
        </p:txBody>
      </p:sp>
      <p:sp>
        <p:nvSpPr>
          <p:cNvPr id="70" name="td">
            <a:extLst>
              <a:ext uri="{FF2B5EF4-FFF2-40B4-BE49-F238E27FC236}">
                <a16:creationId xmlns:a16="http://schemas.microsoft.com/office/drawing/2014/main" id="{12301CA5-2586-4280-AB8F-F4B1ED8241D4}"/>
              </a:ext>
            </a:extLst>
          </p:cNvPr>
          <p:cNvSpPr>
            <a:spLocks noGrp="1"/>
          </p:cNvSpPr>
          <p:nvPr/>
        </p:nvSpPr>
        <p:spPr>
          <a:xfrm>
            <a:off x="3124200" y="3867150"/>
            <a:ext cx="857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1" name="td-text">
            <a:extLst>
              <a:ext uri="{FF2B5EF4-FFF2-40B4-BE49-F238E27FC236}">
                <a16:creationId xmlns:a16="http://schemas.microsoft.com/office/drawing/2014/main" id="{E31B3B12-6F2B-4580-9CB2-5F2C52A518A9}"/>
              </a:ext>
            </a:extLst>
          </p:cNvPr>
          <p:cNvSpPr>
            <a:spLocks noGrp="1"/>
          </p:cNvSpPr>
          <p:nvPr/>
        </p:nvSpPr>
        <p:spPr>
          <a:xfrm>
            <a:off x="3181350" y="38671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0%</a:t>
            </a:r>
          </a:p>
        </p:txBody>
      </p:sp>
      <p:sp>
        <p:nvSpPr>
          <p:cNvPr id="72" name="td">
            <a:extLst>
              <a:ext uri="{FF2B5EF4-FFF2-40B4-BE49-F238E27FC236}">
                <a16:creationId xmlns:a16="http://schemas.microsoft.com/office/drawing/2014/main" id="{57E6897C-1FC8-4506-A713-97789BBBABDF}"/>
              </a:ext>
            </a:extLst>
          </p:cNvPr>
          <p:cNvSpPr>
            <a:spLocks noGrp="1"/>
          </p:cNvSpPr>
          <p:nvPr/>
        </p:nvSpPr>
        <p:spPr>
          <a:xfrm>
            <a:off x="3981450" y="3867150"/>
            <a:ext cx="1047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3" name="td-text">
            <a:extLst>
              <a:ext uri="{FF2B5EF4-FFF2-40B4-BE49-F238E27FC236}">
                <a16:creationId xmlns:a16="http://schemas.microsoft.com/office/drawing/2014/main" id="{4CB75A50-C687-47DF-8D65-8AE16400CD66}"/>
              </a:ext>
            </a:extLst>
          </p:cNvPr>
          <p:cNvSpPr>
            <a:spLocks noGrp="1"/>
          </p:cNvSpPr>
          <p:nvPr/>
        </p:nvSpPr>
        <p:spPr>
          <a:xfrm>
            <a:off x="4038600" y="386715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21</a:t>
            </a:r>
          </a:p>
        </p:txBody>
      </p:sp>
      <p:sp>
        <p:nvSpPr>
          <p:cNvPr id="74" name="td">
            <a:extLst>
              <a:ext uri="{FF2B5EF4-FFF2-40B4-BE49-F238E27FC236}">
                <a16:creationId xmlns:a16="http://schemas.microsoft.com/office/drawing/2014/main" id="{4730BEBA-3AF6-483D-80C1-48B3E830118D}"/>
              </a:ext>
            </a:extLst>
          </p:cNvPr>
          <p:cNvSpPr>
            <a:spLocks noGrp="1"/>
          </p:cNvSpPr>
          <p:nvPr/>
        </p:nvSpPr>
        <p:spPr>
          <a:xfrm>
            <a:off x="5029200" y="3867150"/>
            <a:ext cx="1000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5" name="td-text">
            <a:extLst>
              <a:ext uri="{FF2B5EF4-FFF2-40B4-BE49-F238E27FC236}">
                <a16:creationId xmlns:a16="http://schemas.microsoft.com/office/drawing/2014/main" id="{0A6DDF85-303E-4F2D-88FE-00D9A4CD1C35}"/>
              </a:ext>
            </a:extLst>
          </p:cNvPr>
          <p:cNvSpPr>
            <a:spLocks noGrp="1"/>
          </p:cNvSpPr>
          <p:nvPr/>
        </p:nvSpPr>
        <p:spPr>
          <a:xfrm>
            <a:off x="5086350" y="386715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18.7</a:t>
            </a:r>
          </a:p>
        </p:txBody>
      </p:sp>
      <p:sp>
        <p:nvSpPr>
          <p:cNvPr id="76" name="td">
            <a:extLst>
              <a:ext uri="{FF2B5EF4-FFF2-40B4-BE49-F238E27FC236}">
                <a16:creationId xmlns:a16="http://schemas.microsoft.com/office/drawing/2014/main" id="{95345026-BFD2-46E9-B736-3863CDFD3D6A}"/>
              </a:ext>
            </a:extLst>
          </p:cNvPr>
          <p:cNvSpPr>
            <a:spLocks noGrp="1"/>
          </p:cNvSpPr>
          <p:nvPr/>
        </p:nvSpPr>
        <p:spPr>
          <a:xfrm>
            <a:off x="6029325" y="3867150"/>
            <a:ext cx="1047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7" name="td-text">
            <a:extLst>
              <a:ext uri="{FF2B5EF4-FFF2-40B4-BE49-F238E27FC236}">
                <a16:creationId xmlns:a16="http://schemas.microsoft.com/office/drawing/2014/main" id="{485E3F9E-42AC-44C3-86D4-163949803325}"/>
              </a:ext>
            </a:extLst>
          </p:cNvPr>
          <p:cNvSpPr>
            <a:spLocks noGrp="1"/>
          </p:cNvSpPr>
          <p:nvPr/>
        </p:nvSpPr>
        <p:spPr>
          <a:xfrm>
            <a:off x="6086475" y="386715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27</a:t>
            </a:r>
          </a:p>
        </p:txBody>
      </p:sp>
      <p:sp>
        <p:nvSpPr>
          <p:cNvPr id="78" name="td">
            <a:extLst>
              <a:ext uri="{FF2B5EF4-FFF2-40B4-BE49-F238E27FC236}">
                <a16:creationId xmlns:a16="http://schemas.microsoft.com/office/drawing/2014/main" id="{0110D63D-8EF9-4DB2-8C17-B3B42D20DB75}"/>
              </a:ext>
            </a:extLst>
          </p:cNvPr>
          <p:cNvSpPr>
            <a:spLocks noGrp="1"/>
          </p:cNvSpPr>
          <p:nvPr/>
        </p:nvSpPr>
        <p:spPr>
          <a:xfrm>
            <a:off x="7077075" y="38671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9" name="td-text">
            <a:extLst>
              <a:ext uri="{FF2B5EF4-FFF2-40B4-BE49-F238E27FC236}">
                <a16:creationId xmlns:a16="http://schemas.microsoft.com/office/drawing/2014/main" id="{D5091F0D-6514-4048-824B-2573E100EE12}"/>
              </a:ext>
            </a:extLst>
          </p:cNvPr>
          <p:cNvSpPr>
            <a:spLocks noGrp="1"/>
          </p:cNvSpPr>
          <p:nvPr/>
        </p:nvSpPr>
        <p:spPr>
          <a:xfrm>
            <a:off x="7134225" y="386715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76</a:t>
            </a:r>
          </a:p>
        </p:txBody>
      </p:sp>
      <p:sp>
        <p:nvSpPr>
          <p:cNvPr id="80" name="prediction">
            <a:extLst>
              <a:ext uri="{FF2B5EF4-FFF2-40B4-BE49-F238E27FC236}">
                <a16:creationId xmlns:a16="http://schemas.microsoft.com/office/drawing/2014/main" id="{C1FBD056-800C-448D-BC08-3B0ADE33B145}"/>
              </a:ext>
            </a:extLst>
          </p:cNvPr>
          <p:cNvSpPr>
            <a:spLocks noGrp="1"/>
          </p:cNvSpPr>
          <p:nvPr/>
        </p:nvSpPr>
        <p:spPr>
          <a:xfrm>
            <a:off x="9334500" y="2724150"/>
            <a:ext cx="240030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81" name="prediction-title">
            <a:extLst>
              <a:ext uri="{FF2B5EF4-FFF2-40B4-BE49-F238E27FC236}">
                <a16:creationId xmlns:a16="http://schemas.microsoft.com/office/drawing/2014/main" id="{8CB6DA37-C384-4192-9A57-60B94EDDC1D2}"/>
              </a:ext>
            </a:extLst>
          </p:cNvPr>
          <p:cNvSpPr>
            <a:spLocks noGrp="1"/>
          </p:cNvSpPr>
          <p:nvPr/>
        </p:nvSpPr>
        <p:spPr>
          <a:xfrm>
            <a:off x="9525000" y="28956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315DBF"/>
                </a:solidFill>
              </a:defRPr>
            </a:pPr>
            <a:r>
              <a:rPr sz="1275" b="1">
                <a:solidFill>
                  <a:srgbClr val="315DBF"/>
                </a:solidFill>
              </a:rPr>
              <a:t>Predicción</a:t>
            </a:r>
          </a:p>
        </p:txBody>
      </p:sp>
      <p:sp>
        <p:nvSpPr>
          <p:cNvPr id="82" name="prediction-big">
            <a:extLst>
              <a:ext uri="{FF2B5EF4-FFF2-40B4-BE49-F238E27FC236}">
                <a16:creationId xmlns:a16="http://schemas.microsoft.com/office/drawing/2014/main" id="{50186ACB-D24E-4838-B1A8-8802964DDEDC}"/>
              </a:ext>
            </a:extLst>
          </p:cNvPr>
          <p:cNvSpPr>
            <a:spLocks noGrp="1"/>
          </p:cNvSpPr>
          <p:nvPr/>
        </p:nvSpPr>
        <p:spPr>
          <a:xfrm>
            <a:off x="9525000" y="3238500"/>
            <a:ext cx="2000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150" b="1">
                <a:solidFill>
                  <a:srgbClr val="315DBF"/>
                </a:solidFill>
              </a:defRPr>
            </a:pPr>
            <a:r>
              <a:rPr sz="3150" b="1">
                <a:solidFill>
                  <a:srgbClr val="315DBF"/>
                </a:solidFill>
              </a:rPr>
              <a:t>51</a:t>
            </a:r>
          </a:p>
        </p:txBody>
      </p:sp>
      <p:sp>
        <p:nvSpPr>
          <p:cNvPr id="83" name="prediction-label">
            <a:extLst>
              <a:ext uri="{FF2B5EF4-FFF2-40B4-BE49-F238E27FC236}">
                <a16:creationId xmlns:a16="http://schemas.microsoft.com/office/drawing/2014/main" id="{71366DA9-0F02-4A95-8AAC-C42DCF218772}"/>
              </a:ext>
            </a:extLst>
          </p:cNvPr>
          <p:cNvSpPr>
            <a:spLocks noGrp="1"/>
          </p:cNvSpPr>
          <p:nvPr/>
        </p:nvSpPr>
        <p:spPr>
          <a:xfrm>
            <a:off x="9525000" y="379095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unidades de P001</a:t>
            </a:r>
          </a:p>
          <a:p>
            <a:pPr algn="ctr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en 30 días</a:t>
            </a:r>
          </a:p>
        </p:txBody>
      </p:sp>
      <p:sp>
        <p:nvSpPr>
          <p:cNvPr id="84" name="utility">
            <a:extLst>
              <a:ext uri="{FF2B5EF4-FFF2-40B4-BE49-F238E27FC236}">
                <a16:creationId xmlns:a16="http://schemas.microsoft.com/office/drawing/2014/main" id="{467C7082-9929-4345-9AA6-6C227E5A6A58}"/>
              </a:ext>
            </a:extLst>
          </p:cNvPr>
          <p:cNvSpPr>
            <a:spLocks noGrp="1"/>
          </p:cNvSpPr>
          <p:nvPr/>
        </p:nvSpPr>
        <p:spPr>
          <a:xfrm>
            <a:off x="457200" y="4610100"/>
            <a:ext cx="11277600" cy="1066800"/>
          </a:xfrm>
          <a:prstGeom prst="roundRect">
            <a:avLst>
              <a:gd name="adj" fmla="val 5357"/>
            </a:avLst>
          </a:prstGeom>
          <a:solidFill>
            <a:srgbClr val="DCE5FA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85" name="utility-title">
            <a:extLst>
              <a:ext uri="{FF2B5EF4-FFF2-40B4-BE49-F238E27FC236}">
                <a16:creationId xmlns:a16="http://schemas.microsoft.com/office/drawing/2014/main" id="{5CA961D8-5139-48A8-B87E-F53CAE523199}"/>
              </a:ext>
            </a:extLst>
          </p:cNvPr>
          <p:cNvSpPr>
            <a:spLocks noGrp="1"/>
          </p:cNvSpPr>
          <p:nvPr/>
        </p:nvSpPr>
        <p:spPr>
          <a:xfrm>
            <a:off x="647700" y="47625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315DBF"/>
                </a:solidFill>
              </a:defRPr>
            </a:pPr>
            <a:r>
              <a:rPr sz="1050" b="1">
                <a:solidFill>
                  <a:srgbClr val="315DBF"/>
                </a:solidFill>
              </a:rPr>
              <a:t>Utilidad operativa</a:t>
            </a:r>
          </a:p>
        </p:txBody>
      </p:sp>
      <p:sp>
        <p:nvSpPr>
          <p:cNvPr id="86" name="utility-body">
            <a:extLst>
              <a:ext uri="{FF2B5EF4-FFF2-40B4-BE49-F238E27FC236}">
                <a16:creationId xmlns:a16="http://schemas.microsoft.com/office/drawing/2014/main" id="{F5ACCF78-28B2-4C40-9E87-58D6B38AE081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10668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20252D"/>
                </a:solidFill>
              </a:defRPr>
            </a:pPr>
            <a:r>
              <a:rPr sz="1125" b="0">
                <a:solidFill>
                  <a:srgbClr val="20252D"/>
                </a:solidFill>
              </a:rPr>
              <a:t>Define cuánto reabastecer por producto, anticipa temporadas de mayor demanda y reduce tanto faltantes como capital detenido en mercancía. Modelo inicial: regresión lineal; comparación posterior con Random Forest.</a:t>
            </a:r>
          </a:p>
        </p:txBody>
      </p:sp>
      <p:sp>
        <p:nvSpPr>
          <p:cNvPr id="87" name="example-note">
            <a:extLst>
              <a:ext uri="{FF2B5EF4-FFF2-40B4-BE49-F238E27FC236}">
                <a16:creationId xmlns:a16="http://schemas.microsoft.com/office/drawing/2014/main" id="{908C3393-DF20-40A3-BCC5-3E9415E15644}"/>
              </a:ext>
            </a:extLst>
          </p:cNvPr>
          <p:cNvSpPr>
            <a:spLocks noGrp="1"/>
          </p:cNvSpPr>
          <p:nvPr/>
        </p:nvSpPr>
        <p:spPr>
          <a:xfrm>
            <a:off x="457200" y="5981700"/>
            <a:ext cx="666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Valores de ejemplo para mostrar la estructura del dataset.</a:t>
            </a:r>
          </a:p>
        </p:txBody>
      </p:sp>
    </p:spTree>
    <p:extLst>
      <p:ext uri="{BB962C8B-B14F-4D97-AF65-F5344CB8AC3E}">
        <p14:creationId xmlns:p14="http://schemas.microsoft.com/office/powerpoint/2010/main" val="1986233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kicker">
            <a:extLst>
              <a:ext uri="{FF2B5EF4-FFF2-40B4-BE49-F238E27FC236}">
                <a16:creationId xmlns:a16="http://schemas.microsoft.com/office/drawing/2014/main" id="{718F3ED0-6936-42ED-9CBB-F102F84396B2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PROPUESTA 3 · SISTEMA DE RECOMENDACIÓN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D512F05-D5AC-4A4E-9532-C1CF1071612D}"/>
              </a:ext>
            </a:extLst>
          </p:cNvPr>
          <p:cNvSpPr>
            <a:spLocks noGrp="1"/>
          </p:cNvSpPr>
          <p:nvPr/>
        </p:nvSpPr>
        <p:spPr>
          <a:xfrm>
            <a:off x="457200" y="495300"/>
            <a:ext cx="10668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250" b="1">
                <a:solidFill>
                  <a:srgbClr val="315DBF"/>
                </a:solidFill>
              </a:defRPr>
            </a:pPr>
            <a:r>
              <a:rPr sz="2250" b="1">
                <a:solidFill>
                  <a:srgbClr val="315DBF"/>
                </a:solidFill>
              </a:rPr>
              <a:t>Las transacciones permiten recomendar productos relevantes a cada cliente</a:t>
            </a:r>
          </a:p>
        </p:txBody>
      </p:sp>
      <p:sp>
        <p:nvSpPr>
          <p:cNvPr id="3" name="page">
            <a:extLst>
              <a:ext uri="{FF2B5EF4-FFF2-40B4-BE49-F238E27FC236}">
                <a16:creationId xmlns:a16="http://schemas.microsoft.com/office/drawing/2014/main" id="{3E0165A7-96ED-4FCE-AE6C-CCB2F89E23BA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28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4</a:t>
            </a:r>
          </a:p>
        </p:txBody>
      </p:sp>
      <p:sp>
        <p:nvSpPr>
          <p:cNvPr id="4" name="source-box">
            <a:extLst>
              <a:ext uri="{FF2B5EF4-FFF2-40B4-BE49-F238E27FC236}">
                <a16:creationId xmlns:a16="http://schemas.microsoft.com/office/drawing/2014/main" id="{289AF9DA-A055-424F-BD20-7ECE5062C428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2381250" cy="1104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" name="source-label">
            <a:extLst>
              <a:ext uri="{FF2B5EF4-FFF2-40B4-BE49-F238E27FC236}">
                <a16:creationId xmlns:a16="http://schemas.microsoft.com/office/drawing/2014/main" id="{8F0080EB-2CD9-46E7-9AB0-BC1E7E1A9834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COLECCIONES</a:t>
            </a:r>
          </a:p>
        </p:txBody>
      </p:sp>
      <p:sp>
        <p:nvSpPr>
          <p:cNvPr id="6" name="sources">
            <a:extLst>
              <a:ext uri="{FF2B5EF4-FFF2-40B4-BE49-F238E27FC236}">
                <a16:creationId xmlns:a16="http://schemas.microsoft.com/office/drawing/2014/main" id="{353ED4E3-6FCF-4905-9792-9E52AC28CED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2000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pedidos</a:t>
            </a:r>
          </a:p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usuarios</a:t>
            </a:r>
          </a:p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productos</a:t>
            </a:r>
          </a:p>
          <a:p>
            <a:pPr algn="l">
              <a:defRPr sz="1050" b="0">
                <a:solidFill>
                  <a:srgbClr val="20252D"/>
                </a:solidFill>
              </a:defRPr>
            </a:pPr>
            <a:r>
              <a:rPr sz="1050" b="0">
                <a:solidFill>
                  <a:srgbClr val="20252D"/>
                </a:solidFill>
              </a:rPr>
              <a:t>marcas · familias</a:t>
            </a:r>
          </a:p>
        </p:txBody>
      </p:sp>
      <p:sp>
        <p:nvSpPr>
          <p:cNvPr id="7" name="flow-arrow">
            <a:extLst>
              <a:ext uri="{FF2B5EF4-FFF2-40B4-BE49-F238E27FC236}">
                <a16:creationId xmlns:a16="http://schemas.microsoft.com/office/drawing/2014/main" id="{1F1AAE0D-59C8-4521-A9B2-EC1F3B342FC7}"/>
              </a:ext>
            </a:extLst>
          </p:cNvPr>
          <p:cNvSpPr>
            <a:spLocks noGrp="1"/>
          </p:cNvSpPr>
          <p:nvPr/>
        </p:nvSpPr>
        <p:spPr>
          <a:xfrm>
            <a:off x="2952750" y="1695450"/>
            <a:ext cx="400050" cy="209550"/>
          </a:xfrm>
          <a:prstGeom prst="rightArrow">
            <a:avLst/>
          </a:prstGeom>
          <a:solidFill>
            <a:srgbClr val="315DBF"/>
          </a:solidFill>
          <a:ln w="0">
            <a:solidFill>
              <a:srgbClr val="315DBF"/>
            </a:solidFill>
            <a:prstDash val="solid"/>
          </a:ln>
        </p:spPr>
      </p:sp>
      <p:sp>
        <p:nvSpPr>
          <p:cNvPr id="8" name="transform-box">
            <a:extLst>
              <a:ext uri="{FF2B5EF4-FFF2-40B4-BE49-F238E27FC236}">
                <a16:creationId xmlns:a16="http://schemas.microsoft.com/office/drawing/2014/main" id="{15D3920C-5195-4D48-81E4-AD35603CE54C}"/>
              </a:ext>
            </a:extLst>
          </p:cNvPr>
          <p:cNvSpPr>
            <a:spLocks noGrp="1"/>
          </p:cNvSpPr>
          <p:nvPr/>
        </p:nvSpPr>
        <p:spPr>
          <a:xfrm>
            <a:off x="3467100" y="1257300"/>
            <a:ext cx="3238500" cy="1104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9" name="transform-label">
            <a:extLst>
              <a:ext uri="{FF2B5EF4-FFF2-40B4-BE49-F238E27FC236}">
                <a16:creationId xmlns:a16="http://schemas.microsoft.com/office/drawing/2014/main" id="{A8411178-6A97-4920-B923-9F8697F676AC}"/>
              </a:ext>
            </a:extLst>
          </p:cNvPr>
          <p:cNvSpPr>
            <a:spLocks noGrp="1"/>
          </p:cNvSpPr>
          <p:nvPr/>
        </p:nvSpPr>
        <p:spPr>
          <a:xfrm>
            <a:off x="3619500" y="135255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TRANSFORMACIÓN</a:t>
            </a:r>
          </a:p>
        </p:txBody>
      </p:sp>
      <p:sp>
        <p:nvSpPr>
          <p:cNvPr id="10" name="transform">
            <a:extLst>
              <a:ext uri="{FF2B5EF4-FFF2-40B4-BE49-F238E27FC236}">
                <a16:creationId xmlns:a16="http://schemas.microsoft.com/office/drawing/2014/main" id="{1AFC329A-F57D-48F2-8E65-90175EFD8CB7}"/>
              </a:ext>
            </a:extLst>
          </p:cNvPr>
          <p:cNvSpPr>
            <a:spLocks noGrp="1"/>
          </p:cNvSpPr>
          <p:nvPr/>
        </p:nvSpPr>
        <p:spPr>
          <a:xfrm>
            <a:off x="3619500" y="1581150"/>
            <a:ext cx="29337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20252D"/>
                </a:solidFill>
              </a:defRPr>
            </a:pPr>
            <a:r>
              <a:rPr sz="975" b="0">
                <a:solidFill>
                  <a:srgbClr val="20252D"/>
                </a:solidFill>
              </a:rPr>
              <a:t>Pedidos pagados/entregados → separar cada artículo → crear interacción usuario–producto → ponderar frecuencia, cantidad y recencia.</a:t>
            </a:r>
          </a:p>
        </p:txBody>
      </p:sp>
      <p:sp>
        <p:nvSpPr>
          <p:cNvPr id="11" name="flow-arrow">
            <a:extLst>
              <a:ext uri="{FF2B5EF4-FFF2-40B4-BE49-F238E27FC236}">
                <a16:creationId xmlns:a16="http://schemas.microsoft.com/office/drawing/2014/main" id="{97F9E40B-783C-4500-AE81-6EC7B3DF328A}"/>
              </a:ext>
            </a:extLst>
          </p:cNvPr>
          <p:cNvSpPr>
            <a:spLocks noGrp="1"/>
          </p:cNvSpPr>
          <p:nvPr/>
        </p:nvSpPr>
        <p:spPr>
          <a:xfrm>
            <a:off x="6819900" y="1695450"/>
            <a:ext cx="400050" cy="209550"/>
          </a:xfrm>
          <a:prstGeom prst="rightArrow">
            <a:avLst/>
          </a:prstGeom>
          <a:solidFill>
            <a:srgbClr val="315DBF"/>
          </a:solidFill>
          <a:ln w="0">
            <a:solidFill>
              <a:srgbClr val="315DBF"/>
            </a:solidFill>
            <a:prstDash val="solid"/>
          </a:ln>
        </p:spPr>
      </p:sp>
      <p:sp>
        <p:nvSpPr>
          <p:cNvPr id="12" name="target-box">
            <a:extLst>
              <a:ext uri="{FF2B5EF4-FFF2-40B4-BE49-F238E27FC236}">
                <a16:creationId xmlns:a16="http://schemas.microsoft.com/office/drawing/2014/main" id="{6637F696-002F-46C5-94E0-36933C7F0996}"/>
              </a:ext>
            </a:extLst>
          </p:cNvPr>
          <p:cNvSpPr>
            <a:spLocks noGrp="1"/>
          </p:cNvSpPr>
          <p:nvPr/>
        </p:nvSpPr>
        <p:spPr>
          <a:xfrm>
            <a:off x="7334250" y="1257300"/>
            <a:ext cx="4400550" cy="1104900"/>
          </a:xfrm>
          <a:prstGeom prst="roundRect">
            <a:avLst>
              <a:gd name="adj" fmla="val 5172"/>
            </a:avLst>
          </a:prstGeom>
          <a:solidFill>
            <a:srgbClr val="DCE5FA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3" name="target-label">
            <a:extLst>
              <a:ext uri="{FF2B5EF4-FFF2-40B4-BE49-F238E27FC236}">
                <a16:creationId xmlns:a16="http://schemas.microsoft.com/office/drawing/2014/main" id="{3C6E5D07-2A39-458E-9F93-8FFF1D287A4E}"/>
              </a:ext>
            </a:extLst>
          </p:cNvPr>
          <p:cNvSpPr>
            <a:spLocks noGrp="1"/>
          </p:cNvSpPr>
          <p:nvPr/>
        </p:nvSpPr>
        <p:spPr>
          <a:xfrm>
            <a:off x="7486650" y="13525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>
                <a:solidFill>
                  <a:srgbClr val="315DBF"/>
                </a:solidFill>
              </a:defRPr>
            </a:pPr>
            <a:r>
              <a:rPr sz="900" b="1">
                <a:solidFill>
                  <a:srgbClr val="315DBF"/>
                </a:solidFill>
              </a:rPr>
              <a:t>VARIABLE / RESULTADO</a:t>
            </a:r>
          </a:p>
        </p:txBody>
      </p:sp>
      <p:sp>
        <p:nvSpPr>
          <p:cNvPr id="14" name="target">
            <a:extLst>
              <a:ext uri="{FF2B5EF4-FFF2-40B4-BE49-F238E27FC236}">
                <a16:creationId xmlns:a16="http://schemas.microsoft.com/office/drawing/2014/main" id="{628EA9D9-28C9-4326-91C1-7AFE7ED493F3}"/>
              </a:ext>
            </a:extLst>
          </p:cNvPr>
          <p:cNvSpPr>
            <a:spLocks noGrp="1"/>
          </p:cNvSpPr>
          <p:nvPr/>
        </p:nvSpPr>
        <p:spPr>
          <a:xfrm>
            <a:off x="7486650" y="1581150"/>
            <a:ext cx="4095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20252D"/>
                </a:solidFill>
              </a:defRPr>
            </a:pPr>
            <a:r>
              <a:rPr sz="1050" b="1">
                <a:solidFill>
                  <a:srgbClr val="20252D"/>
                </a:solidFill>
              </a:rPr>
              <a:t>Salida: Top-N productos por usuario</a:t>
            </a:r>
          </a:p>
          <a:p>
            <a:pPr algn="l">
              <a:defRPr sz="1050" b="1">
                <a:solidFill>
                  <a:srgbClr val="20252D"/>
                </a:solidFill>
              </a:defRPr>
            </a:pPr>
            <a:r>
              <a:rPr sz="1050" b="1">
                <a:solidFill>
                  <a:srgbClr val="20252D"/>
                </a:solidFill>
              </a:rPr>
              <a:t>Filtrar activos y con stock</a:t>
            </a:r>
          </a:p>
        </p:txBody>
      </p:sp>
      <p:sp>
        <p:nvSpPr>
          <p:cNvPr id="15" name="dataset-title">
            <a:extLst>
              <a:ext uri="{FF2B5EF4-FFF2-40B4-BE49-F238E27FC236}">
                <a16:creationId xmlns:a16="http://schemas.microsoft.com/office/drawing/2014/main" id="{BD89A887-55B0-4558-A50A-B9A5F2046FFB}"/>
              </a:ext>
            </a:extLst>
          </p:cNvPr>
          <p:cNvSpPr>
            <a:spLocks noGrp="1"/>
          </p:cNvSpPr>
          <p:nvPr/>
        </p:nvSpPr>
        <p:spPr>
          <a:xfrm>
            <a:off x="457200" y="2571750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20252D"/>
                </a:solidFill>
              </a:defRPr>
            </a:pPr>
            <a:r>
              <a:rPr sz="1050" b="1">
                <a:solidFill>
                  <a:srgbClr val="20252D"/>
                </a:solidFill>
              </a:rPr>
              <a:t>Dataset transaccional — una fila por artículo dentro de cada pedido</a:t>
            </a:r>
          </a:p>
        </p:txBody>
      </p:sp>
      <p:sp>
        <p:nvSpPr>
          <p:cNvPr id="16" name="th">
            <a:extLst>
              <a:ext uri="{FF2B5EF4-FFF2-40B4-BE49-F238E27FC236}">
                <a16:creationId xmlns:a16="http://schemas.microsoft.com/office/drawing/2014/main" id="{858DF233-D1FA-4B84-A0DD-B72611437AC5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11239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7" name="th-text">
            <a:extLst>
              <a:ext uri="{FF2B5EF4-FFF2-40B4-BE49-F238E27FC236}">
                <a16:creationId xmlns:a16="http://schemas.microsoft.com/office/drawing/2014/main" id="{94976999-D3B0-4A4E-B774-1B09B9D93B07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1009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transacción</a:t>
            </a:r>
          </a:p>
        </p:txBody>
      </p:sp>
      <p:sp>
        <p:nvSpPr>
          <p:cNvPr id="18" name="th">
            <a:extLst>
              <a:ext uri="{FF2B5EF4-FFF2-40B4-BE49-F238E27FC236}">
                <a16:creationId xmlns:a16="http://schemas.microsoft.com/office/drawing/2014/main" id="{9B7A9692-63C7-48DF-A6CE-16BE2A9FAE47}"/>
              </a:ext>
            </a:extLst>
          </p:cNvPr>
          <p:cNvSpPr>
            <a:spLocks noGrp="1"/>
          </p:cNvSpPr>
          <p:nvPr/>
        </p:nvSpPr>
        <p:spPr>
          <a:xfrm>
            <a:off x="1581150" y="2895600"/>
            <a:ext cx="1000125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19" name="th-text">
            <a:extLst>
              <a:ext uri="{FF2B5EF4-FFF2-40B4-BE49-F238E27FC236}">
                <a16:creationId xmlns:a16="http://schemas.microsoft.com/office/drawing/2014/main" id="{335A4DD7-8FA9-460C-9AE6-28075A9946EB}"/>
              </a:ext>
            </a:extLst>
          </p:cNvPr>
          <p:cNvSpPr>
            <a:spLocks noGrp="1"/>
          </p:cNvSpPr>
          <p:nvPr/>
        </p:nvSpPr>
        <p:spPr>
          <a:xfrm>
            <a:off x="1638300" y="289560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usuario</a:t>
            </a:r>
          </a:p>
        </p:txBody>
      </p:sp>
      <p:sp>
        <p:nvSpPr>
          <p:cNvPr id="20" name="th">
            <a:extLst>
              <a:ext uri="{FF2B5EF4-FFF2-40B4-BE49-F238E27FC236}">
                <a16:creationId xmlns:a16="http://schemas.microsoft.com/office/drawing/2014/main" id="{596DDF5C-C918-46E1-A395-FD0DF6D6C6BE}"/>
              </a:ext>
            </a:extLst>
          </p:cNvPr>
          <p:cNvSpPr>
            <a:spLocks noGrp="1"/>
          </p:cNvSpPr>
          <p:nvPr/>
        </p:nvSpPr>
        <p:spPr>
          <a:xfrm>
            <a:off x="2581275" y="2895600"/>
            <a:ext cx="1000125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1" name="th-text">
            <a:extLst>
              <a:ext uri="{FF2B5EF4-FFF2-40B4-BE49-F238E27FC236}">
                <a16:creationId xmlns:a16="http://schemas.microsoft.com/office/drawing/2014/main" id="{F18E1AB6-35C5-4133-B8B9-0F4FE75B2659}"/>
              </a:ext>
            </a:extLst>
          </p:cNvPr>
          <p:cNvSpPr>
            <a:spLocks noGrp="1"/>
          </p:cNvSpPr>
          <p:nvPr/>
        </p:nvSpPr>
        <p:spPr>
          <a:xfrm>
            <a:off x="2638425" y="289560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producto</a:t>
            </a:r>
          </a:p>
        </p:txBody>
      </p:sp>
      <p:sp>
        <p:nvSpPr>
          <p:cNvPr id="22" name="th">
            <a:extLst>
              <a:ext uri="{FF2B5EF4-FFF2-40B4-BE49-F238E27FC236}">
                <a16:creationId xmlns:a16="http://schemas.microsoft.com/office/drawing/2014/main" id="{8E244D8C-31FB-4310-BDE6-608513184717}"/>
              </a:ext>
            </a:extLst>
          </p:cNvPr>
          <p:cNvSpPr>
            <a:spLocks noGrp="1"/>
          </p:cNvSpPr>
          <p:nvPr/>
        </p:nvSpPr>
        <p:spPr>
          <a:xfrm>
            <a:off x="3581400" y="2895600"/>
            <a:ext cx="1000125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3" name="th-text">
            <a:extLst>
              <a:ext uri="{FF2B5EF4-FFF2-40B4-BE49-F238E27FC236}">
                <a16:creationId xmlns:a16="http://schemas.microsoft.com/office/drawing/2014/main" id="{848322C2-1027-45B1-9B29-D4A62043F282}"/>
              </a:ext>
            </a:extLst>
          </p:cNvPr>
          <p:cNvSpPr>
            <a:spLocks noGrp="1"/>
          </p:cNvSpPr>
          <p:nvPr/>
        </p:nvSpPr>
        <p:spPr>
          <a:xfrm>
            <a:off x="3638550" y="289560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fecha</a:t>
            </a:r>
          </a:p>
        </p:txBody>
      </p:sp>
      <p:sp>
        <p:nvSpPr>
          <p:cNvPr id="24" name="th">
            <a:extLst>
              <a:ext uri="{FF2B5EF4-FFF2-40B4-BE49-F238E27FC236}">
                <a16:creationId xmlns:a16="http://schemas.microsoft.com/office/drawing/2014/main" id="{64191E24-B0E1-420D-AF78-FFB3F690A96F}"/>
              </a:ext>
            </a:extLst>
          </p:cNvPr>
          <p:cNvSpPr>
            <a:spLocks noGrp="1"/>
          </p:cNvSpPr>
          <p:nvPr/>
        </p:nvSpPr>
        <p:spPr>
          <a:xfrm>
            <a:off x="4581525" y="2895600"/>
            <a:ext cx="7429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5" name="th-text">
            <a:extLst>
              <a:ext uri="{FF2B5EF4-FFF2-40B4-BE49-F238E27FC236}">
                <a16:creationId xmlns:a16="http://schemas.microsoft.com/office/drawing/2014/main" id="{A978755F-91D6-4970-ACED-1831BB968139}"/>
              </a:ext>
            </a:extLst>
          </p:cNvPr>
          <p:cNvSpPr>
            <a:spLocks noGrp="1"/>
          </p:cNvSpPr>
          <p:nvPr/>
        </p:nvSpPr>
        <p:spPr>
          <a:xfrm>
            <a:off x="4638675" y="289560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cantidad</a:t>
            </a:r>
          </a:p>
        </p:txBody>
      </p:sp>
      <p:sp>
        <p:nvSpPr>
          <p:cNvPr id="26" name="th">
            <a:extLst>
              <a:ext uri="{FF2B5EF4-FFF2-40B4-BE49-F238E27FC236}">
                <a16:creationId xmlns:a16="http://schemas.microsoft.com/office/drawing/2014/main" id="{768A6A24-3727-4EC0-8DFA-C4E24D70CD66}"/>
              </a:ext>
            </a:extLst>
          </p:cNvPr>
          <p:cNvSpPr>
            <a:spLocks noGrp="1"/>
          </p:cNvSpPr>
          <p:nvPr/>
        </p:nvSpPr>
        <p:spPr>
          <a:xfrm>
            <a:off x="5324475" y="2895600"/>
            <a:ext cx="85725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7" name="th-text">
            <a:extLst>
              <a:ext uri="{FF2B5EF4-FFF2-40B4-BE49-F238E27FC236}">
                <a16:creationId xmlns:a16="http://schemas.microsoft.com/office/drawing/2014/main" id="{4C88D7D1-ABE3-4282-ABDE-9FD44E512BD3}"/>
              </a:ext>
            </a:extLst>
          </p:cNvPr>
          <p:cNvSpPr>
            <a:spLocks noGrp="1"/>
          </p:cNvSpPr>
          <p:nvPr/>
        </p:nvSpPr>
        <p:spPr>
          <a:xfrm>
            <a:off x="5381625" y="289560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precio</a:t>
            </a:r>
          </a:p>
        </p:txBody>
      </p:sp>
      <p:sp>
        <p:nvSpPr>
          <p:cNvPr id="28" name="th">
            <a:extLst>
              <a:ext uri="{FF2B5EF4-FFF2-40B4-BE49-F238E27FC236}">
                <a16:creationId xmlns:a16="http://schemas.microsoft.com/office/drawing/2014/main" id="{57C2F1FA-8E42-4D83-96CA-46F9567BFF8A}"/>
              </a:ext>
            </a:extLst>
          </p:cNvPr>
          <p:cNvSpPr>
            <a:spLocks noGrp="1"/>
          </p:cNvSpPr>
          <p:nvPr/>
        </p:nvSpPr>
        <p:spPr>
          <a:xfrm>
            <a:off x="6181725" y="2895600"/>
            <a:ext cx="114300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29" name="th-text">
            <a:extLst>
              <a:ext uri="{FF2B5EF4-FFF2-40B4-BE49-F238E27FC236}">
                <a16:creationId xmlns:a16="http://schemas.microsoft.com/office/drawing/2014/main" id="{BCD7F4B7-E6DC-413C-BF5F-E22C1AA0084F}"/>
              </a:ext>
            </a:extLst>
          </p:cNvPr>
          <p:cNvSpPr>
            <a:spLocks noGrp="1"/>
          </p:cNvSpPr>
          <p:nvPr/>
        </p:nvSpPr>
        <p:spPr>
          <a:xfrm>
            <a:off x="6238875" y="289560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marca</a:t>
            </a:r>
          </a:p>
        </p:txBody>
      </p:sp>
      <p:sp>
        <p:nvSpPr>
          <p:cNvPr id="30" name="th">
            <a:extLst>
              <a:ext uri="{FF2B5EF4-FFF2-40B4-BE49-F238E27FC236}">
                <a16:creationId xmlns:a16="http://schemas.microsoft.com/office/drawing/2014/main" id="{D0EA9E8F-855D-4AEB-B401-A8AE3CB27246}"/>
              </a:ext>
            </a:extLst>
          </p:cNvPr>
          <p:cNvSpPr>
            <a:spLocks noGrp="1"/>
          </p:cNvSpPr>
          <p:nvPr/>
        </p:nvSpPr>
        <p:spPr>
          <a:xfrm>
            <a:off x="7324725" y="2895600"/>
            <a:ext cx="1143000" cy="323850"/>
          </a:xfrm>
          <a:prstGeom prst="rect">
            <a:avLst/>
          </a:prstGeom>
          <a:solidFill>
            <a:srgbClr val="315DBF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31" name="th-text">
            <a:extLst>
              <a:ext uri="{FF2B5EF4-FFF2-40B4-BE49-F238E27FC236}">
                <a16:creationId xmlns:a16="http://schemas.microsoft.com/office/drawing/2014/main" id="{2CD57BCC-EA49-4687-AE06-DD2AAF6F0865}"/>
              </a:ext>
            </a:extLst>
          </p:cNvPr>
          <p:cNvSpPr>
            <a:spLocks noGrp="1"/>
          </p:cNvSpPr>
          <p:nvPr/>
        </p:nvSpPr>
        <p:spPr>
          <a:xfrm>
            <a:off x="7381875" y="289560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familia</a:t>
            </a:r>
          </a:p>
        </p:txBody>
      </p:sp>
      <p:sp>
        <p:nvSpPr>
          <p:cNvPr id="32" name="td">
            <a:extLst>
              <a:ext uri="{FF2B5EF4-FFF2-40B4-BE49-F238E27FC236}">
                <a16:creationId xmlns:a16="http://schemas.microsoft.com/office/drawing/2014/main" id="{B79724F8-5DEE-48BD-B85A-8AC2E74EB5EE}"/>
              </a:ext>
            </a:extLst>
          </p:cNvPr>
          <p:cNvSpPr>
            <a:spLocks noGrp="1"/>
          </p:cNvSpPr>
          <p:nvPr/>
        </p:nvSpPr>
        <p:spPr>
          <a:xfrm>
            <a:off x="457200" y="321945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3" name="td-text">
            <a:extLst>
              <a:ext uri="{FF2B5EF4-FFF2-40B4-BE49-F238E27FC236}">
                <a16:creationId xmlns:a16="http://schemas.microsoft.com/office/drawing/2014/main" id="{08459B14-CD85-477E-8D04-F8A63E25F94F}"/>
              </a:ext>
            </a:extLst>
          </p:cNvPr>
          <p:cNvSpPr>
            <a:spLocks noGrp="1"/>
          </p:cNvSpPr>
          <p:nvPr/>
        </p:nvSpPr>
        <p:spPr>
          <a:xfrm>
            <a:off x="514350" y="3219450"/>
            <a:ext cx="1009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PED001</a:t>
            </a:r>
          </a:p>
        </p:txBody>
      </p:sp>
      <p:sp>
        <p:nvSpPr>
          <p:cNvPr id="34" name="td">
            <a:extLst>
              <a:ext uri="{FF2B5EF4-FFF2-40B4-BE49-F238E27FC236}">
                <a16:creationId xmlns:a16="http://schemas.microsoft.com/office/drawing/2014/main" id="{A64F392A-5972-42C6-822A-F43AA883A6AE}"/>
              </a:ext>
            </a:extLst>
          </p:cNvPr>
          <p:cNvSpPr>
            <a:spLocks noGrp="1"/>
          </p:cNvSpPr>
          <p:nvPr/>
        </p:nvSpPr>
        <p:spPr>
          <a:xfrm>
            <a:off x="1581150" y="3219450"/>
            <a:ext cx="1000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5" name="td-text">
            <a:extLst>
              <a:ext uri="{FF2B5EF4-FFF2-40B4-BE49-F238E27FC236}">
                <a16:creationId xmlns:a16="http://schemas.microsoft.com/office/drawing/2014/main" id="{5BB55061-255B-423B-A94E-088517FE2607}"/>
              </a:ext>
            </a:extLst>
          </p:cNvPr>
          <p:cNvSpPr>
            <a:spLocks noGrp="1"/>
          </p:cNvSpPr>
          <p:nvPr/>
        </p:nvSpPr>
        <p:spPr>
          <a:xfrm>
            <a:off x="1638300" y="321945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U001</a:t>
            </a:r>
          </a:p>
        </p:txBody>
      </p:sp>
      <p:sp>
        <p:nvSpPr>
          <p:cNvPr id="36" name="td">
            <a:extLst>
              <a:ext uri="{FF2B5EF4-FFF2-40B4-BE49-F238E27FC236}">
                <a16:creationId xmlns:a16="http://schemas.microsoft.com/office/drawing/2014/main" id="{DFD830D9-2CE0-4459-8892-835793BCAD28}"/>
              </a:ext>
            </a:extLst>
          </p:cNvPr>
          <p:cNvSpPr>
            <a:spLocks noGrp="1"/>
          </p:cNvSpPr>
          <p:nvPr/>
        </p:nvSpPr>
        <p:spPr>
          <a:xfrm>
            <a:off x="2581275" y="3219450"/>
            <a:ext cx="1000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7" name="td-text">
            <a:extLst>
              <a:ext uri="{FF2B5EF4-FFF2-40B4-BE49-F238E27FC236}">
                <a16:creationId xmlns:a16="http://schemas.microsoft.com/office/drawing/2014/main" id="{C603E30D-8334-48B8-A15F-8996E174B7D2}"/>
              </a:ext>
            </a:extLst>
          </p:cNvPr>
          <p:cNvSpPr>
            <a:spLocks noGrp="1"/>
          </p:cNvSpPr>
          <p:nvPr/>
        </p:nvSpPr>
        <p:spPr>
          <a:xfrm>
            <a:off x="2638425" y="321945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P001</a:t>
            </a:r>
          </a:p>
        </p:txBody>
      </p:sp>
      <p:sp>
        <p:nvSpPr>
          <p:cNvPr id="38" name="td">
            <a:extLst>
              <a:ext uri="{FF2B5EF4-FFF2-40B4-BE49-F238E27FC236}">
                <a16:creationId xmlns:a16="http://schemas.microsoft.com/office/drawing/2014/main" id="{217E933E-1465-42B2-AA0B-823DD5C167E8}"/>
              </a:ext>
            </a:extLst>
          </p:cNvPr>
          <p:cNvSpPr>
            <a:spLocks noGrp="1"/>
          </p:cNvSpPr>
          <p:nvPr/>
        </p:nvSpPr>
        <p:spPr>
          <a:xfrm>
            <a:off x="3581400" y="3219450"/>
            <a:ext cx="1000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39" name="td-text">
            <a:extLst>
              <a:ext uri="{FF2B5EF4-FFF2-40B4-BE49-F238E27FC236}">
                <a16:creationId xmlns:a16="http://schemas.microsoft.com/office/drawing/2014/main" id="{79534AF7-52E7-4ADA-95FD-60550FF7573F}"/>
              </a:ext>
            </a:extLst>
          </p:cNvPr>
          <p:cNvSpPr>
            <a:spLocks noGrp="1"/>
          </p:cNvSpPr>
          <p:nvPr/>
        </p:nvSpPr>
        <p:spPr>
          <a:xfrm>
            <a:off x="3638550" y="321945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12/06/26</a:t>
            </a:r>
          </a:p>
        </p:txBody>
      </p:sp>
      <p:sp>
        <p:nvSpPr>
          <p:cNvPr id="40" name="td">
            <a:extLst>
              <a:ext uri="{FF2B5EF4-FFF2-40B4-BE49-F238E27FC236}">
                <a16:creationId xmlns:a16="http://schemas.microsoft.com/office/drawing/2014/main" id="{CCBACBD5-B380-4080-B3AF-D3411D10F9C2}"/>
              </a:ext>
            </a:extLst>
          </p:cNvPr>
          <p:cNvSpPr>
            <a:spLocks noGrp="1"/>
          </p:cNvSpPr>
          <p:nvPr/>
        </p:nvSpPr>
        <p:spPr>
          <a:xfrm>
            <a:off x="4581525" y="3219450"/>
            <a:ext cx="742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1" name="td-text">
            <a:extLst>
              <a:ext uri="{FF2B5EF4-FFF2-40B4-BE49-F238E27FC236}">
                <a16:creationId xmlns:a16="http://schemas.microsoft.com/office/drawing/2014/main" id="{BA2020A1-6E30-4882-9FE6-7D27C3216B60}"/>
              </a:ext>
            </a:extLst>
          </p:cNvPr>
          <p:cNvSpPr>
            <a:spLocks noGrp="1"/>
          </p:cNvSpPr>
          <p:nvPr/>
        </p:nvSpPr>
        <p:spPr>
          <a:xfrm>
            <a:off x="4638675" y="32194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2</a:t>
            </a:r>
          </a:p>
        </p:txBody>
      </p:sp>
      <p:sp>
        <p:nvSpPr>
          <p:cNvPr id="42" name="td">
            <a:extLst>
              <a:ext uri="{FF2B5EF4-FFF2-40B4-BE49-F238E27FC236}">
                <a16:creationId xmlns:a16="http://schemas.microsoft.com/office/drawing/2014/main" id="{0160A902-0DCB-4AC1-BC67-EBB538E4075B}"/>
              </a:ext>
            </a:extLst>
          </p:cNvPr>
          <p:cNvSpPr>
            <a:spLocks noGrp="1"/>
          </p:cNvSpPr>
          <p:nvPr/>
        </p:nvSpPr>
        <p:spPr>
          <a:xfrm>
            <a:off x="5324475" y="3219450"/>
            <a:ext cx="857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3" name="td-text">
            <a:extLst>
              <a:ext uri="{FF2B5EF4-FFF2-40B4-BE49-F238E27FC236}">
                <a16:creationId xmlns:a16="http://schemas.microsoft.com/office/drawing/2014/main" id="{7B678AB8-B934-4D87-B7D5-0A1A978996F2}"/>
              </a:ext>
            </a:extLst>
          </p:cNvPr>
          <p:cNvSpPr>
            <a:spLocks noGrp="1"/>
          </p:cNvSpPr>
          <p:nvPr/>
        </p:nvSpPr>
        <p:spPr>
          <a:xfrm>
            <a:off x="5381625" y="32194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$125</a:t>
            </a:r>
          </a:p>
        </p:txBody>
      </p:sp>
      <p:sp>
        <p:nvSpPr>
          <p:cNvPr id="44" name="td">
            <a:extLst>
              <a:ext uri="{FF2B5EF4-FFF2-40B4-BE49-F238E27FC236}">
                <a16:creationId xmlns:a16="http://schemas.microsoft.com/office/drawing/2014/main" id="{6ABF1652-E6F2-4941-B0DD-7D3442DD1563}"/>
              </a:ext>
            </a:extLst>
          </p:cNvPr>
          <p:cNvSpPr>
            <a:spLocks noGrp="1"/>
          </p:cNvSpPr>
          <p:nvPr/>
        </p:nvSpPr>
        <p:spPr>
          <a:xfrm>
            <a:off x="6181725" y="32194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5" name="td-text">
            <a:extLst>
              <a:ext uri="{FF2B5EF4-FFF2-40B4-BE49-F238E27FC236}">
                <a16:creationId xmlns:a16="http://schemas.microsoft.com/office/drawing/2014/main" id="{E0D354DA-BBC3-4657-96FE-F55A79ED2135}"/>
              </a:ext>
            </a:extLst>
          </p:cNvPr>
          <p:cNvSpPr>
            <a:spLocks noGrp="1"/>
          </p:cNvSpPr>
          <p:nvPr/>
        </p:nvSpPr>
        <p:spPr>
          <a:xfrm>
            <a:off x="6238875" y="321945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Barrilito</a:t>
            </a:r>
          </a:p>
        </p:txBody>
      </p:sp>
      <p:sp>
        <p:nvSpPr>
          <p:cNvPr id="46" name="td">
            <a:extLst>
              <a:ext uri="{FF2B5EF4-FFF2-40B4-BE49-F238E27FC236}">
                <a16:creationId xmlns:a16="http://schemas.microsoft.com/office/drawing/2014/main" id="{86B43B32-9AE5-4934-9430-2E9D9E13B058}"/>
              </a:ext>
            </a:extLst>
          </p:cNvPr>
          <p:cNvSpPr>
            <a:spLocks noGrp="1"/>
          </p:cNvSpPr>
          <p:nvPr/>
        </p:nvSpPr>
        <p:spPr>
          <a:xfrm>
            <a:off x="7324725" y="32194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7" name="td-text">
            <a:extLst>
              <a:ext uri="{FF2B5EF4-FFF2-40B4-BE49-F238E27FC236}">
                <a16:creationId xmlns:a16="http://schemas.microsoft.com/office/drawing/2014/main" id="{57558B36-2C6B-4BA7-9F75-D554AEC8D0EE}"/>
              </a:ext>
            </a:extLst>
          </p:cNvPr>
          <p:cNvSpPr>
            <a:spLocks noGrp="1"/>
          </p:cNvSpPr>
          <p:nvPr/>
        </p:nvSpPr>
        <p:spPr>
          <a:xfrm>
            <a:off x="7381875" y="321945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Barbería</a:t>
            </a:r>
          </a:p>
        </p:txBody>
      </p:sp>
      <p:sp>
        <p:nvSpPr>
          <p:cNvPr id="48" name="td">
            <a:extLst>
              <a:ext uri="{FF2B5EF4-FFF2-40B4-BE49-F238E27FC236}">
                <a16:creationId xmlns:a16="http://schemas.microsoft.com/office/drawing/2014/main" id="{D2244C20-F587-4AEB-A9F1-A9266B19C263}"/>
              </a:ext>
            </a:extLst>
          </p:cNvPr>
          <p:cNvSpPr>
            <a:spLocks noGrp="1"/>
          </p:cNvSpPr>
          <p:nvPr/>
        </p:nvSpPr>
        <p:spPr>
          <a:xfrm>
            <a:off x="457200" y="3543300"/>
            <a:ext cx="11239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49" name="td-text">
            <a:extLst>
              <a:ext uri="{FF2B5EF4-FFF2-40B4-BE49-F238E27FC236}">
                <a16:creationId xmlns:a16="http://schemas.microsoft.com/office/drawing/2014/main" id="{2CAD6847-EC12-434E-AB37-EA428E5C9C89}"/>
              </a:ext>
            </a:extLst>
          </p:cNvPr>
          <p:cNvSpPr>
            <a:spLocks noGrp="1"/>
          </p:cNvSpPr>
          <p:nvPr/>
        </p:nvSpPr>
        <p:spPr>
          <a:xfrm>
            <a:off x="514350" y="3543300"/>
            <a:ext cx="1009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PED001</a:t>
            </a:r>
          </a:p>
        </p:txBody>
      </p:sp>
      <p:sp>
        <p:nvSpPr>
          <p:cNvPr id="50" name="td">
            <a:extLst>
              <a:ext uri="{FF2B5EF4-FFF2-40B4-BE49-F238E27FC236}">
                <a16:creationId xmlns:a16="http://schemas.microsoft.com/office/drawing/2014/main" id="{9B51668B-AF8D-45C1-94C6-FD58436DBB2E}"/>
              </a:ext>
            </a:extLst>
          </p:cNvPr>
          <p:cNvSpPr>
            <a:spLocks noGrp="1"/>
          </p:cNvSpPr>
          <p:nvPr/>
        </p:nvSpPr>
        <p:spPr>
          <a:xfrm>
            <a:off x="1581150" y="3543300"/>
            <a:ext cx="1000125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1" name="td-text">
            <a:extLst>
              <a:ext uri="{FF2B5EF4-FFF2-40B4-BE49-F238E27FC236}">
                <a16:creationId xmlns:a16="http://schemas.microsoft.com/office/drawing/2014/main" id="{A8D1E22F-F616-4696-8BB8-D1126610139D}"/>
              </a:ext>
            </a:extLst>
          </p:cNvPr>
          <p:cNvSpPr>
            <a:spLocks noGrp="1"/>
          </p:cNvSpPr>
          <p:nvPr/>
        </p:nvSpPr>
        <p:spPr>
          <a:xfrm>
            <a:off x="1638300" y="354330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U001</a:t>
            </a:r>
          </a:p>
        </p:txBody>
      </p:sp>
      <p:sp>
        <p:nvSpPr>
          <p:cNvPr id="52" name="td">
            <a:extLst>
              <a:ext uri="{FF2B5EF4-FFF2-40B4-BE49-F238E27FC236}">
                <a16:creationId xmlns:a16="http://schemas.microsoft.com/office/drawing/2014/main" id="{9682B873-3C5A-4CA5-A3AB-78C409C25F9F}"/>
              </a:ext>
            </a:extLst>
          </p:cNvPr>
          <p:cNvSpPr>
            <a:spLocks noGrp="1"/>
          </p:cNvSpPr>
          <p:nvPr/>
        </p:nvSpPr>
        <p:spPr>
          <a:xfrm>
            <a:off x="2581275" y="3543300"/>
            <a:ext cx="1000125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3" name="td-text">
            <a:extLst>
              <a:ext uri="{FF2B5EF4-FFF2-40B4-BE49-F238E27FC236}">
                <a16:creationId xmlns:a16="http://schemas.microsoft.com/office/drawing/2014/main" id="{CDBC8253-99F3-407E-B3B8-B465820FAE22}"/>
              </a:ext>
            </a:extLst>
          </p:cNvPr>
          <p:cNvSpPr>
            <a:spLocks noGrp="1"/>
          </p:cNvSpPr>
          <p:nvPr/>
        </p:nvSpPr>
        <p:spPr>
          <a:xfrm>
            <a:off x="2638425" y="354330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P004</a:t>
            </a:r>
          </a:p>
        </p:txBody>
      </p:sp>
      <p:sp>
        <p:nvSpPr>
          <p:cNvPr id="54" name="td">
            <a:extLst>
              <a:ext uri="{FF2B5EF4-FFF2-40B4-BE49-F238E27FC236}">
                <a16:creationId xmlns:a16="http://schemas.microsoft.com/office/drawing/2014/main" id="{450BA674-E313-4DE5-B2BA-E9D87A4EF0B6}"/>
              </a:ext>
            </a:extLst>
          </p:cNvPr>
          <p:cNvSpPr>
            <a:spLocks noGrp="1"/>
          </p:cNvSpPr>
          <p:nvPr/>
        </p:nvSpPr>
        <p:spPr>
          <a:xfrm>
            <a:off x="3581400" y="3543300"/>
            <a:ext cx="1000125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5" name="td-text">
            <a:extLst>
              <a:ext uri="{FF2B5EF4-FFF2-40B4-BE49-F238E27FC236}">
                <a16:creationId xmlns:a16="http://schemas.microsoft.com/office/drawing/2014/main" id="{6A9C093F-BF12-4989-A3E6-E4A033BE9F99}"/>
              </a:ext>
            </a:extLst>
          </p:cNvPr>
          <p:cNvSpPr>
            <a:spLocks noGrp="1"/>
          </p:cNvSpPr>
          <p:nvPr/>
        </p:nvSpPr>
        <p:spPr>
          <a:xfrm>
            <a:off x="3638550" y="354330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12/06/26</a:t>
            </a:r>
          </a:p>
        </p:txBody>
      </p:sp>
      <p:sp>
        <p:nvSpPr>
          <p:cNvPr id="56" name="td">
            <a:extLst>
              <a:ext uri="{FF2B5EF4-FFF2-40B4-BE49-F238E27FC236}">
                <a16:creationId xmlns:a16="http://schemas.microsoft.com/office/drawing/2014/main" id="{1F82A585-865A-49A7-86E7-3BC438B2B652}"/>
              </a:ext>
            </a:extLst>
          </p:cNvPr>
          <p:cNvSpPr>
            <a:spLocks noGrp="1"/>
          </p:cNvSpPr>
          <p:nvPr/>
        </p:nvSpPr>
        <p:spPr>
          <a:xfrm>
            <a:off x="4581525" y="3543300"/>
            <a:ext cx="7429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7" name="td-text">
            <a:extLst>
              <a:ext uri="{FF2B5EF4-FFF2-40B4-BE49-F238E27FC236}">
                <a16:creationId xmlns:a16="http://schemas.microsoft.com/office/drawing/2014/main" id="{402B783D-1F8D-424A-87E5-3305ACCF9DD2}"/>
              </a:ext>
            </a:extLst>
          </p:cNvPr>
          <p:cNvSpPr>
            <a:spLocks noGrp="1"/>
          </p:cNvSpPr>
          <p:nvPr/>
        </p:nvSpPr>
        <p:spPr>
          <a:xfrm>
            <a:off x="4638675" y="354330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</a:t>
            </a:r>
          </a:p>
        </p:txBody>
      </p:sp>
      <p:sp>
        <p:nvSpPr>
          <p:cNvPr id="58" name="td">
            <a:extLst>
              <a:ext uri="{FF2B5EF4-FFF2-40B4-BE49-F238E27FC236}">
                <a16:creationId xmlns:a16="http://schemas.microsoft.com/office/drawing/2014/main" id="{43D16AAB-C77F-4E82-B3C5-652608A4FB56}"/>
              </a:ext>
            </a:extLst>
          </p:cNvPr>
          <p:cNvSpPr>
            <a:spLocks noGrp="1"/>
          </p:cNvSpPr>
          <p:nvPr/>
        </p:nvSpPr>
        <p:spPr>
          <a:xfrm>
            <a:off x="5324475" y="3543300"/>
            <a:ext cx="85725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59" name="td-text">
            <a:extLst>
              <a:ext uri="{FF2B5EF4-FFF2-40B4-BE49-F238E27FC236}">
                <a16:creationId xmlns:a16="http://schemas.microsoft.com/office/drawing/2014/main" id="{2A1E4986-7671-4404-88CE-04CBFC30F1B1}"/>
              </a:ext>
            </a:extLst>
          </p:cNvPr>
          <p:cNvSpPr>
            <a:spLocks noGrp="1"/>
          </p:cNvSpPr>
          <p:nvPr/>
        </p:nvSpPr>
        <p:spPr>
          <a:xfrm>
            <a:off x="5381625" y="354330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$350</a:t>
            </a:r>
          </a:p>
        </p:txBody>
      </p:sp>
      <p:sp>
        <p:nvSpPr>
          <p:cNvPr id="60" name="td">
            <a:extLst>
              <a:ext uri="{FF2B5EF4-FFF2-40B4-BE49-F238E27FC236}">
                <a16:creationId xmlns:a16="http://schemas.microsoft.com/office/drawing/2014/main" id="{50115040-3390-4E2F-A0E7-1A7E2E1CF789}"/>
              </a:ext>
            </a:extLst>
          </p:cNvPr>
          <p:cNvSpPr>
            <a:spLocks noGrp="1"/>
          </p:cNvSpPr>
          <p:nvPr/>
        </p:nvSpPr>
        <p:spPr>
          <a:xfrm>
            <a:off x="6181725" y="3543300"/>
            <a:ext cx="114300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1" name="td-text">
            <a:extLst>
              <a:ext uri="{FF2B5EF4-FFF2-40B4-BE49-F238E27FC236}">
                <a16:creationId xmlns:a16="http://schemas.microsoft.com/office/drawing/2014/main" id="{0ECBDE25-743D-4DB6-A877-B4CC775D4918}"/>
              </a:ext>
            </a:extLst>
          </p:cNvPr>
          <p:cNvSpPr>
            <a:spLocks noGrp="1"/>
          </p:cNvSpPr>
          <p:nvPr/>
        </p:nvSpPr>
        <p:spPr>
          <a:xfrm>
            <a:off x="6238875" y="354330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Wahl</a:t>
            </a:r>
          </a:p>
        </p:txBody>
      </p:sp>
      <p:sp>
        <p:nvSpPr>
          <p:cNvPr id="62" name="td">
            <a:extLst>
              <a:ext uri="{FF2B5EF4-FFF2-40B4-BE49-F238E27FC236}">
                <a16:creationId xmlns:a16="http://schemas.microsoft.com/office/drawing/2014/main" id="{FF74D7D1-760C-4E63-AADC-353EC5F053B5}"/>
              </a:ext>
            </a:extLst>
          </p:cNvPr>
          <p:cNvSpPr>
            <a:spLocks noGrp="1"/>
          </p:cNvSpPr>
          <p:nvPr/>
        </p:nvSpPr>
        <p:spPr>
          <a:xfrm>
            <a:off x="7324725" y="3543300"/>
            <a:ext cx="1143000" cy="323850"/>
          </a:xfrm>
          <a:prstGeom prst="rect">
            <a:avLst/>
          </a:prstGeom>
          <a:solidFill>
            <a:srgbClr val="F8F9FB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3" name="td-text">
            <a:extLst>
              <a:ext uri="{FF2B5EF4-FFF2-40B4-BE49-F238E27FC236}">
                <a16:creationId xmlns:a16="http://schemas.microsoft.com/office/drawing/2014/main" id="{5DBD77B8-8C47-48F4-A398-3D6BCFBA77DF}"/>
              </a:ext>
            </a:extLst>
          </p:cNvPr>
          <p:cNvSpPr>
            <a:spLocks noGrp="1"/>
          </p:cNvSpPr>
          <p:nvPr/>
        </p:nvSpPr>
        <p:spPr>
          <a:xfrm>
            <a:off x="7381875" y="354330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Máquinas</a:t>
            </a:r>
          </a:p>
        </p:txBody>
      </p:sp>
      <p:sp>
        <p:nvSpPr>
          <p:cNvPr id="64" name="td">
            <a:extLst>
              <a:ext uri="{FF2B5EF4-FFF2-40B4-BE49-F238E27FC236}">
                <a16:creationId xmlns:a16="http://schemas.microsoft.com/office/drawing/2014/main" id="{F7247DFB-B4AD-4E49-8454-BE4053B2DEA0}"/>
              </a:ext>
            </a:extLst>
          </p:cNvPr>
          <p:cNvSpPr>
            <a:spLocks noGrp="1"/>
          </p:cNvSpPr>
          <p:nvPr/>
        </p:nvSpPr>
        <p:spPr>
          <a:xfrm>
            <a:off x="457200" y="386715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5" name="td-text">
            <a:extLst>
              <a:ext uri="{FF2B5EF4-FFF2-40B4-BE49-F238E27FC236}">
                <a16:creationId xmlns:a16="http://schemas.microsoft.com/office/drawing/2014/main" id="{F0CEAC1C-0AA4-44C2-AF03-2A0DA5F40370}"/>
              </a:ext>
            </a:extLst>
          </p:cNvPr>
          <p:cNvSpPr>
            <a:spLocks noGrp="1"/>
          </p:cNvSpPr>
          <p:nvPr/>
        </p:nvSpPr>
        <p:spPr>
          <a:xfrm>
            <a:off x="514350" y="3867150"/>
            <a:ext cx="1009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PED002</a:t>
            </a:r>
          </a:p>
        </p:txBody>
      </p:sp>
      <p:sp>
        <p:nvSpPr>
          <p:cNvPr id="66" name="td">
            <a:extLst>
              <a:ext uri="{FF2B5EF4-FFF2-40B4-BE49-F238E27FC236}">
                <a16:creationId xmlns:a16="http://schemas.microsoft.com/office/drawing/2014/main" id="{705FD0E4-A981-4A76-AA58-36CD68618972}"/>
              </a:ext>
            </a:extLst>
          </p:cNvPr>
          <p:cNvSpPr>
            <a:spLocks noGrp="1"/>
          </p:cNvSpPr>
          <p:nvPr/>
        </p:nvSpPr>
        <p:spPr>
          <a:xfrm>
            <a:off x="1581150" y="3867150"/>
            <a:ext cx="1000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7" name="td-text">
            <a:extLst>
              <a:ext uri="{FF2B5EF4-FFF2-40B4-BE49-F238E27FC236}">
                <a16:creationId xmlns:a16="http://schemas.microsoft.com/office/drawing/2014/main" id="{B13A957E-A76C-47D3-895B-56F4630BC30B}"/>
              </a:ext>
            </a:extLst>
          </p:cNvPr>
          <p:cNvSpPr>
            <a:spLocks noGrp="1"/>
          </p:cNvSpPr>
          <p:nvPr/>
        </p:nvSpPr>
        <p:spPr>
          <a:xfrm>
            <a:off x="1638300" y="386715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U002</a:t>
            </a:r>
          </a:p>
        </p:txBody>
      </p:sp>
      <p:sp>
        <p:nvSpPr>
          <p:cNvPr id="68" name="td">
            <a:extLst>
              <a:ext uri="{FF2B5EF4-FFF2-40B4-BE49-F238E27FC236}">
                <a16:creationId xmlns:a16="http://schemas.microsoft.com/office/drawing/2014/main" id="{BC98CFBF-F290-4D1B-A3C5-03E9ABD76A5B}"/>
              </a:ext>
            </a:extLst>
          </p:cNvPr>
          <p:cNvSpPr>
            <a:spLocks noGrp="1"/>
          </p:cNvSpPr>
          <p:nvPr/>
        </p:nvSpPr>
        <p:spPr>
          <a:xfrm>
            <a:off x="2581275" y="3867150"/>
            <a:ext cx="1000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69" name="td-text">
            <a:extLst>
              <a:ext uri="{FF2B5EF4-FFF2-40B4-BE49-F238E27FC236}">
                <a16:creationId xmlns:a16="http://schemas.microsoft.com/office/drawing/2014/main" id="{34145D15-14CE-4C86-A0C2-F624008930F3}"/>
              </a:ext>
            </a:extLst>
          </p:cNvPr>
          <p:cNvSpPr>
            <a:spLocks noGrp="1"/>
          </p:cNvSpPr>
          <p:nvPr/>
        </p:nvSpPr>
        <p:spPr>
          <a:xfrm>
            <a:off x="2638425" y="386715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P001</a:t>
            </a:r>
          </a:p>
        </p:txBody>
      </p:sp>
      <p:sp>
        <p:nvSpPr>
          <p:cNvPr id="70" name="td">
            <a:extLst>
              <a:ext uri="{FF2B5EF4-FFF2-40B4-BE49-F238E27FC236}">
                <a16:creationId xmlns:a16="http://schemas.microsoft.com/office/drawing/2014/main" id="{DF7A233D-378F-461D-9E28-71461D48512D}"/>
              </a:ext>
            </a:extLst>
          </p:cNvPr>
          <p:cNvSpPr>
            <a:spLocks noGrp="1"/>
          </p:cNvSpPr>
          <p:nvPr/>
        </p:nvSpPr>
        <p:spPr>
          <a:xfrm>
            <a:off x="3581400" y="3867150"/>
            <a:ext cx="1000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1" name="td-text">
            <a:extLst>
              <a:ext uri="{FF2B5EF4-FFF2-40B4-BE49-F238E27FC236}">
                <a16:creationId xmlns:a16="http://schemas.microsoft.com/office/drawing/2014/main" id="{34C5C0A1-1951-44E1-993F-351920E37348}"/>
              </a:ext>
            </a:extLst>
          </p:cNvPr>
          <p:cNvSpPr>
            <a:spLocks noGrp="1"/>
          </p:cNvSpPr>
          <p:nvPr/>
        </p:nvSpPr>
        <p:spPr>
          <a:xfrm>
            <a:off x="3638550" y="3867150"/>
            <a:ext cx="885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13/06/26</a:t>
            </a:r>
          </a:p>
        </p:txBody>
      </p:sp>
      <p:sp>
        <p:nvSpPr>
          <p:cNvPr id="72" name="td">
            <a:extLst>
              <a:ext uri="{FF2B5EF4-FFF2-40B4-BE49-F238E27FC236}">
                <a16:creationId xmlns:a16="http://schemas.microsoft.com/office/drawing/2014/main" id="{E28197C0-B2BD-4718-9BF7-1C83C874B753}"/>
              </a:ext>
            </a:extLst>
          </p:cNvPr>
          <p:cNvSpPr>
            <a:spLocks noGrp="1"/>
          </p:cNvSpPr>
          <p:nvPr/>
        </p:nvSpPr>
        <p:spPr>
          <a:xfrm>
            <a:off x="4581525" y="3867150"/>
            <a:ext cx="742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3" name="td-text">
            <a:extLst>
              <a:ext uri="{FF2B5EF4-FFF2-40B4-BE49-F238E27FC236}">
                <a16:creationId xmlns:a16="http://schemas.microsoft.com/office/drawing/2014/main" id="{2158144D-8625-4F68-A9BE-0FD2D5970807}"/>
              </a:ext>
            </a:extLst>
          </p:cNvPr>
          <p:cNvSpPr>
            <a:spLocks noGrp="1"/>
          </p:cNvSpPr>
          <p:nvPr/>
        </p:nvSpPr>
        <p:spPr>
          <a:xfrm>
            <a:off x="4638675" y="38671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3</a:t>
            </a:r>
          </a:p>
        </p:txBody>
      </p:sp>
      <p:sp>
        <p:nvSpPr>
          <p:cNvPr id="74" name="td">
            <a:extLst>
              <a:ext uri="{FF2B5EF4-FFF2-40B4-BE49-F238E27FC236}">
                <a16:creationId xmlns:a16="http://schemas.microsoft.com/office/drawing/2014/main" id="{DF2D1220-6F0A-4B25-AFA2-36CBF57438AB}"/>
              </a:ext>
            </a:extLst>
          </p:cNvPr>
          <p:cNvSpPr>
            <a:spLocks noGrp="1"/>
          </p:cNvSpPr>
          <p:nvPr/>
        </p:nvSpPr>
        <p:spPr>
          <a:xfrm>
            <a:off x="5324475" y="3867150"/>
            <a:ext cx="857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5" name="td-text">
            <a:extLst>
              <a:ext uri="{FF2B5EF4-FFF2-40B4-BE49-F238E27FC236}">
                <a16:creationId xmlns:a16="http://schemas.microsoft.com/office/drawing/2014/main" id="{7C3F549F-6F81-4BE5-AA96-3DBCC2C5B422}"/>
              </a:ext>
            </a:extLst>
          </p:cNvPr>
          <p:cNvSpPr>
            <a:spLocks noGrp="1"/>
          </p:cNvSpPr>
          <p:nvPr/>
        </p:nvSpPr>
        <p:spPr>
          <a:xfrm>
            <a:off x="5381625" y="38671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$125</a:t>
            </a:r>
          </a:p>
        </p:txBody>
      </p:sp>
      <p:sp>
        <p:nvSpPr>
          <p:cNvPr id="76" name="td">
            <a:extLst>
              <a:ext uri="{FF2B5EF4-FFF2-40B4-BE49-F238E27FC236}">
                <a16:creationId xmlns:a16="http://schemas.microsoft.com/office/drawing/2014/main" id="{E875C1F1-CEE1-4976-A427-659525536D96}"/>
              </a:ext>
            </a:extLst>
          </p:cNvPr>
          <p:cNvSpPr>
            <a:spLocks noGrp="1"/>
          </p:cNvSpPr>
          <p:nvPr/>
        </p:nvSpPr>
        <p:spPr>
          <a:xfrm>
            <a:off x="6181725" y="38671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7" name="td-text">
            <a:extLst>
              <a:ext uri="{FF2B5EF4-FFF2-40B4-BE49-F238E27FC236}">
                <a16:creationId xmlns:a16="http://schemas.microsoft.com/office/drawing/2014/main" id="{04F02585-7DFB-48DC-9A83-F90D4C1BC116}"/>
              </a:ext>
            </a:extLst>
          </p:cNvPr>
          <p:cNvSpPr>
            <a:spLocks noGrp="1"/>
          </p:cNvSpPr>
          <p:nvPr/>
        </p:nvSpPr>
        <p:spPr>
          <a:xfrm>
            <a:off x="6238875" y="386715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Barrilito</a:t>
            </a:r>
          </a:p>
        </p:txBody>
      </p:sp>
      <p:sp>
        <p:nvSpPr>
          <p:cNvPr id="78" name="td">
            <a:extLst>
              <a:ext uri="{FF2B5EF4-FFF2-40B4-BE49-F238E27FC236}">
                <a16:creationId xmlns:a16="http://schemas.microsoft.com/office/drawing/2014/main" id="{3409D710-BBBD-4B2F-8A5A-FDDDBD18D821}"/>
              </a:ext>
            </a:extLst>
          </p:cNvPr>
          <p:cNvSpPr>
            <a:spLocks noGrp="1"/>
          </p:cNvSpPr>
          <p:nvPr/>
        </p:nvSpPr>
        <p:spPr>
          <a:xfrm>
            <a:off x="7324725" y="386715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79" name="td-text">
            <a:extLst>
              <a:ext uri="{FF2B5EF4-FFF2-40B4-BE49-F238E27FC236}">
                <a16:creationId xmlns:a16="http://schemas.microsoft.com/office/drawing/2014/main" id="{68DC37EC-286E-45D3-8F91-A911C0F9F759}"/>
              </a:ext>
            </a:extLst>
          </p:cNvPr>
          <p:cNvSpPr>
            <a:spLocks noGrp="1"/>
          </p:cNvSpPr>
          <p:nvPr/>
        </p:nvSpPr>
        <p:spPr>
          <a:xfrm>
            <a:off x="7381875" y="3867150"/>
            <a:ext cx="1028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>
                <a:solidFill>
                  <a:srgbClr val="20252D"/>
                </a:solidFill>
              </a:defRPr>
            </a:pPr>
            <a:r>
              <a:rPr sz="750" b="0">
                <a:solidFill>
                  <a:srgbClr val="20252D"/>
                </a:solidFill>
              </a:rPr>
              <a:t>Barbería</a:t>
            </a:r>
          </a:p>
        </p:txBody>
      </p:sp>
      <p:sp>
        <p:nvSpPr>
          <p:cNvPr id="80" name="recommendation">
            <a:extLst>
              <a:ext uri="{FF2B5EF4-FFF2-40B4-BE49-F238E27FC236}">
                <a16:creationId xmlns:a16="http://schemas.microsoft.com/office/drawing/2014/main" id="{942A4412-CA6C-4CC3-91F0-3BABD714A513}"/>
              </a:ext>
            </a:extLst>
          </p:cNvPr>
          <p:cNvSpPr>
            <a:spLocks noGrp="1"/>
          </p:cNvSpPr>
          <p:nvPr/>
        </p:nvSpPr>
        <p:spPr>
          <a:xfrm>
            <a:off x="9086850" y="2724150"/>
            <a:ext cx="26479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DD6"/>
            </a:solidFill>
            <a:prstDash val="solid"/>
          </a:ln>
        </p:spPr>
      </p:sp>
      <p:sp>
        <p:nvSpPr>
          <p:cNvPr id="81" name="recommendation-title">
            <a:extLst>
              <a:ext uri="{FF2B5EF4-FFF2-40B4-BE49-F238E27FC236}">
                <a16:creationId xmlns:a16="http://schemas.microsoft.com/office/drawing/2014/main" id="{D08E7380-1C07-4248-A7A3-6E773BA055FB}"/>
              </a:ext>
            </a:extLst>
          </p:cNvPr>
          <p:cNvSpPr>
            <a:spLocks noGrp="1"/>
          </p:cNvSpPr>
          <p:nvPr/>
        </p:nvSpPr>
        <p:spPr>
          <a:xfrm>
            <a:off x="9277350" y="2895600"/>
            <a:ext cx="2266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315DBF"/>
                </a:solidFill>
              </a:defRPr>
            </a:pPr>
            <a:r>
              <a:rPr sz="1275" b="1">
                <a:solidFill>
                  <a:srgbClr val="315DBF"/>
                </a:solidFill>
              </a:rPr>
              <a:t>Ejemplo de salida</a:t>
            </a:r>
          </a:p>
        </p:txBody>
      </p:sp>
      <p:sp>
        <p:nvSpPr>
          <p:cNvPr id="82" name="recommendation-user">
            <a:extLst>
              <a:ext uri="{FF2B5EF4-FFF2-40B4-BE49-F238E27FC236}">
                <a16:creationId xmlns:a16="http://schemas.microsoft.com/office/drawing/2014/main" id="{D0C691A6-4981-47A9-8033-61970930246B}"/>
              </a:ext>
            </a:extLst>
          </p:cNvPr>
          <p:cNvSpPr>
            <a:spLocks noGrp="1"/>
          </p:cNvSpPr>
          <p:nvPr/>
        </p:nvSpPr>
        <p:spPr>
          <a:xfrm>
            <a:off x="9277350" y="3238500"/>
            <a:ext cx="2266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Para U001</a:t>
            </a:r>
          </a:p>
        </p:txBody>
      </p:sp>
      <p:sp>
        <p:nvSpPr>
          <p:cNvPr id="83" name="recommendation-list">
            <a:extLst>
              <a:ext uri="{FF2B5EF4-FFF2-40B4-BE49-F238E27FC236}">
                <a16:creationId xmlns:a16="http://schemas.microsoft.com/office/drawing/2014/main" id="{5FB8981C-D36F-4669-97C6-E7F67BC36C85}"/>
              </a:ext>
            </a:extLst>
          </p:cNvPr>
          <p:cNvSpPr>
            <a:spLocks noGrp="1"/>
          </p:cNvSpPr>
          <p:nvPr/>
        </p:nvSpPr>
        <p:spPr>
          <a:xfrm>
            <a:off x="9277350" y="3524250"/>
            <a:ext cx="2095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20252D"/>
                </a:solidFill>
              </a:defRPr>
            </a:pPr>
            <a:r>
              <a:rPr sz="1200" b="0">
                <a:solidFill>
                  <a:srgbClr val="20252D"/>
                </a:solidFill>
              </a:rPr>
              <a:t>1. Navaja P008</a:t>
            </a:r>
          </a:p>
          <a:p>
            <a:pPr algn="l">
              <a:defRPr sz="1200" b="0">
                <a:solidFill>
                  <a:srgbClr val="20252D"/>
                </a:solidFill>
              </a:defRPr>
            </a:pPr>
            <a:r>
              <a:rPr sz="1200" b="0">
                <a:solidFill>
                  <a:srgbClr val="20252D"/>
                </a:solidFill>
              </a:rPr>
              <a:t>2. Peine P002</a:t>
            </a:r>
          </a:p>
          <a:p>
            <a:pPr algn="l">
              <a:defRPr sz="1200" b="0">
                <a:solidFill>
                  <a:srgbClr val="20252D"/>
                </a:solidFill>
              </a:defRPr>
            </a:pPr>
            <a:r>
              <a:rPr sz="1200" b="0">
                <a:solidFill>
                  <a:srgbClr val="20252D"/>
                </a:solidFill>
              </a:rPr>
              <a:t>3. Cera P011</a:t>
            </a:r>
          </a:p>
        </p:txBody>
      </p:sp>
      <p:sp>
        <p:nvSpPr>
          <p:cNvPr id="84" name="utility">
            <a:extLst>
              <a:ext uri="{FF2B5EF4-FFF2-40B4-BE49-F238E27FC236}">
                <a16:creationId xmlns:a16="http://schemas.microsoft.com/office/drawing/2014/main" id="{34EE81F4-2974-4E16-8130-CBCFBC0C50CA}"/>
              </a:ext>
            </a:extLst>
          </p:cNvPr>
          <p:cNvSpPr>
            <a:spLocks noGrp="1"/>
          </p:cNvSpPr>
          <p:nvPr/>
        </p:nvSpPr>
        <p:spPr>
          <a:xfrm>
            <a:off x="457200" y="4610100"/>
            <a:ext cx="11277600" cy="1066800"/>
          </a:xfrm>
          <a:prstGeom prst="roundRect">
            <a:avLst>
              <a:gd name="adj" fmla="val 5357"/>
            </a:avLst>
          </a:prstGeom>
          <a:solidFill>
            <a:srgbClr val="DCE5FA"/>
          </a:solidFill>
          <a:ln w="9525">
            <a:solidFill>
              <a:srgbClr val="315DBF"/>
            </a:solidFill>
            <a:prstDash val="solid"/>
          </a:ln>
        </p:spPr>
      </p:sp>
      <p:sp>
        <p:nvSpPr>
          <p:cNvPr id="85" name="utility-title">
            <a:extLst>
              <a:ext uri="{FF2B5EF4-FFF2-40B4-BE49-F238E27FC236}">
                <a16:creationId xmlns:a16="http://schemas.microsoft.com/office/drawing/2014/main" id="{D37074CB-66D3-4FA0-9001-2F1B5147F5C6}"/>
              </a:ext>
            </a:extLst>
          </p:cNvPr>
          <p:cNvSpPr>
            <a:spLocks noGrp="1"/>
          </p:cNvSpPr>
          <p:nvPr/>
        </p:nvSpPr>
        <p:spPr>
          <a:xfrm>
            <a:off x="647700" y="47625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315DBF"/>
                </a:solidFill>
              </a:defRPr>
            </a:pPr>
            <a:r>
              <a:rPr sz="1050" b="1">
                <a:solidFill>
                  <a:srgbClr val="315DBF"/>
                </a:solidFill>
              </a:rPr>
              <a:t>Utilidad comercial</a:t>
            </a:r>
          </a:p>
        </p:txBody>
      </p:sp>
      <p:sp>
        <p:nvSpPr>
          <p:cNvPr id="86" name="utility-body">
            <a:extLst>
              <a:ext uri="{FF2B5EF4-FFF2-40B4-BE49-F238E27FC236}">
                <a16:creationId xmlns:a16="http://schemas.microsoft.com/office/drawing/2014/main" id="{4D45DA7E-7B50-4F2E-889F-5D214C736818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10668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20252D"/>
                </a:solidFill>
              </a:defRPr>
            </a:pPr>
            <a:r>
              <a:rPr sz="1125" b="0">
                <a:solidFill>
                  <a:srgbClr val="20252D"/>
                </a:solidFill>
              </a:rPr>
              <a:t>Personaliza el catálogo, impulsa ventas cruzadas y permite mostrar “clientes que compraron este producto también compraron…”. Puede iniciar con coocurrencia de productos y evolucionar a filtrado colaborativo.</a:t>
            </a:r>
          </a:p>
        </p:txBody>
      </p:sp>
      <p:sp>
        <p:nvSpPr>
          <p:cNvPr id="87" name="example-note">
            <a:extLst>
              <a:ext uri="{FF2B5EF4-FFF2-40B4-BE49-F238E27FC236}">
                <a16:creationId xmlns:a16="http://schemas.microsoft.com/office/drawing/2014/main" id="{019B3F13-9106-4E3D-8380-B16263CE8E2E}"/>
              </a:ext>
            </a:extLst>
          </p:cNvPr>
          <p:cNvSpPr>
            <a:spLocks noGrp="1"/>
          </p:cNvSpPr>
          <p:nvPr/>
        </p:nvSpPr>
        <p:spPr>
          <a:xfrm>
            <a:off x="457200" y="5981700"/>
            <a:ext cx="781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Identificadores y valores de ejemplo; la estructura corresponde a los modelos reales del backend.</a:t>
            </a:r>
          </a:p>
        </p:txBody>
      </p:sp>
    </p:spTree>
    <p:extLst>
      <p:ext uri="{BB962C8B-B14F-4D97-AF65-F5344CB8AC3E}">
        <p14:creationId xmlns:p14="http://schemas.microsoft.com/office/powerpoint/2010/main" val="7896839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605</Words>
  <Application>Microsoft Office PowerPoint</Application>
  <DocSecurity>0</DocSecurity>
  <PresentationFormat>Panorámica</PresentationFormat>
  <Paragraphs>161</Paragraphs>
  <Slides>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6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Oscar David De la Cruz Hernández</cp:lastModifiedBy>
  <cp:revision>1</cp:revision>
  <dcterms:created xsi:type="dcterms:W3CDTF">2026-07-16T21:06:05Z</dcterms:created>
  <dcterms:modified xsi:type="dcterms:W3CDTF">2026-07-16T21:20:45Z</dcterms:modified>
</cp:coreProperties>
</file>