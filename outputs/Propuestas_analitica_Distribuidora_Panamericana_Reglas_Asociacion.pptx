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mpany">
            <a:extLst>
              <a:ext uri="{FF2B5EF4-FFF2-40B4-BE49-F238E27FC236}">
                <a16:creationId xmlns:a16="http://schemas.microsoft.com/office/drawing/2014/main" id="{AF61702C-D502-48D5-A301-BE1EDB54FBD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DISTRIBUIDORA PANAMERICANA · GRUPO C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7B98C12-D458-4742-83AA-5D548D13CAE0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52197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315DBF"/>
                </a:solidFill>
              </a:defRPr>
            </a:pPr>
            <a:r>
              <a:rPr sz="2625" b="1">
                <a:solidFill>
                  <a:srgbClr val="315DBF"/>
                </a:solidFill>
              </a:rPr>
              <a:t>Sistema de gestión de ventas e inventario para la Distribuidora Panamericana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455AED66-35DD-4AA7-A2BF-4B2499D1D4B9}"/>
              </a:ext>
            </a:extLst>
          </p:cNvPr>
          <p:cNvSpPr>
            <a:spLocks noGrp="1"/>
          </p:cNvSpPr>
          <p:nvPr/>
        </p:nvSpPr>
        <p:spPr>
          <a:xfrm>
            <a:off x="457200" y="2324100"/>
            <a:ext cx="5219700" cy="19050"/>
          </a:xfrm>
          <a:prstGeom prst="rect">
            <a:avLst/>
          </a:prstGeom>
          <a:solidFill>
            <a:srgbClr val="20252D"/>
          </a:solidFill>
          <a:ln w="0">
            <a:solidFill>
              <a:srgbClr val="20252D"/>
            </a:solidFill>
            <a:prstDash val="solid"/>
          </a:ln>
        </p:spPr>
      </p:sp>
      <p:sp>
        <p:nvSpPr>
          <p:cNvPr id="4" name="description">
            <a:extLst>
              <a:ext uri="{FF2B5EF4-FFF2-40B4-BE49-F238E27FC236}">
                <a16:creationId xmlns:a16="http://schemas.microsoft.com/office/drawing/2014/main" id="{096A9E2A-2A49-4B2A-B56F-C86424944A67}"/>
              </a:ext>
            </a:extLst>
          </p:cNvPr>
          <p:cNvSpPr>
            <a:spLocks noGrp="1"/>
          </p:cNvSpPr>
          <p:nvPr/>
        </p:nvSpPr>
        <p:spPr>
          <a:xfrm>
            <a:off x="457200" y="2628900"/>
            <a:ext cx="49530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20252D"/>
                </a:solidFill>
              </a:defRPr>
            </a:pPr>
            <a:r>
              <a:rPr lang="es-MX" sz="1600" dirty="0">
                <a:solidFill>
                  <a:srgbClr val="20252D"/>
                </a:solidFill>
              </a:rPr>
              <a:t>Es una p</a:t>
            </a:r>
            <a:r>
              <a:rPr sz="1600" b="0" dirty="0" err="1">
                <a:solidFill>
                  <a:srgbClr val="20252D"/>
                </a:solidFill>
              </a:rPr>
              <a:t>lataforma</a:t>
            </a:r>
            <a:r>
              <a:rPr sz="1600" b="0" dirty="0">
                <a:solidFill>
                  <a:srgbClr val="20252D"/>
                </a:solidFill>
              </a:rPr>
              <a:t> web para </a:t>
            </a:r>
            <a:r>
              <a:rPr sz="1600" b="0" dirty="0" err="1">
                <a:solidFill>
                  <a:srgbClr val="20252D"/>
                </a:solidFill>
              </a:rPr>
              <a:t>administrar</a:t>
            </a:r>
            <a:r>
              <a:rPr sz="1600" b="0" dirty="0">
                <a:solidFill>
                  <a:srgbClr val="20252D"/>
                </a:solidFill>
              </a:rPr>
              <a:t> </a:t>
            </a:r>
            <a:r>
              <a:rPr sz="1600" b="0" dirty="0" err="1">
                <a:solidFill>
                  <a:srgbClr val="20252D"/>
                </a:solidFill>
              </a:rPr>
              <a:t>el</a:t>
            </a:r>
            <a:r>
              <a:rPr sz="1600" b="0" dirty="0">
                <a:solidFill>
                  <a:srgbClr val="20252D"/>
                </a:solidFill>
              </a:rPr>
              <a:t> </a:t>
            </a:r>
            <a:r>
              <a:rPr sz="1600" b="0" dirty="0" err="1">
                <a:solidFill>
                  <a:srgbClr val="20252D"/>
                </a:solidFill>
              </a:rPr>
              <a:t>catálogo</a:t>
            </a:r>
            <a:r>
              <a:rPr sz="1600" b="0" dirty="0">
                <a:solidFill>
                  <a:srgbClr val="20252D"/>
                </a:solidFill>
              </a:rPr>
              <a:t>, </a:t>
            </a:r>
            <a:r>
              <a:rPr sz="1600" b="0" dirty="0" err="1">
                <a:solidFill>
                  <a:srgbClr val="20252D"/>
                </a:solidFill>
              </a:rPr>
              <a:t>controlar</a:t>
            </a:r>
            <a:r>
              <a:rPr sz="1600" b="0" dirty="0">
                <a:solidFill>
                  <a:srgbClr val="20252D"/>
                </a:solidFill>
              </a:rPr>
              <a:t> </a:t>
            </a:r>
            <a:r>
              <a:rPr sz="1600" b="0" dirty="0" err="1">
                <a:solidFill>
                  <a:srgbClr val="20252D"/>
                </a:solidFill>
              </a:rPr>
              <a:t>existencias</a:t>
            </a:r>
            <a:r>
              <a:rPr sz="1600" b="0" dirty="0">
                <a:solidFill>
                  <a:srgbClr val="20252D"/>
                </a:solidFill>
              </a:rPr>
              <a:t>, registrar </a:t>
            </a:r>
            <a:r>
              <a:rPr sz="1600" b="0" dirty="0" err="1">
                <a:solidFill>
                  <a:srgbClr val="20252D"/>
                </a:solidFill>
              </a:rPr>
              <a:t>pedidos</a:t>
            </a:r>
            <a:r>
              <a:rPr sz="1600" b="0" dirty="0">
                <a:solidFill>
                  <a:srgbClr val="20252D"/>
                </a:solidFill>
              </a:rPr>
              <a:t> y </a:t>
            </a:r>
            <a:r>
              <a:rPr sz="1600" b="0" dirty="0" err="1">
                <a:solidFill>
                  <a:srgbClr val="20252D"/>
                </a:solidFill>
              </a:rPr>
              <a:t>consultar</a:t>
            </a:r>
            <a:r>
              <a:rPr sz="1600" b="0" dirty="0">
                <a:solidFill>
                  <a:srgbClr val="20252D"/>
                </a:solidFill>
              </a:rPr>
              <a:t> </a:t>
            </a:r>
            <a:r>
              <a:rPr sz="1600" b="0" dirty="0" err="1">
                <a:solidFill>
                  <a:srgbClr val="20252D"/>
                </a:solidFill>
              </a:rPr>
              <a:t>ventas</a:t>
            </a:r>
            <a:r>
              <a:rPr sz="1600" b="0" dirty="0">
                <a:solidFill>
                  <a:srgbClr val="20252D"/>
                </a:solidFill>
              </a:rPr>
              <a:t>. Integra </a:t>
            </a:r>
            <a:r>
              <a:rPr sz="1600" b="0" dirty="0" err="1">
                <a:solidFill>
                  <a:srgbClr val="20252D"/>
                </a:solidFill>
              </a:rPr>
              <a:t>productos</a:t>
            </a:r>
            <a:r>
              <a:rPr sz="1600" b="0" dirty="0">
                <a:solidFill>
                  <a:srgbClr val="20252D"/>
                </a:solidFill>
              </a:rPr>
              <a:t>, </a:t>
            </a:r>
            <a:r>
              <a:rPr sz="1600" b="0" dirty="0" err="1">
                <a:solidFill>
                  <a:srgbClr val="20252D"/>
                </a:solidFill>
              </a:rPr>
              <a:t>marcas</a:t>
            </a:r>
            <a:r>
              <a:rPr sz="1600" b="0" dirty="0">
                <a:solidFill>
                  <a:srgbClr val="20252D"/>
                </a:solidFill>
              </a:rPr>
              <a:t>, </a:t>
            </a:r>
            <a:r>
              <a:rPr sz="1600" b="0" dirty="0" err="1">
                <a:solidFill>
                  <a:srgbClr val="20252D"/>
                </a:solidFill>
              </a:rPr>
              <a:t>familias</a:t>
            </a:r>
            <a:r>
              <a:rPr sz="1600" b="0" dirty="0">
                <a:solidFill>
                  <a:srgbClr val="20252D"/>
                </a:solidFill>
              </a:rPr>
              <a:t>, </a:t>
            </a:r>
            <a:r>
              <a:rPr sz="1600" b="0" dirty="0" err="1">
                <a:solidFill>
                  <a:srgbClr val="20252D"/>
                </a:solidFill>
              </a:rPr>
              <a:t>usuarios</a:t>
            </a:r>
            <a:r>
              <a:rPr sz="1600" b="0" dirty="0">
                <a:solidFill>
                  <a:srgbClr val="20252D"/>
                </a:solidFill>
              </a:rPr>
              <a:t>, </a:t>
            </a:r>
            <a:r>
              <a:rPr sz="1600" b="0" dirty="0" err="1">
                <a:solidFill>
                  <a:srgbClr val="20252D"/>
                </a:solidFill>
              </a:rPr>
              <a:t>ofertas</a:t>
            </a:r>
            <a:r>
              <a:rPr sz="1600" b="0" dirty="0">
                <a:solidFill>
                  <a:srgbClr val="20252D"/>
                </a:solidFill>
              </a:rPr>
              <a:t> y </a:t>
            </a:r>
            <a:r>
              <a:rPr sz="1600" b="0" dirty="0" err="1">
                <a:solidFill>
                  <a:srgbClr val="20252D"/>
                </a:solidFill>
              </a:rPr>
              <a:t>métodos</a:t>
            </a:r>
            <a:r>
              <a:rPr sz="1600" b="0" dirty="0">
                <a:solidFill>
                  <a:srgbClr val="20252D"/>
                </a:solidFill>
              </a:rPr>
              <a:t> de </a:t>
            </a:r>
            <a:r>
              <a:rPr sz="1600" b="0" dirty="0" err="1">
                <a:solidFill>
                  <a:srgbClr val="20252D"/>
                </a:solidFill>
              </a:rPr>
              <a:t>entrega</a:t>
            </a:r>
            <a:r>
              <a:rPr sz="1600" b="0" dirty="0">
                <a:solidFill>
                  <a:srgbClr val="20252D"/>
                </a:solidFill>
              </a:rPr>
              <a:t> </a:t>
            </a:r>
            <a:r>
              <a:rPr sz="1600" b="0" dirty="0" err="1">
                <a:solidFill>
                  <a:srgbClr val="20252D"/>
                </a:solidFill>
              </a:rPr>
              <a:t>en</a:t>
            </a:r>
            <a:r>
              <a:rPr sz="1600" b="0" dirty="0">
                <a:solidFill>
                  <a:srgbClr val="20252D"/>
                </a:solidFill>
              </a:rPr>
              <a:t> una sola </a:t>
            </a:r>
            <a:r>
              <a:rPr sz="1600" b="0" dirty="0" err="1">
                <a:solidFill>
                  <a:srgbClr val="20252D"/>
                </a:solidFill>
              </a:rPr>
              <a:t>operación</a:t>
            </a:r>
            <a:r>
              <a:rPr sz="1600" b="0" dirty="0">
                <a:solidFill>
                  <a:srgbClr val="20252D"/>
                </a:solidFill>
              </a:rPr>
              <a:t>.</a:t>
            </a:r>
          </a:p>
        </p:txBody>
      </p:sp>
      <p:sp>
        <p:nvSpPr>
          <p:cNvPr id="5" name="scope">
            <a:extLst>
              <a:ext uri="{FF2B5EF4-FFF2-40B4-BE49-F238E27FC236}">
                <a16:creationId xmlns:a16="http://schemas.microsoft.com/office/drawing/2014/main" id="{BC43F9C9-72E6-4D29-9D78-DB22CCB6A104}"/>
              </a:ext>
            </a:extLst>
          </p:cNvPr>
          <p:cNvSpPr>
            <a:spLocks noGrp="1"/>
          </p:cNvSpPr>
          <p:nvPr/>
        </p:nvSpPr>
        <p:spPr>
          <a:xfrm>
            <a:off x="457200" y="4184781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15DBF"/>
                </a:solidFill>
              </a:defRPr>
            </a:pPr>
            <a:r>
              <a:rPr lang="es-MX" sz="975" b="1" dirty="0">
                <a:solidFill>
                  <a:srgbClr val="315DBF"/>
                </a:solidFill>
              </a:rPr>
              <a:t>COLECCIONES PRINCIPALES: </a:t>
            </a:r>
            <a:r>
              <a:rPr sz="975" b="1" dirty="0">
                <a:solidFill>
                  <a:srgbClr val="315DBF"/>
                </a:solidFill>
              </a:rPr>
              <a:t>CATÁLOGO  ·  INVENTARIO  ·  PEDIDOS  ·  VENTAS</a:t>
            </a: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00750" y="1156803"/>
            <a:ext cx="5734050" cy="3001344"/>
          </a:xfrm>
          <a:prstGeom prst="roundRect">
            <a:avLst>
              <a:gd name="adj" fmla="val 1449"/>
            </a:avLst>
          </a:prstGeom>
        </p:spPr>
      </p:pic>
      <p:sp>
        <p:nvSpPr>
          <p:cNvPr id="7" name="caption">
            <a:extLst>
              <a:ext uri="{FF2B5EF4-FFF2-40B4-BE49-F238E27FC236}">
                <a16:creationId xmlns:a16="http://schemas.microsoft.com/office/drawing/2014/main" id="{F5FA827E-018B-42BF-8EDA-E8C293F75EE5}"/>
              </a:ext>
            </a:extLst>
          </p:cNvPr>
          <p:cNvSpPr>
            <a:spLocks noGrp="1"/>
          </p:cNvSpPr>
          <p:nvPr/>
        </p:nvSpPr>
        <p:spPr>
          <a:xfrm>
            <a:off x="6000750" y="4762500"/>
            <a:ext cx="573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Captura del sistema — página principal</a:t>
            </a:r>
          </a:p>
        </p:txBody>
      </p:sp>
      <p:sp>
        <p:nvSpPr>
          <p:cNvPr id="9" name="page">
            <a:extLst>
              <a:ext uri="{FF2B5EF4-FFF2-40B4-BE49-F238E27FC236}">
                <a16:creationId xmlns:a16="http://schemas.microsoft.com/office/drawing/2014/main" id="{F0A8BF93-62E9-4A11-9C4F-D7DCC52BC369}"/>
              </a:ext>
            </a:extLst>
          </p:cNvPr>
          <p:cNvSpPr>
            <a:spLocks noGrp="1"/>
          </p:cNvSpPr>
          <p:nvPr/>
        </p:nvSpPr>
        <p:spPr>
          <a:xfrm>
            <a:off x="11449050" y="64960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48244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kicker">
            <a:extLst>
              <a:ext uri="{FF2B5EF4-FFF2-40B4-BE49-F238E27FC236}">
                <a16:creationId xmlns:a16="http://schemas.microsoft.com/office/drawing/2014/main" id="{C5E74EB1-E325-4E7F-9284-8C1930FFC7D3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315DBF"/>
                </a:solidFill>
              </a:defRPr>
            </a:pPr>
            <a:r>
              <a:rPr sz="900" b="1">
                <a:solidFill>
                  <a:srgbClr val="315DBF"/>
                </a:solidFill>
              </a:rPr>
              <a:t>PROPUESTA 1 · CLASIFICACIÓN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2A1FBA1-C2D5-4517-8F6F-F26756C61DF1}"/>
              </a:ext>
            </a:extLst>
          </p:cNvPr>
          <p:cNvSpPr>
            <a:spLocks noGrp="1"/>
          </p:cNvSpPr>
          <p:nvPr/>
        </p:nvSpPr>
        <p:spPr>
          <a:xfrm>
            <a:off x="457200" y="495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315DBF"/>
                </a:solidFill>
              </a:defRPr>
            </a:pPr>
            <a:r>
              <a:rPr sz="2250" b="1">
                <a:solidFill>
                  <a:srgbClr val="315DBF"/>
                </a:solidFill>
              </a:rPr>
              <a:t>Clasificar el riesgo de desabasto prioriza la reposición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A3147E9B-5C65-4EBC-A511-DA4AAAE55B2B}"/>
              </a:ext>
            </a:extLst>
          </p:cNvPr>
          <p:cNvSpPr>
            <a:spLocks noGrp="1"/>
          </p:cNvSpPr>
          <p:nvPr/>
        </p:nvSpPr>
        <p:spPr>
          <a:xfrm>
            <a:off x="11449050" y="64960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</a:t>
            </a:r>
          </a:p>
        </p:txBody>
      </p:sp>
      <p:sp>
        <p:nvSpPr>
          <p:cNvPr id="4" name="source-box">
            <a:extLst>
              <a:ext uri="{FF2B5EF4-FFF2-40B4-BE49-F238E27FC236}">
                <a16:creationId xmlns:a16="http://schemas.microsoft.com/office/drawing/2014/main" id="{692B1254-39EB-4775-AE37-080897A3F2A5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2381250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5" name="source-label">
            <a:extLst>
              <a:ext uri="{FF2B5EF4-FFF2-40B4-BE49-F238E27FC236}">
                <a16:creationId xmlns:a16="http://schemas.microsoft.com/office/drawing/2014/main" id="{BCD25606-79FB-44E4-839C-F6CD10E529CB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315DBF"/>
                </a:solidFill>
              </a:defRPr>
            </a:pPr>
            <a:r>
              <a:rPr sz="1400" b="1">
                <a:solidFill>
                  <a:srgbClr val="315DBF"/>
                </a:solidFill>
              </a:rPr>
              <a:t>COLECCIONES</a:t>
            </a:r>
          </a:p>
        </p:txBody>
      </p:sp>
      <p:sp>
        <p:nvSpPr>
          <p:cNvPr id="6" name="sources">
            <a:extLst>
              <a:ext uri="{FF2B5EF4-FFF2-40B4-BE49-F238E27FC236}">
                <a16:creationId xmlns:a16="http://schemas.microsoft.com/office/drawing/2014/main" id="{62F6BBB1-FC25-4D16-865F-3952E87AE453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200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pedidos</a:t>
            </a:r>
          </a:p>
          <a:p>
            <a:pPr algn="l">
              <a:defRPr sz="1050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productos</a:t>
            </a:r>
          </a:p>
          <a:p>
            <a:pPr algn="l">
              <a:defRPr sz="1050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marcas · familias</a:t>
            </a:r>
          </a:p>
        </p:txBody>
      </p:sp>
      <p:sp>
        <p:nvSpPr>
          <p:cNvPr id="7" name="flow-arrow">
            <a:extLst>
              <a:ext uri="{FF2B5EF4-FFF2-40B4-BE49-F238E27FC236}">
                <a16:creationId xmlns:a16="http://schemas.microsoft.com/office/drawing/2014/main" id="{AC5E2C2E-A156-4454-A344-28F2D59887E2}"/>
              </a:ext>
            </a:extLst>
          </p:cNvPr>
          <p:cNvSpPr>
            <a:spLocks noGrp="1"/>
          </p:cNvSpPr>
          <p:nvPr/>
        </p:nvSpPr>
        <p:spPr>
          <a:xfrm>
            <a:off x="2952750" y="1695450"/>
            <a:ext cx="400050" cy="209550"/>
          </a:xfrm>
          <a:prstGeom prst="rightArrow">
            <a:avLst/>
          </a:prstGeom>
          <a:solidFill>
            <a:srgbClr val="315DBF"/>
          </a:solidFill>
          <a:ln w="0">
            <a:solidFill>
              <a:srgbClr val="315DBF"/>
            </a:solidFill>
            <a:prstDash val="solid"/>
          </a:ln>
        </p:spPr>
      </p:sp>
      <p:sp>
        <p:nvSpPr>
          <p:cNvPr id="8" name="transform-box">
            <a:extLst>
              <a:ext uri="{FF2B5EF4-FFF2-40B4-BE49-F238E27FC236}">
                <a16:creationId xmlns:a16="http://schemas.microsoft.com/office/drawing/2014/main" id="{1731A7E9-DC7D-48EF-93A0-D3CB6CBAE990}"/>
              </a:ext>
            </a:extLst>
          </p:cNvPr>
          <p:cNvSpPr>
            <a:spLocks noGrp="1"/>
          </p:cNvSpPr>
          <p:nvPr/>
        </p:nvSpPr>
        <p:spPr>
          <a:xfrm>
            <a:off x="3467100" y="1257300"/>
            <a:ext cx="3238500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9" name="transform-label">
            <a:extLst>
              <a:ext uri="{FF2B5EF4-FFF2-40B4-BE49-F238E27FC236}">
                <a16:creationId xmlns:a16="http://schemas.microsoft.com/office/drawing/2014/main" id="{FAAA1E8C-E388-405A-BCEC-EDCD960AA68A}"/>
              </a:ext>
            </a:extLst>
          </p:cNvPr>
          <p:cNvSpPr>
            <a:spLocks noGrp="1"/>
          </p:cNvSpPr>
          <p:nvPr/>
        </p:nvSpPr>
        <p:spPr>
          <a:xfrm>
            <a:off x="3619500" y="13525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315DBF"/>
                </a:solidFill>
              </a:defRPr>
            </a:pPr>
            <a:r>
              <a:rPr sz="1400" b="1">
                <a:solidFill>
                  <a:srgbClr val="315DBF"/>
                </a:solidFill>
              </a:rPr>
              <a:t>TRANSFORMACIÓN</a:t>
            </a:r>
          </a:p>
        </p:txBody>
      </p:sp>
      <p:sp>
        <p:nvSpPr>
          <p:cNvPr id="10" name="transform">
            <a:extLst>
              <a:ext uri="{FF2B5EF4-FFF2-40B4-BE49-F238E27FC236}">
                <a16:creationId xmlns:a16="http://schemas.microsoft.com/office/drawing/2014/main" id="{AE33510D-E90D-4F98-874A-040D10DB3A68}"/>
              </a:ext>
            </a:extLst>
          </p:cNvPr>
          <p:cNvSpPr>
            <a:spLocks noGrp="1"/>
          </p:cNvSpPr>
          <p:nvPr/>
        </p:nvSpPr>
        <p:spPr>
          <a:xfrm>
            <a:off x="3619500" y="1581150"/>
            <a:ext cx="2933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Filtrar pedidos entregados → separar productos → agregar ventas de 7, 15 y 30 días → unir stock y catálogo.</a:t>
            </a:r>
          </a:p>
        </p:txBody>
      </p:sp>
      <p:sp>
        <p:nvSpPr>
          <p:cNvPr id="11" name="flow-arrow">
            <a:extLst>
              <a:ext uri="{FF2B5EF4-FFF2-40B4-BE49-F238E27FC236}">
                <a16:creationId xmlns:a16="http://schemas.microsoft.com/office/drawing/2014/main" id="{5404C61F-E891-430D-91DC-51ABA65BB6C4}"/>
              </a:ext>
            </a:extLst>
          </p:cNvPr>
          <p:cNvSpPr>
            <a:spLocks noGrp="1"/>
          </p:cNvSpPr>
          <p:nvPr/>
        </p:nvSpPr>
        <p:spPr>
          <a:xfrm>
            <a:off x="6819900" y="1695450"/>
            <a:ext cx="400050" cy="209550"/>
          </a:xfrm>
          <a:prstGeom prst="rightArrow">
            <a:avLst/>
          </a:prstGeom>
          <a:solidFill>
            <a:srgbClr val="315DBF"/>
          </a:solidFill>
          <a:ln w="0">
            <a:solidFill>
              <a:srgbClr val="315DBF"/>
            </a:solidFill>
            <a:prstDash val="solid"/>
          </a:ln>
        </p:spPr>
      </p:sp>
      <p:sp>
        <p:nvSpPr>
          <p:cNvPr id="12" name="target-box">
            <a:extLst>
              <a:ext uri="{FF2B5EF4-FFF2-40B4-BE49-F238E27FC236}">
                <a16:creationId xmlns:a16="http://schemas.microsoft.com/office/drawing/2014/main" id="{0F033C83-03C0-4F8A-8413-9040A256F376}"/>
              </a:ext>
            </a:extLst>
          </p:cNvPr>
          <p:cNvSpPr>
            <a:spLocks noGrp="1"/>
          </p:cNvSpPr>
          <p:nvPr/>
        </p:nvSpPr>
        <p:spPr>
          <a:xfrm>
            <a:off x="7334250" y="1257300"/>
            <a:ext cx="4400550" cy="1104900"/>
          </a:xfrm>
          <a:prstGeom prst="roundRect">
            <a:avLst>
              <a:gd name="adj" fmla="val 5172"/>
            </a:avLst>
          </a:prstGeom>
          <a:solidFill>
            <a:srgbClr val="DCE5FA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13" name="target-label">
            <a:extLst>
              <a:ext uri="{FF2B5EF4-FFF2-40B4-BE49-F238E27FC236}">
                <a16:creationId xmlns:a16="http://schemas.microsoft.com/office/drawing/2014/main" id="{A38B6E57-CC3F-4DC2-886D-29E65CEA74A5}"/>
              </a:ext>
            </a:extLst>
          </p:cNvPr>
          <p:cNvSpPr>
            <a:spLocks noGrp="1"/>
          </p:cNvSpPr>
          <p:nvPr/>
        </p:nvSpPr>
        <p:spPr>
          <a:xfrm>
            <a:off x="7486650" y="13525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315DBF"/>
                </a:solidFill>
              </a:defRPr>
            </a:pPr>
            <a:r>
              <a:rPr sz="1400" b="1">
                <a:solidFill>
                  <a:srgbClr val="315DBF"/>
                </a:solidFill>
              </a:rPr>
              <a:t>VARIABLE / RESULTADO</a:t>
            </a:r>
          </a:p>
        </p:txBody>
      </p:sp>
      <p:sp>
        <p:nvSpPr>
          <p:cNvPr id="14" name="target">
            <a:extLst>
              <a:ext uri="{FF2B5EF4-FFF2-40B4-BE49-F238E27FC236}">
                <a16:creationId xmlns:a16="http://schemas.microsoft.com/office/drawing/2014/main" id="{2D93D15C-858E-4FF5-A09F-5E4F9C95FDCD}"/>
              </a:ext>
            </a:extLst>
          </p:cNvPr>
          <p:cNvSpPr>
            <a:spLocks noGrp="1"/>
          </p:cNvSpPr>
          <p:nvPr/>
        </p:nvSpPr>
        <p:spPr>
          <a:xfrm>
            <a:off x="7486650" y="158115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252D"/>
                </a:solidFill>
              </a:defRPr>
            </a:pPr>
            <a:r>
              <a:rPr sz="1400" b="1">
                <a:solidFill>
                  <a:srgbClr val="20252D"/>
                </a:solidFill>
              </a:rPr>
              <a:t>Objetivo: riesgo_desabasto</a:t>
            </a:r>
          </a:p>
          <a:p>
            <a:pPr algn="l">
              <a:defRPr sz="1050" b="1">
                <a:solidFill>
                  <a:srgbClr val="20252D"/>
                </a:solidFill>
              </a:defRPr>
            </a:pPr>
            <a:r>
              <a:rPr sz="1400" b="1">
                <a:solidFill>
                  <a:srgbClr val="20252D"/>
                </a:solidFill>
              </a:rPr>
              <a:t>Clases: ALTO · MEDIO · BAJO</a:t>
            </a:r>
          </a:p>
        </p:txBody>
      </p:sp>
      <p:sp>
        <p:nvSpPr>
          <p:cNvPr id="15" name="dataset-title">
            <a:extLst>
              <a:ext uri="{FF2B5EF4-FFF2-40B4-BE49-F238E27FC236}">
                <a16:creationId xmlns:a16="http://schemas.microsoft.com/office/drawing/2014/main" id="{5C8BFC9B-A68B-434E-900E-14D319B8386C}"/>
              </a:ext>
            </a:extLst>
          </p:cNvPr>
          <p:cNvSpPr>
            <a:spLocks noGrp="1"/>
          </p:cNvSpPr>
          <p:nvPr/>
        </p:nvSpPr>
        <p:spPr>
          <a:xfrm>
            <a:off x="457200" y="25717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252D"/>
                </a:solidFill>
              </a:defRPr>
            </a:pPr>
            <a:r>
              <a:rPr sz="1200" b="1">
                <a:solidFill>
                  <a:srgbClr val="20252D"/>
                </a:solidFill>
              </a:rPr>
              <a:t>Dataset de entrenamiento — una fila por producto y fecha de corte</a:t>
            </a:r>
          </a:p>
        </p:txBody>
      </p:sp>
      <p:sp>
        <p:nvSpPr>
          <p:cNvPr id="16" name="th">
            <a:extLst>
              <a:ext uri="{FF2B5EF4-FFF2-40B4-BE49-F238E27FC236}">
                <a16:creationId xmlns:a16="http://schemas.microsoft.com/office/drawing/2014/main" id="{651AE8E1-BA18-4239-81D1-786C135386F9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1409700" cy="3238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17" name="th-text">
            <a:extLst>
              <a:ext uri="{FF2B5EF4-FFF2-40B4-BE49-F238E27FC236}">
                <a16:creationId xmlns:a16="http://schemas.microsoft.com/office/drawing/2014/main" id="{B1522AB8-80CF-4DD6-BBC8-0A36F0116E46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producto</a:t>
            </a:r>
          </a:p>
        </p:txBody>
      </p:sp>
      <p:sp>
        <p:nvSpPr>
          <p:cNvPr id="18" name="th">
            <a:extLst>
              <a:ext uri="{FF2B5EF4-FFF2-40B4-BE49-F238E27FC236}">
                <a16:creationId xmlns:a16="http://schemas.microsoft.com/office/drawing/2014/main" id="{9285A885-44F8-469F-A1DE-0B84A6B9E2F2}"/>
              </a:ext>
            </a:extLst>
          </p:cNvPr>
          <p:cNvSpPr>
            <a:spLocks noGrp="1"/>
          </p:cNvSpPr>
          <p:nvPr/>
        </p:nvSpPr>
        <p:spPr>
          <a:xfrm>
            <a:off x="1866900" y="2895600"/>
            <a:ext cx="857250" cy="3238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19" name="th-text">
            <a:extLst>
              <a:ext uri="{FF2B5EF4-FFF2-40B4-BE49-F238E27FC236}">
                <a16:creationId xmlns:a16="http://schemas.microsoft.com/office/drawing/2014/main" id="{9B2FE18F-E320-428D-B5F4-AA4783A97A44}"/>
              </a:ext>
            </a:extLst>
          </p:cNvPr>
          <p:cNvSpPr>
            <a:spLocks noGrp="1"/>
          </p:cNvSpPr>
          <p:nvPr/>
        </p:nvSpPr>
        <p:spPr>
          <a:xfrm>
            <a:off x="1924050" y="289560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stock</a:t>
            </a:r>
          </a:p>
        </p:txBody>
      </p:sp>
      <p:sp>
        <p:nvSpPr>
          <p:cNvPr id="20" name="th">
            <a:extLst>
              <a:ext uri="{FF2B5EF4-FFF2-40B4-BE49-F238E27FC236}">
                <a16:creationId xmlns:a16="http://schemas.microsoft.com/office/drawing/2014/main" id="{5D6C57E6-D0F7-44AA-8016-3A9BB428A71D}"/>
              </a:ext>
            </a:extLst>
          </p:cNvPr>
          <p:cNvSpPr>
            <a:spLocks noGrp="1"/>
          </p:cNvSpPr>
          <p:nvPr/>
        </p:nvSpPr>
        <p:spPr>
          <a:xfrm>
            <a:off x="2724150" y="2895600"/>
            <a:ext cx="904875" cy="3238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21" name="th-text">
            <a:extLst>
              <a:ext uri="{FF2B5EF4-FFF2-40B4-BE49-F238E27FC236}">
                <a16:creationId xmlns:a16="http://schemas.microsoft.com/office/drawing/2014/main" id="{9B926F14-F844-4DE2-9DBF-EEA81B4F08E6}"/>
              </a:ext>
            </a:extLst>
          </p:cNvPr>
          <p:cNvSpPr>
            <a:spLocks noGrp="1"/>
          </p:cNvSpPr>
          <p:nvPr/>
        </p:nvSpPr>
        <p:spPr>
          <a:xfrm>
            <a:off x="2781300" y="2895600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ventas_7d</a:t>
            </a:r>
          </a:p>
        </p:txBody>
      </p:sp>
      <p:sp>
        <p:nvSpPr>
          <p:cNvPr id="22" name="th">
            <a:extLst>
              <a:ext uri="{FF2B5EF4-FFF2-40B4-BE49-F238E27FC236}">
                <a16:creationId xmlns:a16="http://schemas.microsoft.com/office/drawing/2014/main" id="{6E213C94-411E-4BDF-B541-9A6FD1304851}"/>
              </a:ext>
            </a:extLst>
          </p:cNvPr>
          <p:cNvSpPr>
            <a:spLocks noGrp="1"/>
          </p:cNvSpPr>
          <p:nvPr/>
        </p:nvSpPr>
        <p:spPr>
          <a:xfrm>
            <a:off x="3629025" y="2895600"/>
            <a:ext cx="904875" cy="3238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23" name="th-text">
            <a:extLst>
              <a:ext uri="{FF2B5EF4-FFF2-40B4-BE49-F238E27FC236}">
                <a16:creationId xmlns:a16="http://schemas.microsoft.com/office/drawing/2014/main" id="{313899A2-CFC0-4575-B61E-5439778D5855}"/>
              </a:ext>
            </a:extLst>
          </p:cNvPr>
          <p:cNvSpPr>
            <a:spLocks noGrp="1"/>
          </p:cNvSpPr>
          <p:nvPr/>
        </p:nvSpPr>
        <p:spPr>
          <a:xfrm>
            <a:off x="3686175" y="2895600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ventas_30d</a:t>
            </a:r>
          </a:p>
        </p:txBody>
      </p:sp>
      <p:sp>
        <p:nvSpPr>
          <p:cNvPr id="24" name="th">
            <a:extLst>
              <a:ext uri="{FF2B5EF4-FFF2-40B4-BE49-F238E27FC236}">
                <a16:creationId xmlns:a16="http://schemas.microsoft.com/office/drawing/2014/main" id="{3402BDFE-AF75-429D-BB44-8531D7E9E55F}"/>
              </a:ext>
            </a:extLst>
          </p:cNvPr>
          <p:cNvSpPr>
            <a:spLocks noGrp="1"/>
          </p:cNvSpPr>
          <p:nvPr/>
        </p:nvSpPr>
        <p:spPr>
          <a:xfrm>
            <a:off x="4533900" y="2895600"/>
            <a:ext cx="1047750" cy="3238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25" name="th-text">
            <a:extLst>
              <a:ext uri="{FF2B5EF4-FFF2-40B4-BE49-F238E27FC236}">
                <a16:creationId xmlns:a16="http://schemas.microsoft.com/office/drawing/2014/main" id="{1959205A-4EBA-48FF-8EB1-1338C60CB94C}"/>
              </a:ext>
            </a:extLst>
          </p:cNvPr>
          <p:cNvSpPr>
            <a:spLocks noGrp="1"/>
          </p:cNvSpPr>
          <p:nvPr/>
        </p:nvSpPr>
        <p:spPr>
          <a:xfrm>
            <a:off x="4591050" y="289560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promedio/día</a:t>
            </a:r>
          </a:p>
        </p:txBody>
      </p:sp>
      <p:sp>
        <p:nvSpPr>
          <p:cNvPr id="26" name="th">
            <a:extLst>
              <a:ext uri="{FF2B5EF4-FFF2-40B4-BE49-F238E27FC236}">
                <a16:creationId xmlns:a16="http://schemas.microsoft.com/office/drawing/2014/main" id="{7047961D-4676-4698-8D26-F13BCBA8A0D7}"/>
              </a:ext>
            </a:extLst>
          </p:cNvPr>
          <p:cNvSpPr>
            <a:spLocks noGrp="1"/>
          </p:cNvSpPr>
          <p:nvPr/>
        </p:nvSpPr>
        <p:spPr>
          <a:xfrm>
            <a:off x="5581650" y="2895600"/>
            <a:ext cx="1104900" cy="3238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27" name="th-text">
            <a:extLst>
              <a:ext uri="{FF2B5EF4-FFF2-40B4-BE49-F238E27FC236}">
                <a16:creationId xmlns:a16="http://schemas.microsoft.com/office/drawing/2014/main" id="{E6B5DDF0-1F08-4744-9EC4-3DD43E039FB9}"/>
              </a:ext>
            </a:extLst>
          </p:cNvPr>
          <p:cNvSpPr>
            <a:spLocks noGrp="1"/>
          </p:cNvSpPr>
          <p:nvPr/>
        </p:nvSpPr>
        <p:spPr>
          <a:xfrm>
            <a:off x="5638800" y="2895600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días cobertura</a:t>
            </a:r>
          </a:p>
        </p:txBody>
      </p:sp>
      <p:sp>
        <p:nvSpPr>
          <p:cNvPr id="28" name="th">
            <a:extLst>
              <a:ext uri="{FF2B5EF4-FFF2-40B4-BE49-F238E27FC236}">
                <a16:creationId xmlns:a16="http://schemas.microsoft.com/office/drawing/2014/main" id="{823BA916-F2B5-4049-805B-AADDC9A6961B}"/>
              </a:ext>
            </a:extLst>
          </p:cNvPr>
          <p:cNvSpPr>
            <a:spLocks noGrp="1"/>
          </p:cNvSpPr>
          <p:nvPr/>
        </p:nvSpPr>
        <p:spPr>
          <a:xfrm>
            <a:off x="6686550" y="2895600"/>
            <a:ext cx="1238250" cy="3238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29" name="th-text">
            <a:extLst>
              <a:ext uri="{FF2B5EF4-FFF2-40B4-BE49-F238E27FC236}">
                <a16:creationId xmlns:a16="http://schemas.microsoft.com/office/drawing/2014/main" id="{7B1F437C-FA65-4671-B6F7-EFF5064033F5}"/>
              </a:ext>
            </a:extLst>
          </p:cNvPr>
          <p:cNvSpPr>
            <a:spLocks noGrp="1"/>
          </p:cNvSpPr>
          <p:nvPr/>
        </p:nvSpPr>
        <p:spPr>
          <a:xfrm>
            <a:off x="6743700" y="289560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clase</a:t>
            </a:r>
          </a:p>
        </p:txBody>
      </p:sp>
      <p:sp>
        <p:nvSpPr>
          <p:cNvPr id="30" name="td">
            <a:extLst>
              <a:ext uri="{FF2B5EF4-FFF2-40B4-BE49-F238E27FC236}">
                <a16:creationId xmlns:a16="http://schemas.microsoft.com/office/drawing/2014/main" id="{1C61CA5F-D783-4290-98E0-4A86881640EF}"/>
              </a:ext>
            </a:extLst>
          </p:cNvPr>
          <p:cNvSpPr>
            <a:spLocks noGrp="1"/>
          </p:cNvSpPr>
          <p:nvPr/>
        </p:nvSpPr>
        <p:spPr>
          <a:xfrm>
            <a:off x="457200" y="3219450"/>
            <a:ext cx="14097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31" name="td-text">
            <a:extLst>
              <a:ext uri="{FF2B5EF4-FFF2-40B4-BE49-F238E27FC236}">
                <a16:creationId xmlns:a16="http://schemas.microsoft.com/office/drawing/2014/main" id="{D427D092-9073-4D2C-97DA-51AD29AC3DF7}"/>
              </a:ext>
            </a:extLst>
          </p:cNvPr>
          <p:cNvSpPr>
            <a:spLocks noGrp="1"/>
          </p:cNvSpPr>
          <p:nvPr/>
        </p:nvSpPr>
        <p:spPr>
          <a:xfrm>
            <a:off x="514350" y="321945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Alicate P001</a:t>
            </a:r>
          </a:p>
        </p:txBody>
      </p:sp>
      <p:sp>
        <p:nvSpPr>
          <p:cNvPr id="32" name="td">
            <a:extLst>
              <a:ext uri="{FF2B5EF4-FFF2-40B4-BE49-F238E27FC236}">
                <a16:creationId xmlns:a16="http://schemas.microsoft.com/office/drawing/2014/main" id="{0C042474-0003-449F-8C06-579CA275CC43}"/>
              </a:ext>
            </a:extLst>
          </p:cNvPr>
          <p:cNvSpPr>
            <a:spLocks noGrp="1"/>
          </p:cNvSpPr>
          <p:nvPr/>
        </p:nvSpPr>
        <p:spPr>
          <a:xfrm>
            <a:off x="1866900" y="3219450"/>
            <a:ext cx="857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33" name="td-text">
            <a:extLst>
              <a:ext uri="{FF2B5EF4-FFF2-40B4-BE49-F238E27FC236}">
                <a16:creationId xmlns:a16="http://schemas.microsoft.com/office/drawing/2014/main" id="{E8E22329-8BB3-4A61-9DEB-A8B123CF5CA0}"/>
              </a:ext>
            </a:extLst>
          </p:cNvPr>
          <p:cNvSpPr>
            <a:spLocks noGrp="1"/>
          </p:cNvSpPr>
          <p:nvPr/>
        </p:nvSpPr>
        <p:spPr>
          <a:xfrm>
            <a:off x="1924050" y="321945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8</a:t>
            </a:r>
          </a:p>
        </p:txBody>
      </p:sp>
      <p:sp>
        <p:nvSpPr>
          <p:cNvPr id="34" name="td">
            <a:extLst>
              <a:ext uri="{FF2B5EF4-FFF2-40B4-BE49-F238E27FC236}">
                <a16:creationId xmlns:a16="http://schemas.microsoft.com/office/drawing/2014/main" id="{7B5D5E38-9E1E-46F3-9429-F33ED7498DB0}"/>
              </a:ext>
            </a:extLst>
          </p:cNvPr>
          <p:cNvSpPr>
            <a:spLocks noGrp="1"/>
          </p:cNvSpPr>
          <p:nvPr/>
        </p:nvSpPr>
        <p:spPr>
          <a:xfrm>
            <a:off x="2724150" y="3219450"/>
            <a:ext cx="904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35" name="td-text">
            <a:extLst>
              <a:ext uri="{FF2B5EF4-FFF2-40B4-BE49-F238E27FC236}">
                <a16:creationId xmlns:a16="http://schemas.microsoft.com/office/drawing/2014/main" id="{BEBDE274-518D-40F7-8032-CF219AD5A5BE}"/>
              </a:ext>
            </a:extLst>
          </p:cNvPr>
          <p:cNvSpPr>
            <a:spLocks noGrp="1"/>
          </p:cNvSpPr>
          <p:nvPr/>
        </p:nvSpPr>
        <p:spPr>
          <a:xfrm>
            <a:off x="2781300" y="3219450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6</a:t>
            </a:r>
          </a:p>
        </p:txBody>
      </p:sp>
      <p:sp>
        <p:nvSpPr>
          <p:cNvPr id="36" name="td">
            <a:extLst>
              <a:ext uri="{FF2B5EF4-FFF2-40B4-BE49-F238E27FC236}">
                <a16:creationId xmlns:a16="http://schemas.microsoft.com/office/drawing/2014/main" id="{7249A1E2-4B85-41B3-8FF9-735665D0FF6E}"/>
              </a:ext>
            </a:extLst>
          </p:cNvPr>
          <p:cNvSpPr>
            <a:spLocks noGrp="1"/>
          </p:cNvSpPr>
          <p:nvPr/>
        </p:nvSpPr>
        <p:spPr>
          <a:xfrm>
            <a:off x="3629025" y="3219450"/>
            <a:ext cx="904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37" name="td-text">
            <a:extLst>
              <a:ext uri="{FF2B5EF4-FFF2-40B4-BE49-F238E27FC236}">
                <a16:creationId xmlns:a16="http://schemas.microsoft.com/office/drawing/2014/main" id="{2655C563-6A53-4561-88B6-4EFA1EE65109}"/>
              </a:ext>
            </a:extLst>
          </p:cNvPr>
          <p:cNvSpPr>
            <a:spLocks noGrp="1"/>
          </p:cNvSpPr>
          <p:nvPr/>
        </p:nvSpPr>
        <p:spPr>
          <a:xfrm>
            <a:off x="3686175" y="3219450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27</a:t>
            </a:r>
          </a:p>
        </p:txBody>
      </p:sp>
      <p:sp>
        <p:nvSpPr>
          <p:cNvPr id="38" name="td">
            <a:extLst>
              <a:ext uri="{FF2B5EF4-FFF2-40B4-BE49-F238E27FC236}">
                <a16:creationId xmlns:a16="http://schemas.microsoft.com/office/drawing/2014/main" id="{F8579AEA-1C52-4081-8979-7A324B5B705B}"/>
              </a:ext>
            </a:extLst>
          </p:cNvPr>
          <p:cNvSpPr>
            <a:spLocks noGrp="1"/>
          </p:cNvSpPr>
          <p:nvPr/>
        </p:nvSpPr>
        <p:spPr>
          <a:xfrm>
            <a:off x="4533900" y="3219450"/>
            <a:ext cx="1047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39" name="td-text">
            <a:extLst>
              <a:ext uri="{FF2B5EF4-FFF2-40B4-BE49-F238E27FC236}">
                <a16:creationId xmlns:a16="http://schemas.microsoft.com/office/drawing/2014/main" id="{FC9C6047-DB49-440F-850E-D80A92134E1F}"/>
              </a:ext>
            </a:extLst>
          </p:cNvPr>
          <p:cNvSpPr>
            <a:spLocks noGrp="1"/>
          </p:cNvSpPr>
          <p:nvPr/>
        </p:nvSpPr>
        <p:spPr>
          <a:xfrm>
            <a:off x="4591050" y="321945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0.90</a:t>
            </a:r>
          </a:p>
        </p:txBody>
      </p:sp>
      <p:sp>
        <p:nvSpPr>
          <p:cNvPr id="40" name="td">
            <a:extLst>
              <a:ext uri="{FF2B5EF4-FFF2-40B4-BE49-F238E27FC236}">
                <a16:creationId xmlns:a16="http://schemas.microsoft.com/office/drawing/2014/main" id="{0E9C8E8E-A464-4271-BB4D-27C4CFAF10AA}"/>
              </a:ext>
            </a:extLst>
          </p:cNvPr>
          <p:cNvSpPr>
            <a:spLocks noGrp="1"/>
          </p:cNvSpPr>
          <p:nvPr/>
        </p:nvSpPr>
        <p:spPr>
          <a:xfrm>
            <a:off x="5581650" y="3219450"/>
            <a:ext cx="11049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41" name="td-text">
            <a:extLst>
              <a:ext uri="{FF2B5EF4-FFF2-40B4-BE49-F238E27FC236}">
                <a16:creationId xmlns:a16="http://schemas.microsoft.com/office/drawing/2014/main" id="{F31B3134-03A9-4855-8F7A-25E43682922C}"/>
              </a:ext>
            </a:extLst>
          </p:cNvPr>
          <p:cNvSpPr>
            <a:spLocks noGrp="1"/>
          </p:cNvSpPr>
          <p:nvPr/>
        </p:nvSpPr>
        <p:spPr>
          <a:xfrm>
            <a:off x="5638800" y="3219450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9</a:t>
            </a:r>
          </a:p>
        </p:txBody>
      </p:sp>
      <p:sp>
        <p:nvSpPr>
          <p:cNvPr id="42" name="td">
            <a:extLst>
              <a:ext uri="{FF2B5EF4-FFF2-40B4-BE49-F238E27FC236}">
                <a16:creationId xmlns:a16="http://schemas.microsoft.com/office/drawing/2014/main" id="{987353F2-895A-428B-A20D-1C0257F5F62C}"/>
              </a:ext>
            </a:extLst>
          </p:cNvPr>
          <p:cNvSpPr>
            <a:spLocks noGrp="1"/>
          </p:cNvSpPr>
          <p:nvPr/>
        </p:nvSpPr>
        <p:spPr>
          <a:xfrm>
            <a:off x="6686550" y="3219450"/>
            <a:ext cx="1238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43" name="td-text">
            <a:extLst>
              <a:ext uri="{FF2B5EF4-FFF2-40B4-BE49-F238E27FC236}">
                <a16:creationId xmlns:a16="http://schemas.microsoft.com/office/drawing/2014/main" id="{941C80D0-98A9-4A28-891D-F7E5A9B3AA83}"/>
              </a:ext>
            </a:extLst>
          </p:cNvPr>
          <p:cNvSpPr>
            <a:spLocks noGrp="1"/>
          </p:cNvSpPr>
          <p:nvPr/>
        </p:nvSpPr>
        <p:spPr>
          <a:xfrm>
            <a:off x="6743700" y="321945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ALTO</a:t>
            </a:r>
          </a:p>
        </p:txBody>
      </p:sp>
      <p:sp>
        <p:nvSpPr>
          <p:cNvPr id="44" name="td">
            <a:extLst>
              <a:ext uri="{FF2B5EF4-FFF2-40B4-BE49-F238E27FC236}">
                <a16:creationId xmlns:a16="http://schemas.microsoft.com/office/drawing/2014/main" id="{89E0D916-D276-49D9-B148-0066A35378A3}"/>
              </a:ext>
            </a:extLst>
          </p:cNvPr>
          <p:cNvSpPr>
            <a:spLocks noGrp="1"/>
          </p:cNvSpPr>
          <p:nvPr/>
        </p:nvSpPr>
        <p:spPr>
          <a:xfrm>
            <a:off x="457200" y="3543300"/>
            <a:ext cx="1409700" cy="3238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45" name="td-text">
            <a:extLst>
              <a:ext uri="{FF2B5EF4-FFF2-40B4-BE49-F238E27FC236}">
                <a16:creationId xmlns:a16="http://schemas.microsoft.com/office/drawing/2014/main" id="{F0B81105-4BBE-4771-9B7E-92980A6FB494}"/>
              </a:ext>
            </a:extLst>
          </p:cNvPr>
          <p:cNvSpPr>
            <a:spLocks noGrp="1"/>
          </p:cNvSpPr>
          <p:nvPr/>
        </p:nvSpPr>
        <p:spPr>
          <a:xfrm>
            <a:off x="514350" y="354330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Peine P002</a:t>
            </a:r>
          </a:p>
        </p:txBody>
      </p:sp>
      <p:sp>
        <p:nvSpPr>
          <p:cNvPr id="46" name="td">
            <a:extLst>
              <a:ext uri="{FF2B5EF4-FFF2-40B4-BE49-F238E27FC236}">
                <a16:creationId xmlns:a16="http://schemas.microsoft.com/office/drawing/2014/main" id="{7B6C2C0D-1EC7-4A7A-8F34-CD2B8263AE13}"/>
              </a:ext>
            </a:extLst>
          </p:cNvPr>
          <p:cNvSpPr>
            <a:spLocks noGrp="1"/>
          </p:cNvSpPr>
          <p:nvPr/>
        </p:nvSpPr>
        <p:spPr>
          <a:xfrm>
            <a:off x="1866900" y="3543300"/>
            <a:ext cx="857250" cy="3238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47" name="td-text">
            <a:extLst>
              <a:ext uri="{FF2B5EF4-FFF2-40B4-BE49-F238E27FC236}">
                <a16:creationId xmlns:a16="http://schemas.microsoft.com/office/drawing/2014/main" id="{C0A649BB-BC61-40A8-B33F-D5D085EF5B04}"/>
              </a:ext>
            </a:extLst>
          </p:cNvPr>
          <p:cNvSpPr>
            <a:spLocks noGrp="1"/>
          </p:cNvSpPr>
          <p:nvPr/>
        </p:nvSpPr>
        <p:spPr>
          <a:xfrm>
            <a:off x="1924050" y="354330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35</a:t>
            </a:r>
          </a:p>
        </p:txBody>
      </p:sp>
      <p:sp>
        <p:nvSpPr>
          <p:cNvPr id="48" name="td">
            <a:extLst>
              <a:ext uri="{FF2B5EF4-FFF2-40B4-BE49-F238E27FC236}">
                <a16:creationId xmlns:a16="http://schemas.microsoft.com/office/drawing/2014/main" id="{3238BAB1-3E2C-4277-BFE2-93DD713888BB}"/>
              </a:ext>
            </a:extLst>
          </p:cNvPr>
          <p:cNvSpPr>
            <a:spLocks noGrp="1"/>
          </p:cNvSpPr>
          <p:nvPr/>
        </p:nvSpPr>
        <p:spPr>
          <a:xfrm>
            <a:off x="2724150" y="3543300"/>
            <a:ext cx="904875" cy="3238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49" name="td-text">
            <a:extLst>
              <a:ext uri="{FF2B5EF4-FFF2-40B4-BE49-F238E27FC236}">
                <a16:creationId xmlns:a16="http://schemas.microsoft.com/office/drawing/2014/main" id="{863A6DEA-B492-449A-B054-D7E6EEE619E7}"/>
              </a:ext>
            </a:extLst>
          </p:cNvPr>
          <p:cNvSpPr>
            <a:spLocks noGrp="1"/>
          </p:cNvSpPr>
          <p:nvPr/>
        </p:nvSpPr>
        <p:spPr>
          <a:xfrm>
            <a:off x="2781300" y="3543300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3</a:t>
            </a:r>
          </a:p>
        </p:txBody>
      </p:sp>
      <p:sp>
        <p:nvSpPr>
          <p:cNvPr id="50" name="td">
            <a:extLst>
              <a:ext uri="{FF2B5EF4-FFF2-40B4-BE49-F238E27FC236}">
                <a16:creationId xmlns:a16="http://schemas.microsoft.com/office/drawing/2014/main" id="{24F4F65D-B8C1-4093-9EEB-CEA208768FB5}"/>
              </a:ext>
            </a:extLst>
          </p:cNvPr>
          <p:cNvSpPr>
            <a:spLocks noGrp="1"/>
          </p:cNvSpPr>
          <p:nvPr/>
        </p:nvSpPr>
        <p:spPr>
          <a:xfrm>
            <a:off x="3629025" y="3543300"/>
            <a:ext cx="904875" cy="3238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51" name="td-text">
            <a:extLst>
              <a:ext uri="{FF2B5EF4-FFF2-40B4-BE49-F238E27FC236}">
                <a16:creationId xmlns:a16="http://schemas.microsoft.com/office/drawing/2014/main" id="{C6183870-BE1F-4A71-919E-8394CEC0DCA7}"/>
              </a:ext>
            </a:extLst>
          </p:cNvPr>
          <p:cNvSpPr>
            <a:spLocks noGrp="1"/>
          </p:cNvSpPr>
          <p:nvPr/>
        </p:nvSpPr>
        <p:spPr>
          <a:xfrm>
            <a:off x="3686175" y="3543300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13</a:t>
            </a:r>
          </a:p>
        </p:txBody>
      </p:sp>
      <p:sp>
        <p:nvSpPr>
          <p:cNvPr id="52" name="td">
            <a:extLst>
              <a:ext uri="{FF2B5EF4-FFF2-40B4-BE49-F238E27FC236}">
                <a16:creationId xmlns:a16="http://schemas.microsoft.com/office/drawing/2014/main" id="{6FF043A8-043B-4264-BB06-3932DAD945E6}"/>
              </a:ext>
            </a:extLst>
          </p:cNvPr>
          <p:cNvSpPr>
            <a:spLocks noGrp="1"/>
          </p:cNvSpPr>
          <p:nvPr/>
        </p:nvSpPr>
        <p:spPr>
          <a:xfrm>
            <a:off x="4533900" y="3543300"/>
            <a:ext cx="1047750" cy="3238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53" name="td-text">
            <a:extLst>
              <a:ext uri="{FF2B5EF4-FFF2-40B4-BE49-F238E27FC236}">
                <a16:creationId xmlns:a16="http://schemas.microsoft.com/office/drawing/2014/main" id="{CC96ED2B-0AE7-451A-9F09-C23C22C5772E}"/>
              </a:ext>
            </a:extLst>
          </p:cNvPr>
          <p:cNvSpPr>
            <a:spLocks noGrp="1"/>
          </p:cNvSpPr>
          <p:nvPr/>
        </p:nvSpPr>
        <p:spPr>
          <a:xfrm>
            <a:off x="4591050" y="354330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0.43</a:t>
            </a:r>
          </a:p>
        </p:txBody>
      </p:sp>
      <p:sp>
        <p:nvSpPr>
          <p:cNvPr id="54" name="td">
            <a:extLst>
              <a:ext uri="{FF2B5EF4-FFF2-40B4-BE49-F238E27FC236}">
                <a16:creationId xmlns:a16="http://schemas.microsoft.com/office/drawing/2014/main" id="{F10BBC95-49FF-475B-9F6E-2D761EFD1548}"/>
              </a:ext>
            </a:extLst>
          </p:cNvPr>
          <p:cNvSpPr>
            <a:spLocks noGrp="1"/>
          </p:cNvSpPr>
          <p:nvPr/>
        </p:nvSpPr>
        <p:spPr>
          <a:xfrm>
            <a:off x="5581650" y="3543300"/>
            <a:ext cx="1104900" cy="3238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55" name="td-text">
            <a:extLst>
              <a:ext uri="{FF2B5EF4-FFF2-40B4-BE49-F238E27FC236}">
                <a16:creationId xmlns:a16="http://schemas.microsoft.com/office/drawing/2014/main" id="{2451165C-C1C8-4783-8B5B-EFBFC5B22B22}"/>
              </a:ext>
            </a:extLst>
          </p:cNvPr>
          <p:cNvSpPr>
            <a:spLocks noGrp="1"/>
          </p:cNvSpPr>
          <p:nvPr/>
        </p:nvSpPr>
        <p:spPr>
          <a:xfrm>
            <a:off x="5638800" y="3543300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81</a:t>
            </a:r>
          </a:p>
        </p:txBody>
      </p:sp>
      <p:sp>
        <p:nvSpPr>
          <p:cNvPr id="56" name="td">
            <a:extLst>
              <a:ext uri="{FF2B5EF4-FFF2-40B4-BE49-F238E27FC236}">
                <a16:creationId xmlns:a16="http://schemas.microsoft.com/office/drawing/2014/main" id="{DC2A9BD5-7A3C-46BE-BC39-D681B927CC0F}"/>
              </a:ext>
            </a:extLst>
          </p:cNvPr>
          <p:cNvSpPr>
            <a:spLocks noGrp="1"/>
          </p:cNvSpPr>
          <p:nvPr/>
        </p:nvSpPr>
        <p:spPr>
          <a:xfrm>
            <a:off x="6686550" y="3543300"/>
            <a:ext cx="1238250" cy="3238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57" name="td-text">
            <a:extLst>
              <a:ext uri="{FF2B5EF4-FFF2-40B4-BE49-F238E27FC236}">
                <a16:creationId xmlns:a16="http://schemas.microsoft.com/office/drawing/2014/main" id="{BDF32078-E2CE-438E-8C67-BAB39C92ABFA}"/>
              </a:ext>
            </a:extLst>
          </p:cNvPr>
          <p:cNvSpPr>
            <a:spLocks noGrp="1"/>
          </p:cNvSpPr>
          <p:nvPr/>
        </p:nvSpPr>
        <p:spPr>
          <a:xfrm>
            <a:off x="6743700" y="354330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BAJO</a:t>
            </a:r>
          </a:p>
        </p:txBody>
      </p:sp>
      <p:sp>
        <p:nvSpPr>
          <p:cNvPr id="58" name="td">
            <a:extLst>
              <a:ext uri="{FF2B5EF4-FFF2-40B4-BE49-F238E27FC236}">
                <a16:creationId xmlns:a16="http://schemas.microsoft.com/office/drawing/2014/main" id="{A814543C-C81C-4B6A-A20D-1A3C4DCEE27E}"/>
              </a:ext>
            </a:extLst>
          </p:cNvPr>
          <p:cNvSpPr>
            <a:spLocks noGrp="1"/>
          </p:cNvSpPr>
          <p:nvPr/>
        </p:nvSpPr>
        <p:spPr>
          <a:xfrm>
            <a:off x="457200" y="3867150"/>
            <a:ext cx="14097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59" name="td-text">
            <a:extLst>
              <a:ext uri="{FF2B5EF4-FFF2-40B4-BE49-F238E27FC236}">
                <a16:creationId xmlns:a16="http://schemas.microsoft.com/office/drawing/2014/main" id="{F4E881C1-24EC-428B-A783-F4249FB6BD42}"/>
              </a:ext>
            </a:extLst>
          </p:cNvPr>
          <p:cNvSpPr>
            <a:spLocks noGrp="1"/>
          </p:cNvSpPr>
          <p:nvPr/>
        </p:nvSpPr>
        <p:spPr>
          <a:xfrm>
            <a:off x="514350" y="386715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Máquina P003</a:t>
            </a:r>
          </a:p>
        </p:txBody>
      </p:sp>
      <p:sp>
        <p:nvSpPr>
          <p:cNvPr id="60" name="td">
            <a:extLst>
              <a:ext uri="{FF2B5EF4-FFF2-40B4-BE49-F238E27FC236}">
                <a16:creationId xmlns:a16="http://schemas.microsoft.com/office/drawing/2014/main" id="{6B2F2F82-CEB8-48BC-81A8-08AAA2AF7785}"/>
              </a:ext>
            </a:extLst>
          </p:cNvPr>
          <p:cNvSpPr>
            <a:spLocks noGrp="1"/>
          </p:cNvSpPr>
          <p:nvPr/>
        </p:nvSpPr>
        <p:spPr>
          <a:xfrm>
            <a:off x="1866900" y="3867150"/>
            <a:ext cx="857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61" name="td-text">
            <a:extLst>
              <a:ext uri="{FF2B5EF4-FFF2-40B4-BE49-F238E27FC236}">
                <a16:creationId xmlns:a16="http://schemas.microsoft.com/office/drawing/2014/main" id="{6BA11037-6145-40F2-B2B2-17FA02957075}"/>
              </a:ext>
            </a:extLst>
          </p:cNvPr>
          <p:cNvSpPr>
            <a:spLocks noGrp="1"/>
          </p:cNvSpPr>
          <p:nvPr/>
        </p:nvSpPr>
        <p:spPr>
          <a:xfrm>
            <a:off x="1924050" y="386715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18</a:t>
            </a:r>
          </a:p>
        </p:txBody>
      </p:sp>
      <p:sp>
        <p:nvSpPr>
          <p:cNvPr id="62" name="td">
            <a:extLst>
              <a:ext uri="{FF2B5EF4-FFF2-40B4-BE49-F238E27FC236}">
                <a16:creationId xmlns:a16="http://schemas.microsoft.com/office/drawing/2014/main" id="{C7F3F769-28A2-48F2-B093-36353F179AD2}"/>
              </a:ext>
            </a:extLst>
          </p:cNvPr>
          <p:cNvSpPr>
            <a:spLocks noGrp="1"/>
          </p:cNvSpPr>
          <p:nvPr/>
        </p:nvSpPr>
        <p:spPr>
          <a:xfrm>
            <a:off x="2724150" y="3867150"/>
            <a:ext cx="904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63" name="td-text">
            <a:extLst>
              <a:ext uri="{FF2B5EF4-FFF2-40B4-BE49-F238E27FC236}">
                <a16:creationId xmlns:a16="http://schemas.microsoft.com/office/drawing/2014/main" id="{5357D4B5-43BD-4271-8954-FC356F235E12}"/>
              </a:ext>
            </a:extLst>
          </p:cNvPr>
          <p:cNvSpPr>
            <a:spLocks noGrp="1"/>
          </p:cNvSpPr>
          <p:nvPr/>
        </p:nvSpPr>
        <p:spPr>
          <a:xfrm>
            <a:off x="2781300" y="3867150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5</a:t>
            </a:r>
          </a:p>
        </p:txBody>
      </p:sp>
      <p:sp>
        <p:nvSpPr>
          <p:cNvPr id="64" name="td">
            <a:extLst>
              <a:ext uri="{FF2B5EF4-FFF2-40B4-BE49-F238E27FC236}">
                <a16:creationId xmlns:a16="http://schemas.microsoft.com/office/drawing/2014/main" id="{A4181556-B30C-46F6-AB54-C69D1C77DC9E}"/>
              </a:ext>
            </a:extLst>
          </p:cNvPr>
          <p:cNvSpPr>
            <a:spLocks noGrp="1"/>
          </p:cNvSpPr>
          <p:nvPr/>
        </p:nvSpPr>
        <p:spPr>
          <a:xfrm>
            <a:off x="3629025" y="3867150"/>
            <a:ext cx="904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65" name="td-text">
            <a:extLst>
              <a:ext uri="{FF2B5EF4-FFF2-40B4-BE49-F238E27FC236}">
                <a16:creationId xmlns:a16="http://schemas.microsoft.com/office/drawing/2014/main" id="{4FD7BCC4-8DFD-4EB1-8452-95515621109B}"/>
              </a:ext>
            </a:extLst>
          </p:cNvPr>
          <p:cNvSpPr>
            <a:spLocks noGrp="1"/>
          </p:cNvSpPr>
          <p:nvPr/>
        </p:nvSpPr>
        <p:spPr>
          <a:xfrm>
            <a:off x="3686175" y="3867150"/>
            <a:ext cx="790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24</a:t>
            </a:r>
          </a:p>
        </p:txBody>
      </p:sp>
      <p:sp>
        <p:nvSpPr>
          <p:cNvPr id="66" name="td">
            <a:extLst>
              <a:ext uri="{FF2B5EF4-FFF2-40B4-BE49-F238E27FC236}">
                <a16:creationId xmlns:a16="http://schemas.microsoft.com/office/drawing/2014/main" id="{12E8FC01-C33E-4A0E-A6D8-2974C088F6F3}"/>
              </a:ext>
            </a:extLst>
          </p:cNvPr>
          <p:cNvSpPr>
            <a:spLocks noGrp="1"/>
          </p:cNvSpPr>
          <p:nvPr/>
        </p:nvSpPr>
        <p:spPr>
          <a:xfrm>
            <a:off x="4533900" y="3867150"/>
            <a:ext cx="1047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67" name="td-text">
            <a:extLst>
              <a:ext uri="{FF2B5EF4-FFF2-40B4-BE49-F238E27FC236}">
                <a16:creationId xmlns:a16="http://schemas.microsoft.com/office/drawing/2014/main" id="{8E3BB6E3-F72C-4E24-BCCE-403092A6A6CD}"/>
              </a:ext>
            </a:extLst>
          </p:cNvPr>
          <p:cNvSpPr>
            <a:spLocks noGrp="1"/>
          </p:cNvSpPr>
          <p:nvPr/>
        </p:nvSpPr>
        <p:spPr>
          <a:xfrm>
            <a:off x="4591050" y="386715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0.80</a:t>
            </a:r>
          </a:p>
        </p:txBody>
      </p:sp>
      <p:sp>
        <p:nvSpPr>
          <p:cNvPr id="68" name="td">
            <a:extLst>
              <a:ext uri="{FF2B5EF4-FFF2-40B4-BE49-F238E27FC236}">
                <a16:creationId xmlns:a16="http://schemas.microsoft.com/office/drawing/2014/main" id="{ADCD827F-A63F-466A-8D2B-B1F0C430DC57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11049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69" name="td-text">
            <a:extLst>
              <a:ext uri="{FF2B5EF4-FFF2-40B4-BE49-F238E27FC236}">
                <a16:creationId xmlns:a16="http://schemas.microsoft.com/office/drawing/2014/main" id="{268193EA-C7BA-4820-AFB1-FDF9FEF3E1CA}"/>
              </a:ext>
            </a:extLst>
          </p:cNvPr>
          <p:cNvSpPr>
            <a:spLocks noGrp="1"/>
          </p:cNvSpPr>
          <p:nvPr/>
        </p:nvSpPr>
        <p:spPr>
          <a:xfrm>
            <a:off x="5638800" y="3867150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23</a:t>
            </a:r>
          </a:p>
        </p:txBody>
      </p:sp>
      <p:sp>
        <p:nvSpPr>
          <p:cNvPr id="70" name="td">
            <a:extLst>
              <a:ext uri="{FF2B5EF4-FFF2-40B4-BE49-F238E27FC236}">
                <a16:creationId xmlns:a16="http://schemas.microsoft.com/office/drawing/2014/main" id="{20FD283C-CC11-42EA-BDDB-20CCD42538F0}"/>
              </a:ext>
            </a:extLst>
          </p:cNvPr>
          <p:cNvSpPr>
            <a:spLocks noGrp="1"/>
          </p:cNvSpPr>
          <p:nvPr/>
        </p:nvSpPr>
        <p:spPr>
          <a:xfrm>
            <a:off x="6686550" y="3867150"/>
            <a:ext cx="1238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71" name="td-text">
            <a:extLst>
              <a:ext uri="{FF2B5EF4-FFF2-40B4-BE49-F238E27FC236}">
                <a16:creationId xmlns:a16="http://schemas.microsoft.com/office/drawing/2014/main" id="{24B34CEA-F97A-49E0-9E67-5A62D8A11198}"/>
              </a:ext>
            </a:extLst>
          </p:cNvPr>
          <p:cNvSpPr>
            <a:spLocks noGrp="1"/>
          </p:cNvSpPr>
          <p:nvPr/>
        </p:nvSpPr>
        <p:spPr>
          <a:xfrm>
            <a:off x="6743700" y="386715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MEDIO</a:t>
            </a:r>
          </a:p>
        </p:txBody>
      </p:sp>
      <p:sp>
        <p:nvSpPr>
          <p:cNvPr id="72" name="utility">
            <a:extLst>
              <a:ext uri="{FF2B5EF4-FFF2-40B4-BE49-F238E27FC236}">
                <a16:creationId xmlns:a16="http://schemas.microsoft.com/office/drawing/2014/main" id="{DA7C838F-2285-48DD-B51D-28CD097B2A61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952750" cy="171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73" name="utility-title">
            <a:extLst>
              <a:ext uri="{FF2B5EF4-FFF2-40B4-BE49-F238E27FC236}">
                <a16:creationId xmlns:a16="http://schemas.microsoft.com/office/drawing/2014/main" id="{025F81C0-13A8-4606-A7F3-B9E57FC97B0B}"/>
              </a:ext>
            </a:extLst>
          </p:cNvPr>
          <p:cNvSpPr>
            <a:spLocks noGrp="1"/>
          </p:cNvSpPr>
          <p:nvPr/>
        </p:nvSpPr>
        <p:spPr>
          <a:xfrm>
            <a:off x="8972550" y="28956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315DBF"/>
                </a:solidFill>
              </a:defRPr>
            </a:pPr>
            <a:r>
              <a:rPr sz="1400" b="1">
                <a:solidFill>
                  <a:srgbClr val="315DBF"/>
                </a:solidFill>
              </a:rPr>
              <a:t>¿Para qué sirve?</a:t>
            </a:r>
          </a:p>
        </p:txBody>
      </p:sp>
      <p:sp>
        <p:nvSpPr>
          <p:cNvPr id="74" name="utility-body">
            <a:extLst>
              <a:ext uri="{FF2B5EF4-FFF2-40B4-BE49-F238E27FC236}">
                <a16:creationId xmlns:a16="http://schemas.microsoft.com/office/drawing/2014/main" id="{AB38FA65-5838-4669-A156-4ECC3DEEC1C8}"/>
              </a:ext>
            </a:extLst>
          </p:cNvPr>
          <p:cNvSpPr>
            <a:spLocks noGrp="1"/>
          </p:cNvSpPr>
          <p:nvPr/>
        </p:nvSpPr>
        <p:spPr>
          <a:xfrm>
            <a:off x="8972550" y="3238500"/>
            <a:ext cx="2476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• Priorizar compras</a:t>
            </a:r>
          </a:p>
          <a:p>
            <a:pPr algn="l">
              <a:defRPr sz="1125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• Evitar productos agotados</a:t>
            </a:r>
          </a:p>
          <a:p>
            <a:pPr algn="l">
              <a:defRPr sz="1125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• Reducir sobreinventario</a:t>
            </a:r>
          </a:p>
          <a:p>
            <a:pPr algn="l">
              <a:defRPr sz="1125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• Alertar al administrador</a:t>
            </a:r>
          </a:p>
        </p:txBody>
      </p:sp>
      <p:sp>
        <p:nvSpPr>
          <p:cNvPr id="75" name="method-note">
            <a:extLst>
              <a:ext uri="{FF2B5EF4-FFF2-40B4-BE49-F238E27FC236}">
                <a16:creationId xmlns:a16="http://schemas.microsoft.com/office/drawing/2014/main" id="{0D08DBAC-5650-46AE-81DD-8338C273B3CC}"/>
              </a:ext>
            </a:extLst>
          </p:cNvPr>
          <p:cNvSpPr>
            <a:spLocks noGrp="1"/>
          </p:cNvSpPr>
          <p:nvPr/>
        </p:nvSpPr>
        <p:spPr>
          <a:xfrm>
            <a:off x="457200" y="4610100"/>
            <a:ext cx="11277600" cy="1066800"/>
          </a:xfrm>
          <a:prstGeom prst="roundRect">
            <a:avLst>
              <a:gd name="adj" fmla="val 5357"/>
            </a:avLst>
          </a:prstGeom>
          <a:solidFill>
            <a:srgbClr val="DCE5FA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76" name="method-title">
            <a:extLst>
              <a:ext uri="{FF2B5EF4-FFF2-40B4-BE49-F238E27FC236}">
                <a16:creationId xmlns:a16="http://schemas.microsoft.com/office/drawing/2014/main" id="{A7719101-DF46-4B4B-9E13-76F07172A72A}"/>
              </a:ext>
            </a:extLst>
          </p:cNvPr>
          <p:cNvSpPr>
            <a:spLocks noGrp="1"/>
          </p:cNvSpPr>
          <p:nvPr/>
        </p:nvSpPr>
        <p:spPr>
          <a:xfrm>
            <a:off x="647700" y="47625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15DBF"/>
                </a:solidFill>
              </a:defRPr>
            </a:pPr>
            <a:r>
              <a:rPr sz="1200" b="1">
                <a:solidFill>
                  <a:srgbClr val="315DBF"/>
                </a:solidFill>
              </a:rPr>
              <a:t>Cómo se etiquetan las clases</a:t>
            </a:r>
          </a:p>
        </p:txBody>
      </p:sp>
      <p:sp>
        <p:nvSpPr>
          <p:cNvPr id="77" name="method-body">
            <a:extLst>
              <a:ext uri="{FF2B5EF4-FFF2-40B4-BE49-F238E27FC236}">
                <a16:creationId xmlns:a16="http://schemas.microsoft.com/office/drawing/2014/main" id="{2C4C0D16-A2BA-4857-8EC2-63B94145683B}"/>
              </a:ext>
            </a:extLst>
          </p:cNvPr>
          <p:cNvSpPr>
            <a:spLocks noGrp="1"/>
          </p:cNvSpPr>
          <p:nvPr/>
        </p:nvSpPr>
        <p:spPr>
          <a:xfrm>
            <a:off x="647700" y="50292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0252D"/>
                </a:solidFill>
              </a:defRPr>
            </a:pPr>
            <a:r>
              <a:rPr sz="1200" b="0" dirty="0">
                <a:solidFill>
                  <a:srgbClr val="20252D"/>
                </a:solidFill>
              </a:rPr>
              <a:t>ALTO: </a:t>
            </a:r>
            <a:r>
              <a:rPr sz="1200" b="0" dirty="0" err="1">
                <a:solidFill>
                  <a:srgbClr val="20252D"/>
                </a:solidFill>
              </a:rPr>
              <a:t>cobertura</a:t>
            </a:r>
            <a:r>
              <a:rPr sz="1200" b="0" dirty="0">
                <a:solidFill>
                  <a:srgbClr val="20252D"/>
                </a:solidFill>
              </a:rPr>
              <a:t> ≤ 7 días   ·   MEDIO: 8–30 días   ·   BAJO: &gt; 30 días. </a:t>
            </a:r>
          </a:p>
        </p:txBody>
      </p:sp>
      <p:sp>
        <p:nvSpPr>
          <p:cNvPr id="78" name="example-note">
            <a:extLst>
              <a:ext uri="{FF2B5EF4-FFF2-40B4-BE49-F238E27FC236}">
                <a16:creationId xmlns:a16="http://schemas.microsoft.com/office/drawing/2014/main" id="{282E11E2-D47E-49F0-A08F-C2066ECCC128}"/>
              </a:ext>
            </a:extLst>
          </p:cNvPr>
          <p:cNvSpPr>
            <a:spLocks noGrp="1"/>
          </p:cNvSpPr>
          <p:nvPr/>
        </p:nvSpPr>
        <p:spPr>
          <a:xfrm>
            <a:off x="457200" y="59817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Valores de ejemplo para mostrar la estructura del dataset.</a:t>
            </a:r>
          </a:p>
        </p:txBody>
      </p:sp>
    </p:spTree>
    <p:extLst>
      <p:ext uri="{BB962C8B-B14F-4D97-AF65-F5344CB8AC3E}">
        <p14:creationId xmlns:p14="http://schemas.microsoft.com/office/powerpoint/2010/main" val="1408336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kicker">
            <a:extLst>
              <a:ext uri="{FF2B5EF4-FFF2-40B4-BE49-F238E27FC236}">
                <a16:creationId xmlns:a16="http://schemas.microsoft.com/office/drawing/2014/main" id="{B4B36458-3F51-44B1-9827-F9A1202BF27C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315DBF"/>
                </a:solidFill>
              </a:defRPr>
            </a:pPr>
            <a:r>
              <a:rPr sz="900" b="1">
                <a:solidFill>
                  <a:srgbClr val="315DBF"/>
                </a:solidFill>
              </a:rPr>
              <a:t>PROPUESTA 2 · REGRESIÓN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1C7AF3C-7C3B-4606-B05D-780E59DFD002}"/>
              </a:ext>
            </a:extLst>
          </p:cNvPr>
          <p:cNvSpPr>
            <a:spLocks noGrp="1"/>
          </p:cNvSpPr>
          <p:nvPr/>
        </p:nvSpPr>
        <p:spPr>
          <a:xfrm>
            <a:off x="457200" y="495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315DBF"/>
                </a:solidFill>
              </a:defRPr>
            </a:pPr>
            <a:r>
              <a:rPr sz="2250" b="1">
                <a:solidFill>
                  <a:srgbClr val="315DBF"/>
                </a:solidFill>
              </a:rPr>
              <a:t>Predecir la demanda convierte ventas históricas en compras planeadas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1B5EC4-A866-4B27-86FF-1EA1DC33A8A3}"/>
              </a:ext>
            </a:extLst>
          </p:cNvPr>
          <p:cNvSpPr>
            <a:spLocks noGrp="1"/>
          </p:cNvSpPr>
          <p:nvPr/>
        </p:nvSpPr>
        <p:spPr>
          <a:xfrm>
            <a:off x="11449050" y="64960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  <p:sp>
        <p:nvSpPr>
          <p:cNvPr id="4" name="source-box">
            <a:extLst>
              <a:ext uri="{FF2B5EF4-FFF2-40B4-BE49-F238E27FC236}">
                <a16:creationId xmlns:a16="http://schemas.microsoft.com/office/drawing/2014/main" id="{4AD28E13-72F1-453A-BF2F-B906463A5FD0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2381250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5" name="source-label">
            <a:extLst>
              <a:ext uri="{FF2B5EF4-FFF2-40B4-BE49-F238E27FC236}">
                <a16:creationId xmlns:a16="http://schemas.microsoft.com/office/drawing/2014/main" id="{FCA4BBE1-FF5E-4AA1-BBF2-5BF3C90179F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315DBF"/>
                </a:solidFill>
              </a:defRPr>
            </a:pPr>
            <a:r>
              <a:rPr sz="1400" b="1">
                <a:solidFill>
                  <a:srgbClr val="315DBF"/>
                </a:solidFill>
              </a:rPr>
              <a:t>COLECCIONES</a:t>
            </a:r>
          </a:p>
        </p:txBody>
      </p:sp>
      <p:sp>
        <p:nvSpPr>
          <p:cNvPr id="6" name="sources">
            <a:extLst>
              <a:ext uri="{FF2B5EF4-FFF2-40B4-BE49-F238E27FC236}">
                <a16:creationId xmlns:a16="http://schemas.microsoft.com/office/drawing/2014/main" id="{BD7D7399-D7E4-4897-A97F-3D10F79B2AAE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200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pedidos</a:t>
            </a:r>
          </a:p>
          <a:p>
            <a:pPr algn="l">
              <a:defRPr sz="1050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productos</a:t>
            </a:r>
          </a:p>
          <a:p>
            <a:pPr algn="l">
              <a:defRPr sz="1050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ofertas</a:t>
            </a:r>
          </a:p>
        </p:txBody>
      </p:sp>
      <p:sp>
        <p:nvSpPr>
          <p:cNvPr id="7" name="flow-arrow">
            <a:extLst>
              <a:ext uri="{FF2B5EF4-FFF2-40B4-BE49-F238E27FC236}">
                <a16:creationId xmlns:a16="http://schemas.microsoft.com/office/drawing/2014/main" id="{42C88C04-75C5-4C70-A118-011C9B0F3F16}"/>
              </a:ext>
            </a:extLst>
          </p:cNvPr>
          <p:cNvSpPr>
            <a:spLocks noGrp="1"/>
          </p:cNvSpPr>
          <p:nvPr/>
        </p:nvSpPr>
        <p:spPr>
          <a:xfrm>
            <a:off x="2952750" y="1695450"/>
            <a:ext cx="400050" cy="209550"/>
          </a:xfrm>
          <a:prstGeom prst="rightArrow">
            <a:avLst/>
          </a:prstGeom>
          <a:solidFill>
            <a:srgbClr val="315DBF"/>
          </a:solidFill>
          <a:ln w="0">
            <a:solidFill>
              <a:srgbClr val="315DBF"/>
            </a:solidFill>
            <a:prstDash val="solid"/>
          </a:ln>
        </p:spPr>
      </p:sp>
      <p:sp>
        <p:nvSpPr>
          <p:cNvPr id="8" name="transform-box">
            <a:extLst>
              <a:ext uri="{FF2B5EF4-FFF2-40B4-BE49-F238E27FC236}">
                <a16:creationId xmlns:a16="http://schemas.microsoft.com/office/drawing/2014/main" id="{4A1CDE05-FC62-4BD8-BB35-0910FD002742}"/>
              </a:ext>
            </a:extLst>
          </p:cNvPr>
          <p:cNvSpPr>
            <a:spLocks noGrp="1"/>
          </p:cNvSpPr>
          <p:nvPr/>
        </p:nvSpPr>
        <p:spPr>
          <a:xfrm>
            <a:off x="3467100" y="1257300"/>
            <a:ext cx="3238500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9" name="transform-label">
            <a:extLst>
              <a:ext uri="{FF2B5EF4-FFF2-40B4-BE49-F238E27FC236}">
                <a16:creationId xmlns:a16="http://schemas.microsoft.com/office/drawing/2014/main" id="{D1AC9BA6-D3EB-40EC-915E-5DBCB1C1DA6B}"/>
              </a:ext>
            </a:extLst>
          </p:cNvPr>
          <p:cNvSpPr>
            <a:spLocks noGrp="1"/>
          </p:cNvSpPr>
          <p:nvPr/>
        </p:nvSpPr>
        <p:spPr>
          <a:xfrm>
            <a:off x="3619500" y="13525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315DBF"/>
                </a:solidFill>
              </a:defRPr>
            </a:pPr>
            <a:r>
              <a:rPr sz="1400" b="1">
                <a:solidFill>
                  <a:srgbClr val="315DBF"/>
                </a:solidFill>
              </a:rPr>
              <a:t>TRANSFORMACIÓN</a:t>
            </a:r>
          </a:p>
        </p:txBody>
      </p:sp>
      <p:sp>
        <p:nvSpPr>
          <p:cNvPr id="10" name="transform">
            <a:extLst>
              <a:ext uri="{FF2B5EF4-FFF2-40B4-BE49-F238E27FC236}">
                <a16:creationId xmlns:a16="http://schemas.microsoft.com/office/drawing/2014/main" id="{E966F9D9-CF4D-47BE-8DBC-40DA55CE0E8A}"/>
              </a:ext>
            </a:extLst>
          </p:cNvPr>
          <p:cNvSpPr>
            <a:spLocks noGrp="1"/>
          </p:cNvSpPr>
          <p:nvPr/>
        </p:nvSpPr>
        <p:spPr>
          <a:xfrm>
            <a:off x="3619500" y="1581150"/>
            <a:ext cx="2933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Pedidos pagados/entregados → una fila por producto y semana → sumar unidades → crear rezagos y variables de precio, oferta y calendario.</a:t>
            </a:r>
          </a:p>
        </p:txBody>
      </p:sp>
      <p:sp>
        <p:nvSpPr>
          <p:cNvPr id="11" name="flow-arrow">
            <a:extLst>
              <a:ext uri="{FF2B5EF4-FFF2-40B4-BE49-F238E27FC236}">
                <a16:creationId xmlns:a16="http://schemas.microsoft.com/office/drawing/2014/main" id="{21C52977-425E-4E98-8239-7414A1B4A887}"/>
              </a:ext>
            </a:extLst>
          </p:cNvPr>
          <p:cNvSpPr>
            <a:spLocks noGrp="1"/>
          </p:cNvSpPr>
          <p:nvPr/>
        </p:nvSpPr>
        <p:spPr>
          <a:xfrm>
            <a:off x="6819900" y="1695450"/>
            <a:ext cx="400050" cy="209550"/>
          </a:xfrm>
          <a:prstGeom prst="rightArrow">
            <a:avLst/>
          </a:prstGeom>
          <a:solidFill>
            <a:srgbClr val="315DBF"/>
          </a:solidFill>
          <a:ln w="0">
            <a:solidFill>
              <a:srgbClr val="315DBF"/>
            </a:solidFill>
            <a:prstDash val="solid"/>
          </a:ln>
        </p:spPr>
      </p:sp>
      <p:sp>
        <p:nvSpPr>
          <p:cNvPr id="12" name="target-box">
            <a:extLst>
              <a:ext uri="{FF2B5EF4-FFF2-40B4-BE49-F238E27FC236}">
                <a16:creationId xmlns:a16="http://schemas.microsoft.com/office/drawing/2014/main" id="{45622226-CC90-40A3-AC39-A2FBC5776A22}"/>
              </a:ext>
            </a:extLst>
          </p:cNvPr>
          <p:cNvSpPr>
            <a:spLocks noGrp="1"/>
          </p:cNvSpPr>
          <p:nvPr/>
        </p:nvSpPr>
        <p:spPr>
          <a:xfrm>
            <a:off x="7334250" y="1257300"/>
            <a:ext cx="4400550" cy="1104900"/>
          </a:xfrm>
          <a:prstGeom prst="roundRect">
            <a:avLst>
              <a:gd name="adj" fmla="val 5172"/>
            </a:avLst>
          </a:prstGeom>
          <a:solidFill>
            <a:srgbClr val="DCE5FA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13" name="target-label">
            <a:extLst>
              <a:ext uri="{FF2B5EF4-FFF2-40B4-BE49-F238E27FC236}">
                <a16:creationId xmlns:a16="http://schemas.microsoft.com/office/drawing/2014/main" id="{DF9B3E3B-4F59-441C-B6B6-E00BAE2DDF3E}"/>
              </a:ext>
            </a:extLst>
          </p:cNvPr>
          <p:cNvSpPr>
            <a:spLocks noGrp="1"/>
          </p:cNvSpPr>
          <p:nvPr/>
        </p:nvSpPr>
        <p:spPr>
          <a:xfrm>
            <a:off x="7486650" y="13525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315DBF"/>
                </a:solidFill>
              </a:defRPr>
            </a:pPr>
            <a:r>
              <a:rPr sz="1400" b="1">
                <a:solidFill>
                  <a:srgbClr val="315DBF"/>
                </a:solidFill>
              </a:rPr>
              <a:t>VARIABLE / RESULTADO</a:t>
            </a:r>
          </a:p>
        </p:txBody>
      </p:sp>
      <p:sp>
        <p:nvSpPr>
          <p:cNvPr id="14" name="target">
            <a:extLst>
              <a:ext uri="{FF2B5EF4-FFF2-40B4-BE49-F238E27FC236}">
                <a16:creationId xmlns:a16="http://schemas.microsoft.com/office/drawing/2014/main" id="{D5DB7982-2A83-470B-88DF-1211F5AF2E26}"/>
              </a:ext>
            </a:extLst>
          </p:cNvPr>
          <p:cNvSpPr>
            <a:spLocks noGrp="1"/>
          </p:cNvSpPr>
          <p:nvPr/>
        </p:nvSpPr>
        <p:spPr>
          <a:xfrm>
            <a:off x="7486650" y="158115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252D"/>
                </a:solidFill>
              </a:defRPr>
            </a:pPr>
            <a:r>
              <a:rPr sz="1400" b="1">
                <a:solidFill>
                  <a:srgbClr val="20252D"/>
                </a:solidFill>
              </a:rPr>
              <a:t>Valor continuo: unidades_siguientes_30d</a:t>
            </a:r>
          </a:p>
        </p:txBody>
      </p:sp>
      <p:sp>
        <p:nvSpPr>
          <p:cNvPr id="15" name="dataset-title">
            <a:extLst>
              <a:ext uri="{FF2B5EF4-FFF2-40B4-BE49-F238E27FC236}">
                <a16:creationId xmlns:a16="http://schemas.microsoft.com/office/drawing/2014/main" id="{4EB8B979-392D-4638-9B32-9AC1BC47478B}"/>
              </a:ext>
            </a:extLst>
          </p:cNvPr>
          <p:cNvSpPr>
            <a:spLocks noGrp="1"/>
          </p:cNvSpPr>
          <p:nvPr/>
        </p:nvSpPr>
        <p:spPr>
          <a:xfrm>
            <a:off x="457200" y="26098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252D"/>
                </a:solidFill>
              </a:defRPr>
            </a:pPr>
            <a:r>
              <a:rPr sz="1200" b="1">
                <a:solidFill>
                  <a:srgbClr val="20252D"/>
                </a:solidFill>
              </a:rPr>
              <a:t>Dataset de regresión — una fila por producto y semana</a:t>
            </a:r>
          </a:p>
        </p:txBody>
      </p:sp>
      <p:sp>
        <p:nvSpPr>
          <p:cNvPr id="16" name="th">
            <a:extLst>
              <a:ext uri="{FF2B5EF4-FFF2-40B4-BE49-F238E27FC236}">
                <a16:creationId xmlns:a16="http://schemas.microsoft.com/office/drawing/2014/main" id="{9D5EECA9-14C5-4B71-80B7-8FE1173500F7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1143000" cy="3238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17" name="th-text">
            <a:extLst>
              <a:ext uri="{FF2B5EF4-FFF2-40B4-BE49-F238E27FC236}">
                <a16:creationId xmlns:a16="http://schemas.microsoft.com/office/drawing/2014/main" id="{3C4F61DB-B3C1-473F-B6E5-01A0AD0F3965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100" b="1">
                <a:solidFill>
                  <a:srgbClr val="FFFFFF"/>
                </a:solidFill>
              </a:rPr>
              <a:t>producto</a:t>
            </a:r>
          </a:p>
        </p:txBody>
      </p:sp>
      <p:sp>
        <p:nvSpPr>
          <p:cNvPr id="18" name="th">
            <a:extLst>
              <a:ext uri="{FF2B5EF4-FFF2-40B4-BE49-F238E27FC236}">
                <a16:creationId xmlns:a16="http://schemas.microsoft.com/office/drawing/2014/main" id="{33632D9A-04D8-47FA-81F1-623EB8648261}"/>
              </a:ext>
            </a:extLst>
          </p:cNvPr>
          <p:cNvSpPr>
            <a:spLocks noGrp="1"/>
          </p:cNvSpPr>
          <p:nvPr/>
        </p:nvSpPr>
        <p:spPr>
          <a:xfrm>
            <a:off x="1600200" y="2895600"/>
            <a:ext cx="666750" cy="3238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19" name="th-text">
            <a:extLst>
              <a:ext uri="{FF2B5EF4-FFF2-40B4-BE49-F238E27FC236}">
                <a16:creationId xmlns:a16="http://schemas.microsoft.com/office/drawing/2014/main" id="{1D7AE6CC-D83C-49AB-BF97-428B7AF08C34}"/>
              </a:ext>
            </a:extLst>
          </p:cNvPr>
          <p:cNvSpPr>
            <a:spLocks noGrp="1"/>
          </p:cNvSpPr>
          <p:nvPr/>
        </p:nvSpPr>
        <p:spPr>
          <a:xfrm>
            <a:off x="1657350" y="289560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100" b="1">
                <a:solidFill>
                  <a:srgbClr val="FFFFFF"/>
                </a:solidFill>
              </a:rPr>
              <a:t>semana</a:t>
            </a:r>
          </a:p>
        </p:txBody>
      </p:sp>
      <p:sp>
        <p:nvSpPr>
          <p:cNvPr id="20" name="th">
            <a:extLst>
              <a:ext uri="{FF2B5EF4-FFF2-40B4-BE49-F238E27FC236}">
                <a16:creationId xmlns:a16="http://schemas.microsoft.com/office/drawing/2014/main" id="{35627688-91AB-4DBA-824F-350A9EF8C0F4}"/>
              </a:ext>
            </a:extLst>
          </p:cNvPr>
          <p:cNvSpPr>
            <a:spLocks noGrp="1"/>
          </p:cNvSpPr>
          <p:nvPr/>
        </p:nvSpPr>
        <p:spPr>
          <a:xfrm>
            <a:off x="2266950" y="2895600"/>
            <a:ext cx="857250" cy="3238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21" name="th-text">
            <a:extLst>
              <a:ext uri="{FF2B5EF4-FFF2-40B4-BE49-F238E27FC236}">
                <a16:creationId xmlns:a16="http://schemas.microsoft.com/office/drawing/2014/main" id="{DB2570FF-B7E0-4BCF-8DFB-11BF17C302AF}"/>
              </a:ext>
            </a:extLst>
          </p:cNvPr>
          <p:cNvSpPr>
            <a:spLocks noGrp="1"/>
          </p:cNvSpPr>
          <p:nvPr/>
        </p:nvSpPr>
        <p:spPr>
          <a:xfrm>
            <a:off x="2324100" y="289560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100" b="1">
                <a:solidFill>
                  <a:srgbClr val="FFFFFF"/>
                </a:solidFill>
              </a:rPr>
              <a:t>precio</a:t>
            </a:r>
          </a:p>
        </p:txBody>
      </p:sp>
      <p:sp>
        <p:nvSpPr>
          <p:cNvPr id="22" name="th">
            <a:extLst>
              <a:ext uri="{FF2B5EF4-FFF2-40B4-BE49-F238E27FC236}">
                <a16:creationId xmlns:a16="http://schemas.microsoft.com/office/drawing/2014/main" id="{DC370128-A31A-4B0F-BDA5-4702D4D7B265}"/>
              </a:ext>
            </a:extLst>
          </p:cNvPr>
          <p:cNvSpPr>
            <a:spLocks noGrp="1"/>
          </p:cNvSpPr>
          <p:nvPr/>
        </p:nvSpPr>
        <p:spPr>
          <a:xfrm>
            <a:off x="3124200" y="2895600"/>
            <a:ext cx="857250" cy="3238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23" name="th-text">
            <a:extLst>
              <a:ext uri="{FF2B5EF4-FFF2-40B4-BE49-F238E27FC236}">
                <a16:creationId xmlns:a16="http://schemas.microsoft.com/office/drawing/2014/main" id="{D1C8570B-E037-489C-8ABE-0FDF857E4421}"/>
              </a:ext>
            </a:extLst>
          </p:cNvPr>
          <p:cNvSpPr>
            <a:spLocks noGrp="1"/>
          </p:cNvSpPr>
          <p:nvPr/>
        </p:nvSpPr>
        <p:spPr>
          <a:xfrm>
            <a:off x="3181350" y="289560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100" b="1" dirty="0" err="1">
                <a:solidFill>
                  <a:srgbClr val="FFFFFF"/>
                </a:solidFill>
              </a:rPr>
              <a:t>descuento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24" name="th">
            <a:extLst>
              <a:ext uri="{FF2B5EF4-FFF2-40B4-BE49-F238E27FC236}">
                <a16:creationId xmlns:a16="http://schemas.microsoft.com/office/drawing/2014/main" id="{09F1A429-3522-4BB1-82D4-0540850CC327}"/>
              </a:ext>
            </a:extLst>
          </p:cNvPr>
          <p:cNvSpPr>
            <a:spLocks noGrp="1"/>
          </p:cNvSpPr>
          <p:nvPr/>
        </p:nvSpPr>
        <p:spPr>
          <a:xfrm>
            <a:off x="3981450" y="2895600"/>
            <a:ext cx="1047750" cy="3238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25" name="th-text">
            <a:extLst>
              <a:ext uri="{FF2B5EF4-FFF2-40B4-BE49-F238E27FC236}">
                <a16:creationId xmlns:a16="http://schemas.microsoft.com/office/drawing/2014/main" id="{CCCC5040-EAEB-4D66-A075-074D7A5FA195}"/>
              </a:ext>
            </a:extLst>
          </p:cNvPr>
          <p:cNvSpPr>
            <a:spLocks noGrp="1"/>
          </p:cNvSpPr>
          <p:nvPr/>
        </p:nvSpPr>
        <p:spPr>
          <a:xfrm>
            <a:off x="4038600" y="289560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100" b="1" dirty="0" err="1">
                <a:solidFill>
                  <a:srgbClr val="FFFFFF"/>
                </a:solidFill>
              </a:rPr>
              <a:t>ventas</a:t>
            </a:r>
            <a:r>
              <a:rPr sz="1100" b="1" dirty="0">
                <a:solidFill>
                  <a:srgbClr val="FFFFFF"/>
                </a:solidFill>
              </a:rPr>
              <a:t> </a:t>
            </a:r>
            <a:r>
              <a:rPr lang="es-MX" sz="1100" b="1" dirty="0">
                <a:solidFill>
                  <a:srgbClr val="FFFFFF"/>
                </a:solidFill>
              </a:rPr>
              <a:t>previas</a:t>
            </a:r>
            <a:r>
              <a:rPr sz="1100" b="1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26" name="th">
            <a:extLst>
              <a:ext uri="{FF2B5EF4-FFF2-40B4-BE49-F238E27FC236}">
                <a16:creationId xmlns:a16="http://schemas.microsoft.com/office/drawing/2014/main" id="{CF523B3D-D647-4161-8938-C5D4223648B4}"/>
              </a:ext>
            </a:extLst>
          </p:cNvPr>
          <p:cNvSpPr>
            <a:spLocks noGrp="1"/>
          </p:cNvSpPr>
          <p:nvPr/>
        </p:nvSpPr>
        <p:spPr>
          <a:xfrm>
            <a:off x="5029200" y="2895600"/>
            <a:ext cx="1000125" cy="3238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27" name="th-text">
            <a:extLst>
              <a:ext uri="{FF2B5EF4-FFF2-40B4-BE49-F238E27FC236}">
                <a16:creationId xmlns:a16="http://schemas.microsoft.com/office/drawing/2014/main" id="{C9F1FD16-FC9A-4B39-A5FE-6CA4AEFDE889}"/>
              </a:ext>
            </a:extLst>
          </p:cNvPr>
          <p:cNvSpPr>
            <a:spLocks noGrp="1"/>
          </p:cNvSpPr>
          <p:nvPr/>
        </p:nvSpPr>
        <p:spPr>
          <a:xfrm>
            <a:off x="5086350" y="2895600"/>
            <a:ext cx="8858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lang="es-MX" sz="900" b="1" dirty="0">
                <a:solidFill>
                  <a:srgbClr val="FFFFFF"/>
                </a:solidFill>
              </a:rPr>
              <a:t>p</a:t>
            </a:r>
            <a:r>
              <a:rPr sz="900" b="1" dirty="0">
                <a:solidFill>
                  <a:srgbClr val="FFFFFF"/>
                </a:solidFill>
              </a:rPr>
              <a:t>rom</a:t>
            </a:r>
            <a:r>
              <a:rPr lang="es-MX" sz="900" b="1" dirty="0">
                <a:solidFill>
                  <a:srgbClr val="FFFFFF"/>
                </a:solidFill>
              </a:rPr>
              <a:t>,. Ventas anteriores a</a:t>
            </a:r>
            <a:r>
              <a:rPr sz="900" b="1" dirty="0">
                <a:solidFill>
                  <a:srgbClr val="FFFFFF"/>
                </a:solidFill>
              </a:rPr>
              <a:t> 4 sem.</a:t>
            </a:r>
          </a:p>
        </p:txBody>
      </p:sp>
      <p:sp>
        <p:nvSpPr>
          <p:cNvPr id="28" name="th">
            <a:extLst>
              <a:ext uri="{FF2B5EF4-FFF2-40B4-BE49-F238E27FC236}">
                <a16:creationId xmlns:a16="http://schemas.microsoft.com/office/drawing/2014/main" id="{D0E570B9-E030-48FB-9401-C39AFA2373E2}"/>
              </a:ext>
            </a:extLst>
          </p:cNvPr>
          <p:cNvSpPr>
            <a:spLocks noGrp="1"/>
          </p:cNvSpPr>
          <p:nvPr/>
        </p:nvSpPr>
        <p:spPr>
          <a:xfrm>
            <a:off x="6029325" y="2895600"/>
            <a:ext cx="1047750" cy="3238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29" name="th-text">
            <a:extLst>
              <a:ext uri="{FF2B5EF4-FFF2-40B4-BE49-F238E27FC236}">
                <a16:creationId xmlns:a16="http://schemas.microsoft.com/office/drawing/2014/main" id="{486587D8-E806-4B07-9AD1-2BA564BE9C55}"/>
              </a:ext>
            </a:extLst>
          </p:cNvPr>
          <p:cNvSpPr>
            <a:spLocks noGrp="1"/>
          </p:cNvSpPr>
          <p:nvPr/>
        </p:nvSpPr>
        <p:spPr>
          <a:xfrm>
            <a:off x="6086475" y="289560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100" b="1">
                <a:solidFill>
                  <a:srgbClr val="FFFFFF"/>
                </a:solidFill>
              </a:rPr>
              <a:t>stock</a:t>
            </a:r>
          </a:p>
        </p:txBody>
      </p:sp>
      <p:sp>
        <p:nvSpPr>
          <p:cNvPr id="30" name="th">
            <a:extLst>
              <a:ext uri="{FF2B5EF4-FFF2-40B4-BE49-F238E27FC236}">
                <a16:creationId xmlns:a16="http://schemas.microsoft.com/office/drawing/2014/main" id="{7E229F50-6DA8-4E14-8132-A2D8E969A958}"/>
              </a:ext>
            </a:extLst>
          </p:cNvPr>
          <p:cNvSpPr>
            <a:spLocks noGrp="1"/>
          </p:cNvSpPr>
          <p:nvPr/>
        </p:nvSpPr>
        <p:spPr>
          <a:xfrm>
            <a:off x="7077075" y="2895600"/>
            <a:ext cx="1143000" cy="3238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31" name="th-text">
            <a:extLst>
              <a:ext uri="{FF2B5EF4-FFF2-40B4-BE49-F238E27FC236}">
                <a16:creationId xmlns:a16="http://schemas.microsoft.com/office/drawing/2014/main" id="{89AA933F-64F9-462A-A025-F4C9DE6B9EA6}"/>
              </a:ext>
            </a:extLst>
          </p:cNvPr>
          <p:cNvSpPr>
            <a:spLocks noGrp="1"/>
          </p:cNvSpPr>
          <p:nvPr/>
        </p:nvSpPr>
        <p:spPr>
          <a:xfrm>
            <a:off x="7134225" y="2895600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100" b="1">
                <a:solidFill>
                  <a:srgbClr val="FFFFFF"/>
                </a:solidFill>
              </a:rPr>
              <a:t>unid. próximos 30d</a:t>
            </a:r>
          </a:p>
        </p:txBody>
      </p:sp>
      <p:sp>
        <p:nvSpPr>
          <p:cNvPr id="32" name="td">
            <a:extLst>
              <a:ext uri="{FF2B5EF4-FFF2-40B4-BE49-F238E27FC236}">
                <a16:creationId xmlns:a16="http://schemas.microsoft.com/office/drawing/2014/main" id="{B62399BA-404B-4031-B609-B19ADA43B07F}"/>
              </a:ext>
            </a:extLst>
          </p:cNvPr>
          <p:cNvSpPr>
            <a:spLocks noGrp="1"/>
          </p:cNvSpPr>
          <p:nvPr/>
        </p:nvSpPr>
        <p:spPr>
          <a:xfrm>
            <a:off x="457200" y="321945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33" name="td-text">
            <a:extLst>
              <a:ext uri="{FF2B5EF4-FFF2-40B4-BE49-F238E27FC236}">
                <a16:creationId xmlns:a16="http://schemas.microsoft.com/office/drawing/2014/main" id="{57C517E0-F531-4E77-8E61-F5F913932114}"/>
              </a:ext>
            </a:extLst>
          </p:cNvPr>
          <p:cNvSpPr>
            <a:spLocks noGrp="1"/>
          </p:cNvSpPr>
          <p:nvPr/>
        </p:nvSpPr>
        <p:spPr>
          <a:xfrm>
            <a:off x="514350" y="3219450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P001</a:t>
            </a:r>
          </a:p>
        </p:txBody>
      </p:sp>
      <p:sp>
        <p:nvSpPr>
          <p:cNvPr id="34" name="td">
            <a:extLst>
              <a:ext uri="{FF2B5EF4-FFF2-40B4-BE49-F238E27FC236}">
                <a16:creationId xmlns:a16="http://schemas.microsoft.com/office/drawing/2014/main" id="{400054C6-1685-4455-B736-C4C7D29A442A}"/>
              </a:ext>
            </a:extLst>
          </p:cNvPr>
          <p:cNvSpPr>
            <a:spLocks noGrp="1"/>
          </p:cNvSpPr>
          <p:nvPr/>
        </p:nvSpPr>
        <p:spPr>
          <a:xfrm>
            <a:off x="1600200" y="3219450"/>
            <a:ext cx="666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35" name="td-text">
            <a:extLst>
              <a:ext uri="{FF2B5EF4-FFF2-40B4-BE49-F238E27FC236}">
                <a16:creationId xmlns:a16="http://schemas.microsoft.com/office/drawing/2014/main" id="{FF8724FC-D886-4134-83E5-2FB6AF597F5E}"/>
              </a:ext>
            </a:extLst>
          </p:cNvPr>
          <p:cNvSpPr>
            <a:spLocks noGrp="1"/>
          </p:cNvSpPr>
          <p:nvPr/>
        </p:nvSpPr>
        <p:spPr>
          <a:xfrm>
            <a:off x="1657350" y="321945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24</a:t>
            </a:r>
          </a:p>
        </p:txBody>
      </p:sp>
      <p:sp>
        <p:nvSpPr>
          <p:cNvPr id="36" name="td">
            <a:extLst>
              <a:ext uri="{FF2B5EF4-FFF2-40B4-BE49-F238E27FC236}">
                <a16:creationId xmlns:a16="http://schemas.microsoft.com/office/drawing/2014/main" id="{E5D6F911-CDEC-4BE8-AA19-A2221397B438}"/>
              </a:ext>
            </a:extLst>
          </p:cNvPr>
          <p:cNvSpPr>
            <a:spLocks noGrp="1"/>
          </p:cNvSpPr>
          <p:nvPr/>
        </p:nvSpPr>
        <p:spPr>
          <a:xfrm>
            <a:off x="2266950" y="3219450"/>
            <a:ext cx="857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37" name="td-text">
            <a:extLst>
              <a:ext uri="{FF2B5EF4-FFF2-40B4-BE49-F238E27FC236}">
                <a16:creationId xmlns:a16="http://schemas.microsoft.com/office/drawing/2014/main" id="{4FFD3509-404B-473A-B2D4-D96DE8692EF3}"/>
              </a:ext>
            </a:extLst>
          </p:cNvPr>
          <p:cNvSpPr>
            <a:spLocks noGrp="1"/>
          </p:cNvSpPr>
          <p:nvPr/>
        </p:nvSpPr>
        <p:spPr>
          <a:xfrm>
            <a:off x="2324100" y="321945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$125</a:t>
            </a:r>
          </a:p>
        </p:txBody>
      </p:sp>
      <p:sp>
        <p:nvSpPr>
          <p:cNvPr id="38" name="td">
            <a:extLst>
              <a:ext uri="{FF2B5EF4-FFF2-40B4-BE49-F238E27FC236}">
                <a16:creationId xmlns:a16="http://schemas.microsoft.com/office/drawing/2014/main" id="{33E4FBDD-55DA-46F8-BF4E-CCC2F36C7987}"/>
              </a:ext>
            </a:extLst>
          </p:cNvPr>
          <p:cNvSpPr>
            <a:spLocks noGrp="1"/>
          </p:cNvSpPr>
          <p:nvPr/>
        </p:nvSpPr>
        <p:spPr>
          <a:xfrm>
            <a:off x="3124200" y="3219450"/>
            <a:ext cx="857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39" name="td-text">
            <a:extLst>
              <a:ext uri="{FF2B5EF4-FFF2-40B4-BE49-F238E27FC236}">
                <a16:creationId xmlns:a16="http://schemas.microsoft.com/office/drawing/2014/main" id="{63EDF278-2D0A-45CF-B8F5-FD5257BFF677}"/>
              </a:ext>
            </a:extLst>
          </p:cNvPr>
          <p:cNvSpPr>
            <a:spLocks noGrp="1"/>
          </p:cNvSpPr>
          <p:nvPr/>
        </p:nvSpPr>
        <p:spPr>
          <a:xfrm>
            <a:off x="3181350" y="321945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0%</a:t>
            </a:r>
          </a:p>
        </p:txBody>
      </p:sp>
      <p:sp>
        <p:nvSpPr>
          <p:cNvPr id="40" name="td">
            <a:extLst>
              <a:ext uri="{FF2B5EF4-FFF2-40B4-BE49-F238E27FC236}">
                <a16:creationId xmlns:a16="http://schemas.microsoft.com/office/drawing/2014/main" id="{9A3ECDFE-CB61-491F-9727-A2F0534C6CF8}"/>
              </a:ext>
            </a:extLst>
          </p:cNvPr>
          <p:cNvSpPr>
            <a:spLocks noGrp="1"/>
          </p:cNvSpPr>
          <p:nvPr/>
        </p:nvSpPr>
        <p:spPr>
          <a:xfrm>
            <a:off x="3981450" y="3219450"/>
            <a:ext cx="1047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41" name="td-text">
            <a:extLst>
              <a:ext uri="{FF2B5EF4-FFF2-40B4-BE49-F238E27FC236}">
                <a16:creationId xmlns:a16="http://schemas.microsoft.com/office/drawing/2014/main" id="{BEB4CC3B-41EE-41E0-B87C-0DE9F726FD1D}"/>
              </a:ext>
            </a:extLst>
          </p:cNvPr>
          <p:cNvSpPr>
            <a:spLocks noGrp="1"/>
          </p:cNvSpPr>
          <p:nvPr/>
        </p:nvSpPr>
        <p:spPr>
          <a:xfrm>
            <a:off x="4038600" y="321945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14</a:t>
            </a:r>
          </a:p>
        </p:txBody>
      </p:sp>
      <p:sp>
        <p:nvSpPr>
          <p:cNvPr id="42" name="td">
            <a:extLst>
              <a:ext uri="{FF2B5EF4-FFF2-40B4-BE49-F238E27FC236}">
                <a16:creationId xmlns:a16="http://schemas.microsoft.com/office/drawing/2014/main" id="{D832EFA2-E054-4DE4-B13E-65BF452E6AD1}"/>
              </a:ext>
            </a:extLst>
          </p:cNvPr>
          <p:cNvSpPr>
            <a:spLocks noGrp="1"/>
          </p:cNvSpPr>
          <p:nvPr/>
        </p:nvSpPr>
        <p:spPr>
          <a:xfrm>
            <a:off x="5029200" y="3219450"/>
            <a:ext cx="1000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43" name="td-text">
            <a:extLst>
              <a:ext uri="{FF2B5EF4-FFF2-40B4-BE49-F238E27FC236}">
                <a16:creationId xmlns:a16="http://schemas.microsoft.com/office/drawing/2014/main" id="{E3DAF98A-D916-43BD-98CF-BA616E02CFDC}"/>
              </a:ext>
            </a:extLst>
          </p:cNvPr>
          <p:cNvSpPr>
            <a:spLocks noGrp="1"/>
          </p:cNvSpPr>
          <p:nvPr/>
        </p:nvSpPr>
        <p:spPr>
          <a:xfrm>
            <a:off x="5086350" y="3219450"/>
            <a:ext cx="8858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12.5</a:t>
            </a:r>
          </a:p>
        </p:txBody>
      </p:sp>
      <p:sp>
        <p:nvSpPr>
          <p:cNvPr id="44" name="td">
            <a:extLst>
              <a:ext uri="{FF2B5EF4-FFF2-40B4-BE49-F238E27FC236}">
                <a16:creationId xmlns:a16="http://schemas.microsoft.com/office/drawing/2014/main" id="{88AECC8B-4BC3-4FAC-8CFD-8E91D365598A}"/>
              </a:ext>
            </a:extLst>
          </p:cNvPr>
          <p:cNvSpPr>
            <a:spLocks noGrp="1"/>
          </p:cNvSpPr>
          <p:nvPr/>
        </p:nvSpPr>
        <p:spPr>
          <a:xfrm>
            <a:off x="6029325" y="3219450"/>
            <a:ext cx="1047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45" name="td-text">
            <a:extLst>
              <a:ext uri="{FF2B5EF4-FFF2-40B4-BE49-F238E27FC236}">
                <a16:creationId xmlns:a16="http://schemas.microsoft.com/office/drawing/2014/main" id="{60B4273B-A110-40C3-B665-296792F33A0D}"/>
              </a:ext>
            </a:extLst>
          </p:cNvPr>
          <p:cNvSpPr>
            <a:spLocks noGrp="1"/>
          </p:cNvSpPr>
          <p:nvPr/>
        </p:nvSpPr>
        <p:spPr>
          <a:xfrm>
            <a:off x="6086475" y="321945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38</a:t>
            </a:r>
          </a:p>
        </p:txBody>
      </p:sp>
      <p:sp>
        <p:nvSpPr>
          <p:cNvPr id="46" name="td">
            <a:extLst>
              <a:ext uri="{FF2B5EF4-FFF2-40B4-BE49-F238E27FC236}">
                <a16:creationId xmlns:a16="http://schemas.microsoft.com/office/drawing/2014/main" id="{4084050A-0D02-4564-AD99-8687C42ABC5E}"/>
              </a:ext>
            </a:extLst>
          </p:cNvPr>
          <p:cNvSpPr>
            <a:spLocks noGrp="1"/>
          </p:cNvSpPr>
          <p:nvPr/>
        </p:nvSpPr>
        <p:spPr>
          <a:xfrm>
            <a:off x="7077075" y="321945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47" name="td-text">
            <a:extLst>
              <a:ext uri="{FF2B5EF4-FFF2-40B4-BE49-F238E27FC236}">
                <a16:creationId xmlns:a16="http://schemas.microsoft.com/office/drawing/2014/main" id="{41E28EC1-8D49-47E9-9B82-E971E15A3FDB}"/>
              </a:ext>
            </a:extLst>
          </p:cNvPr>
          <p:cNvSpPr>
            <a:spLocks noGrp="1"/>
          </p:cNvSpPr>
          <p:nvPr/>
        </p:nvSpPr>
        <p:spPr>
          <a:xfrm>
            <a:off x="7134225" y="3219450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51</a:t>
            </a:r>
          </a:p>
        </p:txBody>
      </p:sp>
      <p:sp>
        <p:nvSpPr>
          <p:cNvPr id="48" name="td">
            <a:extLst>
              <a:ext uri="{FF2B5EF4-FFF2-40B4-BE49-F238E27FC236}">
                <a16:creationId xmlns:a16="http://schemas.microsoft.com/office/drawing/2014/main" id="{9B6724FE-E452-4439-9D4F-D99AD0EF66B3}"/>
              </a:ext>
            </a:extLst>
          </p:cNvPr>
          <p:cNvSpPr>
            <a:spLocks noGrp="1"/>
          </p:cNvSpPr>
          <p:nvPr/>
        </p:nvSpPr>
        <p:spPr>
          <a:xfrm>
            <a:off x="457200" y="3543300"/>
            <a:ext cx="1143000" cy="3238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49" name="td-text">
            <a:extLst>
              <a:ext uri="{FF2B5EF4-FFF2-40B4-BE49-F238E27FC236}">
                <a16:creationId xmlns:a16="http://schemas.microsoft.com/office/drawing/2014/main" id="{99C9781F-78B9-414F-A3A2-EE053A6966E9}"/>
              </a:ext>
            </a:extLst>
          </p:cNvPr>
          <p:cNvSpPr>
            <a:spLocks noGrp="1"/>
          </p:cNvSpPr>
          <p:nvPr/>
        </p:nvSpPr>
        <p:spPr>
          <a:xfrm>
            <a:off x="514350" y="3543300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P002</a:t>
            </a:r>
          </a:p>
        </p:txBody>
      </p:sp>
      <p:sp>
        <p:nvSpPr>
          <p:cNvPr id="50" name="td">
            <a:extLst>
              <a:ext uri="{FF2B5EF4-FFF2-40B4-BE49-F238E27FC236}">
                <a16:creationId xmlns:a16="http://schemas.microsoft.com/office/drawing/2014/main" id="{A806F5FA-0899-4943-8978-E6B3AC45923E}"/>
              </a:ext>
            </a:extLst>
          </p:cNvPr>
          <p:cNvSpPr>
            <a:spLocks noGrp="1"/>
          </p:cNvSpPr>
          <p:nvPr/>
        </p:nvSpPr>
        <p:spPr>
          <a:xfrm>
            <a:off x="1600200" y="3543300"/>
            <a:ext cx="666750" cy="3238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51" name="td-text">
            <a:extLst>
              <a:ext uri="{FF2B5EF4-FFF2-40B4-BE49-F238E27FC236}">
                <a16:creationId xmlns:a16="http://schemas.microsoft.com/office/drawing/2014/main" id="{313C689D-855C-4B3D-B9C9-E35E7F4EE9F7}"/>
              </a:ext>
            </a:extLst>
          </p:cNvPr>
          <p:cNvSpPr>
            <a:spLocks noGrp="1"/>
          </p:cNvSpPr>
          <p:nvPr/>
        </p:nvSpPr>
        <p:spPr>
          <a:xfrm>
            <a:off x="1657350" y="354330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24</a:t>
            </a:r>
          </a:p>
        </p:txBody>
      </p:sp>
      <p:sp>
        <p:nvSpPr>
          <p:cNvPr id="52" name="td">
            <a:extLst>
              <a:ext uri="{FF2B5EF4-FFF2-40B4-BE49-F238E27FC236}">
                <a16:creationId xmlns:a16="http://schemas.microsoft.com/office/drawing/2014/main" id="{A0EE0F70-D88F-482E-A26E-48F110D18FAF}"/>
              </a:ext>
            </a:extLst>
          </p:cNvPr>
          <p:cNvSpPr>
            <a:spLocks noGrp="1"/>
          </p:cNvSpPr>
          <p:nvPr/>
        </p:nvSpPr>
        <p:spPr>
          <a:xfrm>
            <a:off x="2266950" y="3543300"/>
            <a:ext cx="857250" cy="3238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53" name="td-text">
            <a:extLst>
              <a:ext uri="{FF2B5EF4-FFF2-40B4-BE49-F238E27FC236}">
                <a16:creationId xmlns:a16="http://schemas.microsoft.com/office/drawing/2014/main" id="{FE7DEB2C-EE38-4B4E-B0D2-6E3F517A1569}"/>
              </a:ext>
            </a:extLst>
          </p:cNvPr>
          <p:cNvSpPr>
            <a:spLocks noGrp="1"/>
          </p:cNvSpPr>
          <p:nvPr/>
        </p:nvSpPr>
        <p:spPr>
          <a:xfrm>
            <a:off x="2324100" y="354330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$189</a:t>
            </a:r>
          </a:p>
        </p:txBody>
      </p:sp>
      <p:sp>
        <p:nvSpPr>
          <p:cNvPr id="54" name="td">
            <a:extLst>
              <a:ext uri="{FF2B5EF4-FFF2-40B4-BE49-F238E27FC236}">
                <a16:creationId xmlns:a16="http://schemas.microsoft.com/office/drawing/2014/main" id="{9025A232-EC3B-4460-80EA-A5C682FFE1BD}"/>
              </a:ext>
            </a:extLst>
          </p:cNvPr>
          <p:cNvSpPr>
            <a:spLocks noGrp="1"/>
          </p:cNvSpPr>
          <p:nvPr/>
        </p:nvSpPr>
        <p:spPr>
          <a:xfrm>
            <a:off x="3124200" y="3543300"/>
            <a:ext cx="857250" cy="3238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55" name="td-text">
            <a:extLst>
              <a:ext uri="{FF2B5EF4-FFF2-40B4-BE49-F238E27FC236}">
                <a16:creationId xmlns:a16="http://schemas.microsoft.com/office/drawing/2014/main" id="{772C973B-069A-491E-820A-827F35A16236}"/>
              </a:ext>
            </a:extLst>
          </p:cNvPr>
          <p:cNvSpPr>
            <a:spLocks noGrp="1"/>
          </p:cNvSpPr>
          <p:nvPr/>
        </p:nvSpPr>
        <p:spPr>
          <a:xfrm>
            <a:off x="3181350" y="354330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10%</a:t>
            </a:r>
          </a:p>
        </p:txBody>
      </p:sp>
      <p:sp>
        <p:nvSpPr>
          <p:cNvPr id="56" name="td">
            <a:extLst>
              <a:ext uri="{FF2B5EF4-FFF2-40B4-BE49-F238E27FC236}">
                <a16:creationId xmlns:a16="http://schemas.microsoft.com/office/drawing/2014/main" id="{54DA4E58-FEA2-4B31-A6A2-B9AA8A42BC16}"/>
              </a:ext>
            </a:extLst>
          </p:cNvPr>
          <p:cNvSpPr>
            <a:spLocks noGrp="1"/>
          </p:cNvSpPr>
          <p:nvPr/>
        </p:nvSpPr>
        <p:spPr>
          <a:xfrm>
            <a:off x="3981450" y="3543300"/>
            <a:ext cx="1047750" cy="3238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57" name="td-text">
            <a:extLst>
              <a:ext uri="{FF2B5EF4-FFF2-40B4-BE49-F238E27FC236}">
                <a16:creationId xmlns:a16="http://schemas.microsoft.com/office/drawing/2014/main" id="{01506D5A-95CC-430C-AF0F-1BFB574FC6C3}"/>
              </a:ext>
            </a:extLst>
          </p:cNvPr>
          <p:cNvSpPr>
            <a:spLocks noGrp="1"/>
          </p:cNvSpPr>
          <p:nvPr/>
        </p:nvSpPr>
        <p:spPr>
          <a:xfrm>
            <a:off x="4038600" y="354330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8</a:t>
            </a:r>
          </a:p>
        </p:txBody>
      </p:sp>
      <p:sp>
        <p:nvSpPr>
          <p:cNvPr id="58" name="td">
            <a:extLst>
              <a:ext uri="{FF2B5EF4-FFF2-40B4-BE49-F238E27FC236}">
                <a16:creationId xmlns:a16="http://schemas.microsoft.com/office/drawing/2014/main" id="{C8B729B5-10CC-43A0-A16D-D7C64B9D7483}"/>
              </a:ext>
            </a:extLst>
          </p:cNvPr>
          <p:cNvSpPr>
            <a:spLocks noGrp="1"/>
          </p:cNvSpPr>
          <p:nvPr/>
        </p:nvSpPr>
        <p:spPr>
          <a:xfrm>
            <a:off x="5029200" y="3543300"/>
            <a:ext cx="1000125" cy="3238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59" name="td-text">
            <a:extLst>
              <a:ext uri="{FF2B5EF4-FFF2-40B4-BE49-F238E27FC236}">
                <a16:creationId xmlns:a16="http://schemas.microsoft.com/office/drawing/2014/main" id="{87A4B1AC-8A68-4198-AEAA-8719ACBF9738}"/>
              </a:ext>
            </a:extLst>
          </p:cNvPr>
          <p:cNvSpPr>
            <a:spLocks noGrp="1"/>
          </p:cNvSpPr>
          <p:nvPr/>
        </p:nvSpPr>
        <p:spPr>
          <a:xfrm>
            <a:off x="5086350" y="3543300"/>
            <a:ext cx="8858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7.2</a:t>
            </a:r>
          </a:p>
        </p:txBody>
      </p:sp>
      <p:sp>
        <p:nvSpPr>
          <p:cNvPr id="60" name="td">
            <a:extLst>
              <a:ext uri="{FF2B5EF4-FFF2-40B4-BE49-F238E27FC236}">
                <a16:creationId xmlns:a16="http://schemas.microsoft.com/office/drawing/2014/main" id="{3DB75522-BF5C-4D94-BFC3-2D0E57A02A82}"/>
              </a:ext>
            </a:extLst>
          </p:cNvPr>
          <p:cNvSpPr>
            <a:spLocks noGrp="1"/>
          </p:cNvSpPr>
          <p:nvPr/>
        </p:nvSpPr>
        <p:spPr>
          <a:xfrm>
            <a:off x="6029325" y="3543300"/>
            <a:ext cx="1047750" cy="3238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61" name="td-text">
            <a:extLst>
              <a:ext uri="{FF2B5EF4-FFF2-40B4-BE49-F238E27FC236}">
                <a16:creationId xmlns:a16="http://schemas.microsoft.com/office/drawing/2014/main" id="{56BC23DC-BC54-4F81-A3B2-05A9EEA44D68}"/>
              </a:ext>
            </a:extLst>
          </p:cNvPr>
          <p:cNvSpPr>
            <a:spLocks noGrp="1"/>
          </p:cNvSpPr>
          <p:nvPr/>
        </p:nvSpPr>
        <p:spPr>
          <a:xfrm>
            <a:off x="6086475" y="354330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45</a:t>
            </a:r>
          </a:p>
        </p:txBody>
      </p:sp>
      <p:sp>
        <p:nvSpPr>
          <p:cNvPr id="62" name="td">
            <a:extLst>
              <a:ext uri="{FF2B5EF4-FFF2-40B4-BE49-F238E27FC236}">
                <a16:creationId xmlns:a16="http://schemas.microsoft.com/office/drawing/2014/main" id="{A5F7B139-D5AB-4A21-BE12-EB8A7C89E4CC}"/>
              </a:ext>
            </a:extLst>
          </p:cNvPr>
          <p:cNvSpPr>
            <a:spLocks noGrp="1"/>
          </p:cNvSpPr>
          <p:nvPr/>
        </p:nvSpPr>
        <p:spPr>
          <a:xfrm>
            <a:off x="7077075" y="3543300"/>
            <a:ext cx="1143000" cy="3238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63" name="td-text">
            <a:extLst>
              <a:ext uri="{FF2B5EF4-FFF2-40B4-BE49-F238E27FC236}">
                <a16:creationId xmlns:a16="http://schemas.microsoft.com/office/drawing/2014/main" id="{6AFDC6B8-89A2-4A66-AB1D-5B9C963A030B}"/>
              </a:ext>
            </a:extLst>
          </p:cNvPr>
          <p:cNvSpPr>
            <a:spLocks noGrp="1"/>
          </p:cNvSpPr>
          <p:nvPr/>
        </p:nvSpPr>
        <p:spPr>
          <a:xfrm>
            <a:off x="7134225" y="3543300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34</a:t>
            </a:r>
          </a:p>
        </p:txBody>
      </p:sp>
      <p:sp>
        <p:nvSpPr>
          <p:cNvPr id="64" name="td">
            <a:extLst>
              <a:ext uri="{FF2B5EF4-FFF2-40B4-BE49-F238E27FC236}">
                <a16:creationId xmlns:a16="http://schemas.microsoft.com/office/drawing/2014/main" id="{64A02EDB-8B43-4E8F-BF1C-585FAC78D60C}"/>
              </a:ext>
            </a:extLst>
          </p:cNvPr>
          <p:cNvSpPr>
            <a:spLocks noGrp="1"/>
          </p:cNvSpPr>
          <p:nvPr/>
        </p:nvSpPr>
        <p:spPr>
          <a:xfrm>
            <a:off x="457200" y="386715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65" name="td-text">
            <a:extLst>
              <a:ext uri="{FF2B5EF4-FFF2-40B4-BE49-F238E27FC236}">
                <a16:creationId xmlns:a16="http://schemas.microsoft.com/office/drawing/2014/main" id="{67E178B4-C8A2-40A4-8FE6-B166ED7215F9}"/>
              </a:ext>
            </a:extLst>
          </p:cNvPr>
          <p:cNvSpPr>
            <a:spLocks noGrp="1"/>
          </p:cNvSpPr>
          <p:nvPr/>
        </p:nvSpPr>
        <p:spPr>
          <a:xfrm>
            <a:off x="514350" y="3867150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P003</a:t>
            </a:r>
          </a:p>
        </p:txBody>
      </p:sp>
      <p:sp>
        <p:nvSpPr>
          <p:cNvPr id="66" name="td">
            <a:extLst>
              <a:ext uri="{FF2B5EF4-FFF2-40B4-BE49-F238E27FC236}">
                <a16:creationId xmlns:a16="http://schemas.microsoft.com/office/drawing/2014/main" id="{E4681318-1C82-4543-8C28-BC260BF2B56B}"/>
              </a:ext>
            </a:extLst>
          </p:cNvPr>
          <p:cNvSpPr>
            <a:spLocks noGrp="1"/>
          </p:cNvSpPr>
          <p:nvPr/>
        </p:nvSpPr>
        <p:spPr>
          <a:xfrm>
            <a:off x="1600200" y="3867150"/>
            <a:ext cx="666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67" name="td-text">
            <a:extLst>
              <a:ext uri="{FF2B5EF4-FFF2-40B4-BE49-F238E27FC236}">
                <a16:creationId xmlns:a16="http://schemas.microsoft.com/office/drawing/2014/main" id="{86CDA6F1-6433-4EE2-BB6B-D5B81599A73D}"/>
              </a:ext>
            </a:extLst>
          </p:cNvPr>
          <p:cNvSpPr>
            <a:spLocks noGrp="1"/>
          </p:cNvSpPr>
          <p:nvPr/>
        </p:nvSpPr>
        <p:spPr>
          <a:xfrm>
            <a:off x="1657350" y="386715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24</a:t>
            </a:r>
          </a:p>
        </p:txBody>
      </p:sp>
      <p:sp>
        <p:nvSpPr>
          <p:cNvPr id="68" name="td">
            <a:extLst>
              <a:ext uri="{FF2B5EF4-FFF2-40B4-BE49-F238E27FC236}">
                <a16:creationId xmlns:a16="http://schemas.microsoft.com/office/drawing/2014/main" id="{F5EC3CD0-281A-47D7-987D-0BCAADB618E9}"/>
              </a:ext>
            </a:extLst>
          </p:cNvPr>
          <p:cNvSpPr>
            <a:spLocks noGrp="1"/>
          </p:cNvSpPr>
          <p:nvPr/>
        </p:nvSpPr>
        <p:spPr>
          <a:xfrm>
            <a:off x="2266950" y="3867150"/>
            <a:ext cx="857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69" name="td-text">
            <a:extLst>
              <a:ext uri="{FF2B5EF4-FFF2-40B4-BE49-F238E27FC236}">
                <a16:creationId xmlns:a16="http://schemas.microsoft.com/office/drawing/2014/main" id="{0A23E882-A66E-4DCC-9B5D-B16BE37E294A}"/>
              </a:ext>
            </a:extLst>
          </p:cNvPr>
          <p:cNvSpPr>
            <a:spLocks noGrp="1"/>
          </p:cNvSpPr>
          <p:nvPr/>
        </p:nvSpPr>
        <p:spPr>
          <a:xfrm>
            <a:off x="2324100" y="386715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$95</a:t>
            </a:r>
          </a:p>
        </p:txBody>
      </p:sp>
      <p:sp>
        <p:nvSpPr>
          <p:cNvPr id="70" name="td">
            <a:extLst>
              <a:ext uri="{FF2B5EF4-FFF2-40B4-BE49-F238E27FC236}">
                <a16:creationId xmlns:a16="http://schemas.microsoft.com/office/drawing/2014/main" id="{D102B48E-75BB-44EA-8A0A-342A2482438B}"/>
              </a:ext>
            </a:extLst>
          </p:cNvPr>
          <p:cNvSpPr>
            <a:spLocks noGrp="1"/>
          </p:cNvSpPr>
          <p:nvPr/>
        </p:nvSpPr>
        <p:spPr>
          <a:xfrm>
            <a:off x="3124200" y="3867150"/>
            <a:ext cx="857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71" name="td-text">
            <a:extLst>
              <a:ext uri="{FF2B5EF4-FFF2-40B4-BE49-F238E27FC236}">
                <a16:creationId xmlns:a16="http://schemas.microsoft.com/office/drawing/2014/main" id="{7AE0E475-8B4A-4A7F-9C0B-7FD178C7DD6D}"/>
              </a:ext>
            </a:extLst>
          </p:cNvPr>
          <p:cNvSpPr>
            <a:spLocks noGrp="1"/>
          </p:cNvSpPr>
          <p:nvPr/>
        </p:nvSpPr>
        <p:spPr>
          <a:xfrm>
            <a:off x="3181350" y="386715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0%</a:t>
            </a:r>
          </a:p>
        </p:txBody>
      </p:sp>
      <p:sp>
        <p:nvSpPr>
          <p:cNvPr id="72" name="td">
            <a:extLst>
              <a:ext uri="{FF2B5EF4-FFF2-40B4-BE49-F238E27FC236}">
                <a16:creationId xmlns:a16="http://schemas.microsoft.com/office/drawing/2014/main" id="{D91A9FB4-D171-4A51-9F56-0AB47D64B694}"/>
              </a:ext>
            </a:extLst>
          </p:cNvPr>
          <p:cNvSpPr>
            <a:spLocks noGrp="1"/>
          </p:cNvSpPr>
          <p:nvPr/>
        </p:nvSpPr>
        <p:spPr>
          <a:xfrm>
            <a:off x="3981450" y="3867150"/>
            <a:ext cx="1047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73" name="td-text">
            <a:extLst>
              <a:ext uri="{FF2B5EF4-FFF2-40B4-BE49-F238E27FC236}">
                <a16:creationId xmlns:a16="http://schemas.microsoft.com/office/drawing/2014/main" id="{8737BF58-950F-46D8-8106-031357C7C081}"/>
              </a:ext>
            </a:extLst>
          </p:cNvPr>
          <p:cNvSpPr>
            <a:spLocks noGrp="1"/>
          </p:cNvSpPr>
          <p:nvPr/>
        </p:nvSpPr>
        <p:spPr>
          <a:xfrm>
            <a:off x="4038600" y="386715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21</a:t>
            </a:r>
          </a:p>
        </p:txBody>
      </p:sp>
      <p:sp>
        <p:nvSpPr>
          <p:cNvPr id="74" name="td">
            <a:extLst>
              <a:ext uri="{FF2B5EF4-FFF2-40B4-BE49-F238E27FC236}">
                <a16:creationId xmlns:a16="http://schemas.microsoft.com/office/drawing/2014/main" id="{F3065B09-2213-44AA-B868-ED4CF2D00DEA}"/>
              </a:ext>
            </a:extLst>
          </p:cNvPr>
          <p:cNvSpPr>
            <a:spLocks noGrp="1"/>
          </p:cNvSpPr>
          <p:nvPr/>
        </p:nvSpPr>
        <p:spPr>
          <a:xfrm>
            <a:off x="5029200" y="3867150"/>
            <a:ext cx="1000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75" name="td-text">
            <a:extLst>
              <a:ext uri="{FF2B5EF4-FFF2-40B4-BE49-F238E27FC236}">
                <a16:creationId xmlns:a16="http://schemas.microsoft.com/office/drawing/2014/main" id="{28764DB9-83CC-4D1D-913A-D37ED7131EBC}"/>
              </a:ext>
            </a:extLst>
          </p:cNvPr>
          <p:cNvSpPr>
            <a:spLocks noGrp="1"/>
          </p:cNvSpPr>
          <p:nvPr/>
        </p:nvSpPr>
        <p:spPr>
          <a:xfrm>
            <a:off x="5086350" y="3867150"/>
            <a:ext cx="8858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18.7</a:t>
            </a:r>
          </a:p>
        </p:txBody>
      </p:sp>
      <p:sp>
        <p:nvSpPr>
          <p:cNvPr id="76" name="td">
            <a:extLst>
              <a:ext uri="{FF2B5EF4-FFF2-40B4-BE49-F238E27FC236}">
                <a16:creationId xmlns:a16="http://schemas.microsoft.com/office/drawing/2014/main" id="{3A22BEB2-EC98-44AE-AAC0-3CED28DCBBBB}"/>
              </a:ext>
            </a:extLst>
          </p:cNvPr>
          <p:cNvSpPr>
            <a:spLocks noGrp="1"/>
          </p:cNvSpPr>
          <p:nvPr/>
        </p:nvSpPr>
        <p:spPr>
          <a:xfrm>
            <a:off x="6029325" y="3867150"/>
            <a:ext cx="1047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77" name="td-text">
            <a:extLst>
              <a:ext uri="{FF2B5EF4-FFF2-40B4-BE49-F238E27FC236}">
                <a16:creationId xmlns:a16="http://schemas.microsoft.com/office/drawing/2014/main" id="{8B77BC42-607C-4A0D-8734-0AD2D84DAAEF}"/>
              </a:ext>
            </a:extLst>
          </p:cNvPr>
          <p:cNvSpPr>
            <a:spLocks noGrp="1"/>
          </p:cNvSpPr>
          <p:nvPr/>
        </p:nvSpPr>
        <p:spPr>
          <a:xfrm>
            <a:off x="6086475" y="386715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27</a:t>
            </a:r>
          </a:p>
        </p:txBody>
      </p:sp>
      <p:sp>
        <p:nvSpPr>
          <p:cNvPr id="78" name="td">
            <a:extLst>
              <a:ext uri="{FF2B5EF4-FFF2-40B4-BE49-F238E27FC236}">
                <a16:creationId xmlns:a16="http://schemas.microsoft.com/office/drawing/2014/main" id="{719CDAB0-4ECE-455D-BC72-2D31528128A2}"/>
              </a:ext>
            </a:extLst>
          </p:cNvPr>
          <p:cNvSpPr>
            <a:spLocks noGrp="1"/>
          </p:cNvSpPr>
          <p:nvPr/>
        </p:nvSpPr>
        <p:spPr>
          <a:xfrm>
            <a:off x="7077075" y="386715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79" name="td-text">
            <a:extLst>
              <a:ext uri="{FF2B5EF4-FFF2-40B4-BE49-F238E27FC236}">
                <a16:creationId xmlns:a16="http://schemas.microsoft.com/office/drawing/2014/main" id="{95A25C03-341E-43D8-804F-5E44B0F4537B}"/>
              </a:ext>
            </a:extLst>
          </p:cNvPr>
          <p:cNvSpPr>
            <a:spLocks noGrp="1"/>
          </p:cNvSpPr>
          <p:nvPr/>
        </p:nvSpPr>
        <p:spPr>
          <a:xfrm>
            <a:off x="7134225" y="3867150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100" b="0">
                <a:solidFill>
                  <a:srgbClr val="20252D"/>
                </a:solidFill>
              </a:rPr>
              <a:t>76</a:t>
            </a:r>
          </a:p>
        </p:txBody>
      </p:sp>
      <p:sp>
        <p:nvSpPr>
          <p:cNvPr id="80" name="prediction">
            <a:extLst>
              <a:ext uri="{FF2B5EF4-FFF2-40B4-BE49-F238E27FC236}">
                <a16:creationId xmlns:a16="http://schemas.microsoft.com/office/drawing/2014/main" id="{F9EF5648-1BD5-4166-88F7-B08DE8D2D31A}"/>
              </a:ext>
            </a:extLst>
          </p:cNvPr>
          <p:cNvSpPr>
            <a:spLocks noGrp="1"/>
          </p:cNvSpPr>
          <p:nvPr/>
        </p:nvSpPr>
        <p:spPr>
          <a:xfrm>
            <a:off x="9334500" y="2724150"/>
            <a:ext cx="2400300" cy="171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81" name="prediction-title">
            <a:extLst>
              <a:ext uri="{FF2B5EF4-FFF2-40B4-BE49-F238E27FC236}">
                <a16:creationId xmlns:a16="http://schemas.microsoft.com/office/drawing/2014/main" id="{02DC3EAD-CA84-45A4-8869-935FC596A40A}"/>
              </a:ext>
            </a:extLst>
          </p:cNvPr>
          <p:cNvSpPr>
            <a:spLocks noGrp="1"/>
          </p:cNvSpPr>
          <p:nvPr/>
        </p:nvSpPr>
        <p:spPr>
          <a:xfrm>
            <a:off x="9525000" y="28956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315DBF"/>
                </a:solidFill>
              </a:defRPr>
            </a:pPr>
            <a:r>
              <a:rPr sz="1275" b="1">
                <a:solidFill>
                  <a:srgbClr val="315DBF"/>
                </a:solidFill>
              </a:rPr>
              <a:t>Predicción</a:t>
            </a:r>
          </a:p>
        </p:txBody>
      </p:sp>
      <p:sp>
        <p:nvSpPr>
          <p:cNvPr id="82" name="prediction-big">
            <a:extLst>
              <a:ext uri="{FF2B5EF4-FFF2-40B4-BE49-F238E27FC236}">
                <a16:creationId xmlns:a16="http://schemas.microsoft.com/office/drawing/2014/main" id="{8D5C7409-B73F-4A9E-8839-BB687C78913C}"/>
              </a:ext>
            </a:extLst>
          </p:cNvPr>
          <p:cNvSpPr>
            <a:spLocks noGrp="1"/>
          </p:cNvSpPr>
          <p:nvPr/>
        </p:nvSpPr>
        <p:spPr>
          <a:xfrm>
            <a:off x="9525000" y="323850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>
                <a:solidFill>
                  <a:srgbClr val="315DBF"/>
                </a:solidFill>
              </a:defRPr>
            </a:pPr>
            <a:r>
              <a:rPr sz="3150" b="1">
                <a:solidFill>
                  <a:srgbClr val="315DBF"/>
                </a:solidFill>
              </a:rPr>
              <a:t>51</a:t>
            </a:r>
          </a:p>
        </p:txBody>
      </p:sp>
      <p:sp>
        <p:nvSpPr>
          <p:cNvPr id="83" name="prediction-label">
            <a:extLst>
              <a:ext uri="{FF2B5EF4-FFF2-40B4-BE49-F238E27FC236}">
                <a16:creationId xmlns:a16="http://schemas.microsoft.com/office/drawing/2014/main" id="{0555D17C-08FC-4792-B763-38E0A7F87BB3}"/>
              </a:ext>
            </a:extLst>
          </p:cNvPr>
          <p:cNvSpPr>
            <a:spLocks noGrp="1"/>
          </p:cNvSpPr>
          <p:nvPr/>
        </p:nvSpPr>
        <p:spPr>
          <a:xfrm>
            <a:off x="9525000" y="379095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20252D"/>
                </a:solidFill>
              </a:defRPr>
            </a:pPr>
            <a:r>
              <a:rPr sz="1050" b="0">
                <a:solidFill>
                  <a:srgbClr val="20252D"/>
                </a:solidFill>
              </a:rPr>
              <a:t>unidades de P001</a:t>
            </a:r>
          </a:p>
          <a:p>
            <a:pPr algn="ctr">
              <a:defRPr sz="1050" b="0">
                <a:solidFill>
                  <a:srgbClr val="20252D"/>
                </a:solidFill>
              </a:defRPr>
            </a:pPr>
            <a:r>
              <a:rPr sz="1050" b="0">
                <a:solidFill>
                  <a:srgbClr val="20252D"/>
                </a:solidFill>
              </a:rPr>
              <a:t>en 30 días</a:t>
            </a:r>
          </a:p>
        </p:txBody>
      </p:sp>
      <p:sp>
        <p:nvSpPr>
          <p:cNvPr id="84" name="utility">
            <a:extLst>
              <a:ext uri="{FF2B5EF4-FFF2-40B4-BE49-F238E27FC236}">
                <a16:creationId xmlns:a16="http://schemas.microsoft.com/office/drawing/2014/main" id="{34F9E3DB-4229-4FA7-8119-622FDC28F320}"/>
              </a:ext>
            </a:extLst>
          </p:cNvPr>
          <p:cNvSpPr>
            <a:spLocks noGrp="1"/>
          </p:cNvSpPr>
          <p:nvPr/>
        </p:nvSpPr>
        <p:spPr>
          <a:xfrm>
            <a:off x="457200" y="4610100"/>
            <a:ext cx="11277600" cy="1066800"/>
          </a:xfrm>
          <a:prstGeom prst="roundRect">
            <a:avLst>
              <a:gd name="adj" fmla="val 5357"/>
            </a:avLst>
          </a:prstGeom>
          <a:solidFill>
            <a:srgbClr val="DCE5FA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85" name="utility-title">
            <a:extLst>
              <a:ext uri="{FF2B5EF4-FFF2-40B4-BE49-F238E27FC236}">
                <a16:creationId xmlns:a16="http://schemas.microsoft.com/office/drawing/2014/main" id="{A34DB428-312B-4858-B917-E6D241101F6C}"/>
              </a:ext>
            </a:extLst>
          </p:cNvPr>
          <p:cNvSpPr>
            <a:spLocks noGrp="1"/>
          </p:cNvSpPr>
          <p:nvPr/>
        </p:nvSpPr>
        <p:spPr>
          <a:xfrm>
            <a:off x="647700" y="47625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15DBF"/>
                </a:solidFill>
              </a:defRPr>
            </a:pPr>
            <a:r>
              <a:rPr sz="1400" b="1">
                <a:solidFill>
                  <a:srgbClr val="315DBF"/>
                </a:solidFill>
              </a:rPr>
              <a:t>Utilidad operativa</a:t>
            </a:r>
          </a:p>
        </p:txBody>
      </p:sp>
      <p:sp>
        <p:nvSpPr>
          <p:cNvPr id="86" name="utility-body">
            <a:extLst>
              <a:ext uri="{FF2B5EF4-FFF2-40B4-BE49-F238E27FC236}">
                <a16:creationId xmlns:a16="http://schemas.microsoft.com/office/drawing/2014/main" id="{2D5CA3ED-87BA-49E9-BC90-CFC40E4C963A}"/>
              </a:ext>
            </a:extLst>
          </p:cNvPr>
          <p:cNvSpPr>
            <a:spLocks noGrp="1"/>
          </p:cNvSpPr>
          <p:nvPr/>
        </p:nvSpPr>
        <p:spPr>
          <a:xfrm>
            <a:off x="647700" y="50292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0252D"/>
                </a:solidFill>
              </a:defRPr>
            </a:pPr>
            <a:endParaRPr lang="es-MX" sz="1400" b="0" dirty="0">
              <a:solidFill>
                <a:srgbClr val="20252D"/>
              </a:solidFill>
            </a:endParaRPr>
          </a:p>
          <a:p>
            <a:pPr algn="l">
              <a:defRPr sz="1125" b="0">
                <a:solidFill>
                  <a:srgbClr val="20252D"/>
                </a:solidFill>
              </a:defRPr>
            </a:pPr>
            <a:r>
              <a:rPr sz="1400" b="0" dirty="0">
                <a:solidFill>
                  <a:srgbClr val="20252D"/>
                </a:solidFill>
              </a:rPr>
              <a:t>Define </a:t>
            </a:r>
            <a:r>
              <a:rPr sz="1400" b="0" dirty="0" err="1">
                <a:solidFill>
                  <a:srgbClr val="20252D"/>
                </a:solidFill>
              </a:rPr>
              <a:t>cuánto</a:t>
            </a:r>
            <a:r>
              <a:rPr sz="1400" b="0" dirty="0">
                <a:solidFill>
                  <a:srgbClr val="20252D"/>
                </a:solidFill>
              </a:rPr>
              <a:t> </a:t>
            </a:r>
            <a:r>
              <a:rPr sz="1400" b="0" dirty="0" err="1">
                <a:solidFill>
                  <a:srgbClr val="20252D"/>
                </a:solidFill>
              </a:rPr>
              <a:t>reabastecer</a:t>
            </a:r>
            <a:r>
              <a:rPr sz="1400" b="0" dirty="0">
                <a:solidFill>
                  <a:srgbClr val="20252D"/>
                </a:solidFill>
              </a:rPr>
              <a:t> por </a:t>
            </a:r>
            <a:r>
              <a:rPr sz="1400" b="0" dirty="0" err="1">
                <a:solidFill>
                  <a:srgbClr val="20252D"/>
                </a:solidFill>
              </a:rPr>
              <a:t>producto</a:t>
            </a:r>
            <a:r>
              <a:rPr sz="1400" b="0" dirty="0">
                <a:solidFill>
                  <a:srgbClr val="20252D"/>
                </a:solidFill>
              </a:rPr>
              <a:t>, </a:t>
            </a:r>
            <a:r>
              <a:rPr sz="1400" b="0" dirty="0" err="1">
                <a:solidFill>
                  <a:srgbClr val="20252D"/>
                </a:solidFill>
              </a:rPr>
              <a:t>anticipa</a:t>
            </a:r>
            <a:r>
              <a:rPr sz="1400" b="0" dirty="0">
                <a:solidFill>
                  <a:srgbClr val="20252D"/>
                </a:solidFill>
              </a:rPr>
              <a:t> </a:t>
            </a:r>
            <a:r>
              <a:rPr sz="1400" b="0" dirty="0" err="1">
                <a:solidFill>
                  <a:srgbClr val="20252D"/>
                </a:solidFill>
              </a:rPr>
              <a:t>temporadas</a:t>
            </a:r>
            <a:r>
              <a:rPr sz="1400" b="0" dirty="0">
                <a:solidFill>
                  <a:srgbClr val="20252D"/>
                </a:solidFill>
              </a:rPr>
              <a:t> de mayor </a:t>
            </a:r>
            <a:r>
              <a:rPr sz="1400" b="0" dirty="0" err="1">
                <a:solidFill>
                  <a:srgbClr val="20252D"/>
                </a:solidFill>
              </a:rPr>
              <a:t>demanda</a:t>
            </a:r>
            <a:r>
              <a:rPr sz="1400" b="0" dirty="0">
                <a:solidFill>
                  <a:srgbClr val="20252D"/>
                </a:solidFill>
              </a:rPr>
              <a:t> y reduce tanto </a:t>
            </a:r>
            <a:r>
              <a:rPr sz="1400" b="0" dirty="0" err="1">
                <a:solidFill>
                  <a:srgbClr val="20252D"/>
                </a:solidFill>
              </a:rPr>
              <a:t>faltantes</a:t>
            </a:r>
            <a:r>
              <a:rPr sz="1400" b="0" dirty="0">
                <a:solidFill>
                  <a:srgbClr val="20252D"/>
                </a:solidFill>
              </a:rPr>
              <a:t> </a:t>
            </a:r>
            <a:r>
              <a:rPr sz="1400" b="0" dirty="0" err="1">
                <a:solidFill>
                  <a:srgbClr val="20252D"/>
                </a:solidFill>
              </a:rPr>
              <a:t>como</a:t>
            </a:r>
            <a:r>
              <a:rPr sz="1400" b="0" dirty="0">
                <a:solidFill>
                  <a:srgbClr val="20252D"/>
                </a:solidFill>
              </a:rPr>
              <a:t> capital </a:t>
            </a:r>
            <a:r>
              <a:rPr sz="1400" b="0" dirty="0" err="1">
                <a:solidFill>
                  <a:srgbClr val="20252D"/>
                </a:solidFill>
              </a:rPr>
              <a:t>detenido</a:t>
            </a:r>
            <a:r>
              <a:rPr sz="1400" b="0" dirty="0">
                <a:solidFill>
                  <a:srgbClr val="20252D"/>
                </a:solidFill>
              </a:rPr>
              <a:t> </a:t>
            </a:r>
            <a:r>
              <a:rPr sz="1400" b="0" dirty="0" err="1">
                <a:solidFill>
                  <a:srgbClr val="20252D"/>
                </a:solidFill>
              </a:rPr>
              <a:t>en</a:t>
            </a:r>
            <a:r>
              <a:rPr sz="1400" b="0" dirty="0">
                <a:solidFill>
                  <a:srgbClr val="20252D"/>
                </a:solidFill>
              </a:rPr>
              <a:t> </a:t>
            </a:r>
            <a:r>
              <a:rPr sz="1400" b="0" dirty="0" err="1">
                <a:solidFill>
                  <a:srgbClr val="20252D"/>
                </a:solidFill>
              </a:rPr>
              <a:t>mercancía</a:t>
            </a:r>
            <a:r>
              <a:rPr sz="1400" b="0" dirty="0">
                <a:solidFill>
                  <a:srgbClr val="20252D"/>
                </a:solidFill>
              </a:rPr>
              <a:t>. </a:t>
            </a:r>
            <a:r>
              <a:rPr sz="1400" b="0" dirty="0" err="1">
                <a:solidFill>
                  <a:srgbClr val="20252D"/>
                </a:solidFill>
              </a:rPr>
              <a:t>Modelo</a:t>
            </a:r>
            <a:r>
              <a:rPr sz="1400" b="0" dirty="0">
                <a:solidFill>
                  <a:srgbClr val="20252D"/>
                </a:solidFill>
              </a:rPr>
              <a:t> </a:t>
            </a:r>
            <a:r>
              <a:rPr sz="1400" b="0" dirty="0" err="1">
                <a:solidFill>
                  <a:srgbClr val="20252D"/>
                </a:solidFill>
              </a:rPr>
              <a:t>inicial</a:t>
            </a:r>
            <a:r>
              <a:rPr sz="1400" b="0" dirty="0">
                <a:solidFill>
                  <a:srgbClr val="20252D"/>
                </a:solidFill>
              </a:rPr>
              <a:t>: </a:t>
            </a:r>
            <a:r>
              <a:rPr sz="1400" b="0" dirty="0" err="1">
                <a:solidFill>
                  <a:srgbClr val="20252D"/>
                </a:solidFill>
              </a:rPr>
              <a:t>regresión</a:t>
            </a:r>
            <a:r>
              <a:rPr sz="1400" b="0" dirty="0">
                <a:solidFill>
                  <a:srgbClr val="20252D"/>
                </a:solidFill>
              </a:rPr>
              <a:t> lineal; </a:t>
            </a:r>
            <a:r>
              <a:rPr sz="1400" b="0" dirty="0" err="1">
                <a:solidFill>
                  <a:srgbClr val="20252D"/>
                </a:solidFill>
              </a:rPr>
              <a:t>comparación</a:t>
            </a:r>
            <a:r>
              <a:rPr sz="1400" b="0" dirty="0">
                <a:solidFill>
                  <a:srgbClr val="20252D"/>
                </a:solidFill>
              </a:rPr>
              <a:t> posterior con Random Forest.</a:t>
            </a:r>
            <a:endParaRPr lang="es-MX" sz="1400" dirty="0">
              <a:solidFill>
                <a:srgbClr val="20252D"/>
              </a:solidFill>
            </a:endParaRPr>
          </a:p>
          <a:p>
            <a:pPr algn="l">
              <a:defRPr sz="1125" b="0">
                <a:solidFill>
                  <a:srgbClr val="20252D"/>
                </a:solidFill>
              </a:defRPr>
            </a:pPr>
            <a:r>
              <a:rPr lang="es-MX" sz="1400" b="0" dirty="0">
                <a:solidFill>
                  <a:srgbClr val="20252D"/>
                </a:solidFill>
              </a:rPr>
              <a:t>Compra sugerida = demanda predicha + stock de seguridad – stock disponible – pedidos en camino</a:t>
            </a:r>
            <a:endParaRPr lang="es-MX" sz="1400" dirty="0">
              <a:solidFill>
                <a:srgbClr val="20252D"/>
              </a:solidFill>
            </a:endParaRPr>
          </a:p>
          <a:p>
            <a:pPr algn="l">
              <a:defRPr sz="1125" b="0">
                <a:solidFill>
                  <a:srgbClr val="20252D"/>
                </a:solidFill>
              </a:defRPr>
            </a:pPr>
            <a:r>
              <a:rPr lang="es-MX" sz="1400" dirty="0" err="1">
                <a:solidFill>
                  <a:srgbClr val="20252D"/>
                </a:solidFill>
              </a:rPr>
              <a:t>d</a:t>
            </a:r>
            <a:r>
              <a:rPr lang="es-MX" sz="1400" b="0" dirty="0" err="1">
                <a:solidFill>
                  <a:srgbClr val="20252D"/>
                </a:solidFill>
              </a:rPr>
              <a:t>x</a:t>
            </a:r>
            <a:r>
              <a:rPr lang="es-MX" sz="1400" b="0" dirty="0">
                <a:solidFill>
                  <a:srgbClr val="20252D"/>
                </a:solidFill>
              </a:rPr>
              <a:t> / </a:t>
            </a:r>
            <a:r>
              <a:rPr lang="es-MX" sz="1400" b="0" dirty="0" err="1">
                <a:solidFill>
                  <a:srgbClr val="20252D"/>
                </a:solidFill>
              </a:rPr>
              <a:t>dt</a:t>
            </a:r>
            <a:r>
              <a:rPr lang="es-MX" sz="1400" b="0" dirty="0">
                <a:solidFill>
                  <a:srgbClr val="20252D"/>
                </a:solidFill>
              </a:rPr>
              <a:t> = </a:t>
            </a:r>
            <a:r>
              <a:rPr lang="es-MX" sz="1400" b="0" dirty="0" err="1">
                <a:solidFill>
                  <a:srgbClr val="20252D"/>
                </a:solidFill>
              </a:rPr>
              <a:t>kx</a:t>
            </a:r>
            <a:endParaRPr sz="1400" b="0" dirty="0">
              <a:solidFill>
                <a:srgbClr val="20252D"/>
              </a:solidFill>
            </a:endParaRPr>
          </a:p>
        </p:txBody>
      </p:sp>
      <p:sp>
        <p:nvSpPr>
          <p:cNvPr id="87" name="example-note">
            <a:extLst>
              <a:ext uri="{FF2B5EF4-FFF2-40B4-BE49-F238E27FC236}">
                <a16:creationId xmlns:a16="http://schemas.microsoft.com/office/drawing/2014/main" id="{87DAEB7E-23B7-41CF-9D91-5F763D1361F4}"/>
              </a:ext>
            </a:extLst>
          </p:cNvPr>
          <p:cNvSpPr>
            <a:spLocks noGrp="1"/>
          </p:cNvSpPr>
          <p:nvPr/>
        </p:nvSpPr>
        <p:spPr>
          <a:xfrm>
            <a:off x="457200" y="59817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Valores de ejemplo para mostrar la estructura del dataset.</a:t>
            </a:r>
          </a:p>
        </p:txBody>
      </p:sp>
    </p:spTree>
    <p:extLst>
      <p:ext uri="{BB962C8B-B14F-4D97-AF65-F5344CB8AC3E}">
        <p14:creationId xmlns:p14="http://schemas.microsoft.com/office/powerpoint/2010/main" val="143908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kicker">
            <a:extLst>
              <a:ext uri="{FF2B5EF4-FFF2-40B4-BE49-F238E27FC236}">
                <a16:creationId xmlns:a16="http://schemas.microsoft.com/office/drawing/2014/main" id="{8666E00B-514C-4B0C-B3F5-C4A879C16C09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315DBF"/>
                </a:solidFill>
              </a:defRPr>
            </a:pPr>
            <a:r>
              <a:rPr sz="900" b="1">
                <a:solidFill>
                  <a:srgbClr val="315DBF"/>
                </a:solidFill>
              </a:rPr>
              <a:t>PROPUESTA 3 · RECOMENDACIÓN POR REGLAS DE ASOCIACIÓN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677EE37-2118-476D-9DA7-90613E768FF9}"/>
              </a:ext>
            </a:extLst>
          </p:cNvPr>
          <p:cNvSpPr>
            <a:spLocks noGrp="1"/>
          </p:cNvSpPr>
          <p:nvPr/>
        </p:nvSpPr>
        <p:spPr>
          <a:xfrm>
            <a:off x="457200" y="495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315DBF"/>
                </a:solidFill>
              </a:defRPr>
            </a:pPr>
            <a:r>
              <a:rPr sz="2250" b="1">
                <a:solidFill>
                  <a:srgbClr val="315DBF"/>
                </a:solidFill>
              </a:rPr>
              <a:t>Las reglas de asociación descubren qué productos se compran juntos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BCF3E12-8C7B-412D-A731-8E3638E53558}"/>
              </a:ext>
            </a:extLst>
          </p:cNvPr>
          <p:cNvSpPr>
            <a:spLocks noGrp="1"/>
          </p:cNvSpPr>
          <p:nvPr/>
        </p:nvSpPr>
        <p:spPr>
          <a:xfrm>
            <a:off x="11449050" y="64960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4" name="source-box">
            <a:extLst>
              <a:ext uri="{FF2B5EF4-FFF2-40B4-BE49-F238E27FC236}">
                <a16:creationId xmlns:a16="http://schemas.microsoft.com/office/drawing/2014/main" id="{163040A4-E234-4AA3-858C-8E095CFED9A2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2381250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5" name="source-label">
            <a:extLst>
              <a:ext uri="{FF2B5EF4-FFF2-40B4-BE49-F238E27FC236}">
                <a16:creationId xmlns:a16="http://schemas.microsoft.com/office/drawing/2014/main" id="{180357C0-7F86-4566-82C1-38FF0A1B2836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315DBF"/>
                </a:solidFill>
              </a:defRPr>
            </a:pPr>
            <a:r>
              <a:rPr sz="1200" b="1">
                <a:solidFill>
                  <a:srgbClr val="315DBF"/>
                </a:solidFill>
              </a:rPr>
              <a:t>COLECCIONES</a:t>
            </a:r>
          </a:p>
        </p:txBody>
      </p:sp>
      <p:sp>
        <p:nvSpPr>
          <p:cNvPr id="6" name="sources">
            <a:extLst>
              <a:ext uri="{FF2B5EF4-FFF2-40B4-BE49-F238E27FC236}">
                <a16:creationId xmlns:a16="http://schemas.microsoft.com/office/drawing/2014/main" id="{870E53B6-636B-4BA3-8730-4660B31CF8AA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200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pedidos</a:t>
            </a:r>
          </a:p>
          <a:p>
            <a:pPr algn="l">
              <a:defRPr sz="1050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productos</a:t>
            </a:r>
          </a:p>
        </p:txBody>
      </p:sp>
      <p:sp>
        <p:nvSpPr>
          <p:cNvPr id="7" name="flow-arrow">
            <a:extLst>
              <a:ext uri="{FF2B5EF4-FFF2-40B4-BE49-F238E27FC236}">
                <a16:creationId xmlns:a16="http://schemas.microsoft.com/office/drawing/2014/main" id="{F654CAE4-36D1-4141-8A90-477C53BE0F37}"/>
              </a:ext>
            </a:extLst>
          </p:cNvPr>
          <p:cNvSpPr>
            <a:spLocks noGrp="1"/>
          </p:cNvSpPr>
          <p:nvPr/>
        </p:nvSpPr>
        <p:spPr>
          <a:xfrm>
            <a:off x="2952750" y="1695450"/>
            <a:ext cx="400050" cy="209550"/>
          </a:xfrm>
          <a:prstGeom prst="rightArrow">
            <a:avLst/>
          </a:prstGeom>
          <a:solidFill>
            <a:srgbClr val="315DBF"/>
          </a:solidFill>
          <a:ln w="0">
            <a:solidFill>
              <a:srgbClr val="315DBF"/>
            </a:solidFill>
            <a:prstDash val="solid"/>
          </a:ln>
        </p:spPr>
      </p:sp>
      <p:sp>
        <p:nvSpPr>
          <p:cNvPr id="8" name="transform-box">
            <a:extLst>
              <a:ext uri="{FF2B5EF4-FFF2-40B4-BE49-F238E27FC236}">
                <a16:creationId xmlns:a16="http://schemas.microsoft.com/office/drawing/2014/main" id="{AA34B4FC-FD67-4C4E-9EDE-AC393305D242}"/>
              </a:ext>
            </a:extLst>
          </p:cNvPr>
          <p:cNvSpPr>
            <a:spLocks noGrp="1"/>
          </p:cNvSpPr>
          <p:nvPr/>
        </p:nvSpPr>
        <p:spPr>
          <a:xfrm>
            <a:off x="3467100" y="1257300"/>
            <a:ext cx="3238500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9" name="transform-label">
            <a:extLst>
              <a:ext uri="{FF2B5EF4-FFF2-40B4-BE49-F238E27FC236}">
                <a16:creationId xmlns:a16="http://schemas.microsoft.com/office/drawing/2014/main" id="{BE77DCEC-4D2A-4B65-A829-C86C00739DD1}"/>
              </a:ext>
            </a:extLst>
          </p:cNvPr>
          <p:cNvSpPr>
            <a:spLocks noGrp="1"/>
          </p:cNvSpPr>
          <p:nvPr/>
        </p:nvSpPr>
        <p:spPr>
          <a:xfrm>
            <a:off x="3619500" y="13525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315DBF"/>
                </a:solidFill>
              </a:defRPr>
            </a:pPr>
            <a:r>
              <a:rPr sz="1200" b="1">
                <a:solidFill>
                  <a:srgbClr val="315DBF"/>
                </a:solidFill>
              </a:rPr>
              <a:t>TRANSFORMACIÓN</a:t>
            </a:r>
          </a:p>
        </p:txBody>
      </p:sp>
      <p:sp>
        <p:nvSpPr>
          <p:cNvPr id="10" name="transform">
            <a:extLst>
              <a:ext uri="{FF2B5EF4-FFF2-40B4-BE49-F238E27FC236}">
                <a16:creationId xmlns:a16="http://schemas.microsoft.com/office/drawing/2014/main" id="{F54B10F5-52BA-4BD9-B280-D7BFE481670F}"/>
              </a:ext>
            </a:extLst>
          </p:cNvPr>
          <p:cNvSpPr>
            <a:spLocks noGrp="1"/>
          </p:cNvSpPr>
          <p:nvPr/>
        </p:nvSpPr>
        <p:spPr>
          <a:xfrm>
            <a:off x="3619500" y="1581150"/>
            <a:ext cx="2933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20252D"/>
                </a:solidFill>
              </a:defRPr>
            </a:pPr>
            <a:r>
              <a:rPr sz="1200" b="0">
                <a:solidFill>
                  <a:srgbClr val="20252D"/>
                </a:solidFill>
              </a:rPr>
              <a:t>Pedidos entregados → una canasta por pedido → codificación binaria con TransactionEncoder → Apriori → reglas de asociación.</a:t>
            </a:r>
          </a:p>
        </p:txBody>
      </p:sp>
      <p:sp>
        <p:nvSpPr>
          <p:cNvPr id="11" name="flow-arrow">
            <a:extLst>
              <a:ext uri="{FF2B5EF4-FFF2-40B4-BE49-F238E27FC236}">
                <a16:creationId xmlns:a16="http://schemas.microsoft.com/office/drawing/2014/main" id="{AAA4316E-1A33-42A1-A565-A0D7664C729F}"/>
              </a:ext>
            </a:extLst>
          </p:cNvPr>
          <p:cNvSpPr>
            <a:spLocks noGrp="1"/>
          </p:cNvSpPr>
          <p:nvPr/>
        </p:nvSpPr>
        <p:spPr>
          <a:xfrm>
            <a:off x="6819900" y="1695450"/>
            <a:ext cx="400050" cy="209550"/>
          </a:xfrm>
          <a:prstGeom prst="rightArrow">
            <a:avLst/>
          </a:prstGeom>
          <a:solidFill>
            <a:srgbClr val="315DBF"/>
          </a:solidFill>
          <a:ln w="0">
            <a:solidFill>
              <a:srgbClr val="315DBF"/>
            </a:solidFill>
            <a:prstDash val="solid"/>
          </a:ln>
        </p:spPr>
      </p:sp>
      <p:sp>
        <p:nvSpPr>
          <p:cNvPr id="12" name="target-box">
            <a:extLst>
              <a:ext uri="{FF2B5EF4-FFF2-40B4-BE49-F238E27FC236}">
                <a16:creationId xmlns:a16="http://schemas.microsoft.com/office/drawing/2014/main" id="{52DF8219-933B-474D-BB9A-6830A6EC1945}"/>
              </a:ext>
            </a:extLst>
          </p:cNvPr>
          <p:cNvSpPr>
            <a:spLocks noGrp="1"/>
          </p:cNvSpPr>
          <p:nvPr/>
        </p:nvSpPr>
        <p:spPr>
          <a:xfrm>
            <a:off x="7334250" y="1257300"/>
            <a:ext cx="4400550" cy="1104900"/>
          </a:xfrm>
          <a:prstGeom prst="roundRect">
            <a:avLst>
              <a:gd name="adj" fmla="val 5172"/>
            </a:avLst>
          </a:prstGeom>
          <a:solidFill>
            <a:srgbClr val="DCE5FA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13" name="target-label">
            <a:extLst>
              <a:ext uri="{FF2B5EF4-FFF2-40B4-BE49-F238E27FC236}">
                <a16:creationId xmlns:a16="http://schemas.microsoft.com/office/drawing/2014/main" id="{DB527B06-465C-4F39-AD23-A6010DF18934}"/>
              </a:ext>
            </a:extLst>
          </p:cNvPr>
          <p:cNvSpPr>
            <a:spLocks noGrp="1"/>
          </p:cNvSpPr>
          <p:nvPr/>
        </p:nvSpPr>
        <p:spPr>
          <a:xfrm>
            <a:off x="7486650" y="13525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315DBF"/>
                </a:solidFill>
              </a:defRPr>
            </a:pPr>
            <a:r>
              <a:rPr sz="1200" b="1">
                <a:solidFill>
                  <a:srgbClr val="315DBF"/>
                </a:solidFill>
              </a:rPr>
              <a:t>VARIABLE / RESULTADO</a:t>
            </a:r>
          </a:p>
        </p:txBody>
      </p:sp>
      <p:sp>
        <p:nvSpPr>
          <p:cNvPr id="14" name="target">
            <a:extLst>
              <a:ext uri="{FF2B5EF4-FFF2-40B4-BE49-F238E27FC236}">
                <a16:creationId xmlns:a16="http://schemas.microsoft.com/office/drawing/2014/main" id="{770BD4D6-693B-4D48-BCEC-28E592F0CD78}"/>
              </a:ext>
            </a:extLst>
          </p:cNvPr>
          <p:cNvSpPr>
            <a:spLocks noGrp="1"/>
          </p:cNvSpPr>
          <p:nvPr/>
        </p:nvSpPr>
        <p:spPr>
          <a:xfrm>
            <a:off x="7486650" y="158115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252D"/>
                </a:solidFill>
              </a:defRPr>
            </a:pPr>
            <a:r>
              <a:rPr sz="1200" b="1">
                <a:solidFill>
                  <a:srgbClr val="20252D"/>
                </a:solidFill>
              </a:rPr>
              <a:t>Regla: antecedente X → consecuente Y</a:t>
            </a:r>
          </a:p>
          <a:p>
            <a:pPr algn="l">
              <a:defRPr sz="1050" b="1">
                <a:solidFill>
                  <a:srgbClr val="20252D"/>
                </a:solidFill>
              </a:defRPr>
            </a:pPr>
            <a:r>
              <a:rPr sz="1200" b="1">
                <a:solidFill>
                  <a:srgbClr val="20252D"/>
                </a:solidFill>
              </a:rPr>
              <a:t>Métricas: soporte · confianza · lift</a:t>
            </a:r>
          </a:p>
        </p:txBody>
      </p:sp>
      <p:sp>
        <p:nvSpPr>
          <p:cNvPr id="15" name="dataset-title">
            <a:extLst>
              <a:ext uri="{FF2B5EF4-FFF2-40B4-BE49-F238E27FC236}">
                <a16:creationId xmlns:a16="http://schemas.microsoft.com/office/drawing/2014/main" id="{6E0776E8-5B80-4DE0-B0F1-EC5ED9ADAAE4}"/>
              </a:ext>
            </a:extLst>
          </p:cNvPr>
          <p:cNvSpPr>
            <a:spLocks noGrp="1"/>
          </p:cNvSpPr>
          <p:nvPr/>
        </p:nvSpPr>
        <p:spPr>
          <a:xfrm>
            <a:off x="457200" y="2571750"/>
            <a:ext cx="790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252D"/>
                </a:solidFill>
              </a:defRPr>
            </a:pPr>
            <a:r>
              <a:rPr sz="1050" b="1">
                <a:solidFill>
                  <a:srgbClr val="20252D"/>
                </a:solidFill>
              </a:rPr>
              <a:t>Dataset transaccional — cada pedido es una canasta de productos</a:t>
            </a:r>
          </a:p>
        </p:txBody>
      </p:sp>
      <p:sp>
        <p:nvSpPr>
          <p:cNvPr id="16" name="th">
            <a:extLst>
              <a:ext uri="{FF2B5EF4-FFF2-40B4-BE49-F238E27FC236}">
                <a16:creationId xmlns:a16="http://schemas.microsoft.com/office/drawing/2014/main" id="{0B2C1EA7-F634-4AED-8FFA-D749B824B72C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1428750" cy="3619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17" name="th-text">
            <a:extLst>
              <a:ext uri="{FF2B5EF4-FFF2-40B4-BE49-F238E27FC236}">
                <a16:creationId xmlns:a16="http://schemas.microsoft.com/office/drawing/2014/main" id="{12337566-CEA7-47FC-BD19-FAA627A445AB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transacción</a:t>
            </a:r>
          </a:p>
        </p:txBody>
      </p:sp>
      <p:sp>
        <p:nvSpPr>
          <p:cNvPr id="18" name="th">
            <a:extLst>
              <a:ext uri="{FF2B5EF4-FFF2-40B4-BE49-F238E27FC236}">
                <a16:creationId xmlns:a16="http://schemas.microsoft.com/office/drawing/2014/main" id="{6B33FB5A-BD52-4DD2-97F3-38BC39132EA7}"/>
              </a:ext>
            </a:extLst>
          </p:cNvPr>
          <p:cNvSpPr>
            <a:spLocks noGrp="1"/>
          </p:cNvSpPr>
          <p:nvPr/>
        </p:nvSpPr>
        <p:spPr>
          <a:xfrm>
            <a:off x="1885950" y="2895600"/>
            <a:ext cx="5619750" cy="361950"/>
          </a:xfrm>
          <a:prstGeom prst="rect">
            <a:avLst/>
          </a:prstGeom>
          <a:solidFill>
            <a:srgbClr val="315DBF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19" name="th-text">
            <a:extLst>
              <a:ext uri="{FF2B5EF4-FFF2-40B4-BE49-F238E27FC236}">
                <a16:creationId xmlns:a16="http://schemas.microsoft.com/office/drawing/2014/main" id="{7FE05C01-70BA-433C-94F7-667354BA435F}"/>
              </a:ext>
            </a:extLst>
          </p:cNvPr>
          <p:cNvSpPr>
            <a:spLocks noGrp="1"/>
          </p:cNvSpPr>
          <p:nvPr/>
        </p:nvSpPr>
        <p:spPr>
          <a:xfrm>
            <a:off x="1943100" y="2895600"/>
            <a:ext cx="550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artículos de la canasta</a:t>
            </a:r>
          </a:p>
        </p:txBody>
      </p:sp>
      <p:sp>
        <p:nvSpPr>
          <p:cNvPr id="20" name="td">
            <a:extLst>
              <a:ext uri="{FF2B5EF4-FFF2-40B4-BE49-F238E27FC236}">
                <a16:creationId xmlns:a16="http://schemas.microsoft.com/office/drawing/2014/main" id="{CB0A9AFE-0F84-4035-A4BD-BFA2B9D79A18}"/>
              </a:ext>
            </a:extLst>
          </p:cNvPr>
          <p:cNvSpPr>
            <a:spLocks noGrp="1"/>
          </p:cNvSpPr>
          <p:nvPr/>
        </p:nvSpPr>
        <p:spPr>
          <a:xfrm>
            <a:off x="457200" y="3257550"/>
            <a:ext cx="1428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21" name="td-text">
            <a:extLst>
              <a:ext uri="{FF2B5EF4-FFF2-40B4-BE49-F238E27FC236}">
                <a16:creationId xmlns:a16="http://schemas.microsoft.com/office/drawing/2014/main" id="{FF3489AD-848C-4EDF-BDD9-3F176F8E3EF9}"/>
              </a:ext>
            </a:extLst>
          </p:cNvPr>
          <p:cNvSpPr>
            <a:spLocks noGrp="1"/>
          </p:cNvSpPr>
          <p:nvPr/>
        </p:nvSpPr>
        <p:spPr>
          <a:xfrm>
            <a:off x="514350" y="3257550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PED001</a:t>
            </a:r>
          </a:p>
        </p:txBody>
      </p:sp>
      <p:sp>
        <p:nvSpPr>
          <p:cNvPr id="22" name="td">
            <a:extLst>
              <a:ext uri="{FF2B5EF4-FFF2-40B4-BE49-F238E27FC236}">
                <a16:creationId xmlns:a16="http://schemas.microsoft.com/office/drawing/2014/main" id="{CD7EA05A-125E-4358-B7E2-9B54C7F87F5C}"/>
              </a:ext>
            </a:extLst>
          </p:cNvPr>
          <p:cNvSpPr>
            <a:spLocks noGrp="1"/>
          </p:cNvSpPr>
          <p:nvPr/>
        </p:nvSpPr>
        <p:spPr>
          <a:xfrm>
            <a:off x="1885950" y="3257550"/>
            <a:ext cx="5619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23" name="td-text">
            <a:extLst>
              <a:ext uri="{FF2B5EF4-FFF2-40B4-BE49-F238E27FC236}">
                <a16:creationId xmlns:a16="http://schemas.microsoft.com/office/drawing/2014/main" id="{41ACE07A-B37E-4A8B-A01C-F7B8AA3A1EBD}"/>
              </a:ext>
            </a:extLst>
          </p:cNvPr>
          <p:cNvSpPr>
            <a:spLocks noGrp="1"/>
          </p:cNvSpPr>
          <p:nvPr/>
        </p:nvSpPr>
        <p:spPr>
          <a:xfrm>
            <a:off x="1943100" y="3257550"/>
            <a:ext cx="550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Alicate, Navaja, Peine</a:t>
            </a:r>
          </a:p>
        </p:txBody>
      </p:sp>
      <p:sp>
        <p:nvSpPr>
          <p:cNvPr id="24" name="td">
            <a:extLst>
              <a:ext uri="{FF2B5EF4-FFF2-40B4-BE49-F238E27FC236}">
                <a16:creationId xmlns:a16="http://schemas.microsoft.com/office/drawing/2014/main" id="{29704DAA-8558-49EC-9E1E-C1757E62EBE6}"/>
              </a:ext>
            </a:extLst>
          </p:cNvPr>
          <p:cNvSpPr>
            <a:spLocks noGrp="1"/>
          </p:cNvSpPr>
          <p:nvPr/>
        </p:nvSpPr>
        <p:spPr>
          <a:xfrm>
            <a:off x="457200" y="3619500"/>
            <a:ext cx="1428750" cy="3619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25" name="td-text">
            <a:extLst>
              <a:ext uri="{FF2B5EF4-FFF2-40B4-BE49-F238E27FC236}">
                <a16:creationId xmlns:a16="http://schemas.microsoft.com/office/drawing/2014/main" id="{3D2D8D3B-1D60-4B0E-B403-83DE780AC87A}"/>
              </a:ext>
            </a:extLst>
          </p:cNvPr>
          <p:cNvSpPr>
            <a:spLocks noGrp="1"/>
          </p:cNvSpPr>
          <p:nvPr/>
        </p:nvSpPr>
        <p:spPr>
          <a:xfrm>
            <a:off x="514350" y="3619500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PED002</a:t>
            </a:r>
          </a:p>
        </p:txBody>
      </p:sp>
      <p:sp>
        <p:nvSpPr>
          <p:cNvPr id="26" name="td">
            <a:extLst>
              <a:ext uri="{FF2B5EF4-FFF2-40B4-BE49-F238E27FC236}">
                <a16:creationId xmlns:a16="http://schemas.microsoft.com/office/drawing/2014/main" id="{12E38A83-1E30-483D-B4E8-0289746DFCB7}"/>
              </a:ext>
            </a:extLst>
          </p:cNvPr>
          <p:cNvSpPr>
            <a:spLocks noGrp="1"/>
          </p:cNvSpPr>
          <p:nvPr/>
        </p:nvSpPr>
        <p:spPr>
          <a:xfrm>
            <a:off x="1885950" y="3619500"/>
            <a:ext cx="5619750" cy="361950"/>
          </a:xfrm>
          <a:prstGeom prst="rect">
            <a:avLst/>
          </a:prstGeom>
          <a:solidFill>
            <a:srgbClr val="F8F9FB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27" name="td-text">
            <a:extLst>
              <a:ext uri="{FF2B5EF4-FFF2-40B4-BE49-F238E27FC236}">
                <a16:creationId xmlns:a16="http://schemas.microsoft.com/office/drawing/2014/main" id="{15E246F6-D0C8-46E5-AA7F-CD07D5B037C3}"/>
              </a:ext>
            </a:extLst>
          </p:cNvPr>
          <p:cNvSpPr>
            <a:spLocks noGrp="1"/>
          </p:cNvSpPr>
          <p:nvPr/>
        </p:nvSpPr>
        <p:spPr>
          <a:xfrm>
            <a:off x="1943100" y="3619500"/>
            <a:ext cx="550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Máquina, Peine, Cera</a:t>
            </a:r>
          </a:p>
        </p:txBody>
      </p:sp>
      <p:sp>
        <p:nvSpPr>
          <p:cNvPr id="28" name="td">
            <a:extLst>
              <a:ext uri="{FF2B5EF4-FFF2-40B4-BE49-F238E27FC236}">
                <a16:creationId xmlns:a16="http://schemas.microsoft.com/office/drawing/2014/main" id="{2E8C56A1-0D48-4A3A-9927-52AF744A1E10}"/>
              </a:ext>
            </a:extLst>
          </p:cNvPr>
          <p:cNvSpPr>
            <a:spLocks noGrp="1"/>
          </p:cNvSpPr>
          <p:nvPr/>
        </p:nvSpPr>
        <p:spPr>
          <a:xfrm>
            <a:off x="457200" y="3981450"/>
            <a:ext cx="1428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29" name="td-text">
            <a:extLst>
              <a:ext uri="{FF2B5EF4-FFF2-40B4-BE49-F238E27FC236}">
                <a16:creationId xmlns:a16="http://schemas.microsoft.com/office/drawing/2014/main" id="{8C2603D9-BAC3-4D4A-A679-1E163CC2B3B4}"/>
              </a:ext>
            </a:extLst>
          </p:cNvPr>
          <p:cNvSpPr>
            <a:spLocks noGrp="1"/>
          </p:cNvSpPr>
          <p:nvPr/>
        </p:nvSpPr>
        <p:spPr>
          <a:xfrm>
            <a:off x="514350" y="3981450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PED003</a:t>
            </a:r>
          </a:p>
        </p:txBody>
      </p:sp>
      <p:sp>
        <p:nvSpPr>
          <p:cNvPr id="30" name="td">
            <a:extLst>
              <a:ext uri="{FF2B5EF4-FFF2-40B4-BE49-F238E27FC236}">
                <a16:creationId xmlns:a16="http://schemas.microsoft.com/office/drawing/2014/main" id="{06D2C7C9-1828-4B4E-A889-3BA263C9A200}"/>
              </a:ext>
            </a:extLst>
          </p:cNvPr>
          <p:cNvSpPr>
            <a:spLocks noGrp="1"/>
          </p:cNvSpPr>
          <p:nvPr/>
        </p:nvSpPr>
        <p:spPr>
          <a:xfrm>
            <a:off x="1885950" y="3981450"/>
            <a:ext cx="5619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31" name="td-text">
            <a:extLst>
              <a:ext uri="{FF2B5EF4-FFF2-40B4-BE49-F238E27FC236}">
                <a16:creationId xmlns:a16="http://schemas.microsoft.com/office/drawing/2014/main" id="{163F4C34-375E-40F7-94D9-98035229FBE1}"/>
              </a:ext>
            </a:extLst>
          </p:cNvPr>
          <p:cNvSpPr>
            <a:spLocks noGrp="1"/>
          </p:cNvSpPr>
          <p:nvPr/>
        </p:nvSpPr>
        <p:spPr>
          <a:xfrm>
            <a:off x="1943100" y="3981450"/>
            <a:ext cx="550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Alicate, Navaja, Cera</a:t>
            </a:r>
          </a:p>
        </p:txBody>
      </p:sp>
      <p:sp>
        <p:nvSpPr>
          <p:cNvPr id="32" name="thresholds">
            <a:extLst>
              <a:ext uri="{FF2B5EF4-FFF2-40B4-BE49-F238E27FC236}">
                <a16:creationId xmlns:a16="http://schemas.microsoft.com/office/drawing/2014/main" id="{823BA6C6-C00D-40CE-B06D-E981749BA3E3}"/>
              </a:ext>
            </a:extLst>
          </p:cNvPr>
          <p:cNvSpPr>
            <a:spLocks noGrp="1"/>
          </p:cNvSpPr>
          <p:nvPr/>
        </p:nvSpPr>
        <p:spPr>
          <a:xfrm>
            <a:off x="7810500" y="2724150"/>
            <a:ext cx="3924300" cy="16192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C8CDD6"/>
            </a:solidFill>
            <a:prstDash val="solid"/>
          </a:ln>
        </p:spPr>
      </p:sp>
      <p:sp>
        <p:nvSpPr>
          <p:cNvPr id="33" name="thresholds-title">
            <a:extLst>
              <a:ext uri="{FF2B5EF4-FFF2-40B4-BE49-F238E27FC236}">
                <a16:creationId xmlns:a16="http://schemas.microsoft.com/office/drawing/2014/main" id="{EC511744-A62D-4DEA-83F2-BEBAEDED8A03}"/>
              </a:ext>
            </a:extLst>
          </p:cNvPr>
          <p:cNvSpPr>
            <a:spLocks noGrp="1"/>
          </p:cNvSpPr>
          <p:nvPr/>
        </p:nvSpPr>
        <p:spPr>
          <a:xfrm>
            <a:off x="8001000" y="28765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315DBF"/>
                </a:solidFill>
              </a:defRPr>
            </a:pPr>
            <a:r>
              <a:rPr sz="1400" b="1">
                <a:solidFill>
                  <a:srgbClr val="315DBF"/>
                </a:solidFill>
              </a:rPr>
              <a:t>Criterios de una regla útil</a:t>
            </a:r>
          </a:p>
        </p:txBody>
      </p:sp>
      <p:sp>
        <p:nvSpPr>
          <p:cNvPr id="34" name="thresholds-body">
            <a:extLst>
              <a:ext uri="{FF2B5EF4-FFF2-40B4-BE49-F238E27FC236}">
                <a16:creationId xmlns:a16="http://schemas.microsoft.com/office/drawing/2014/main" id="{F891E7FA-EFBA-4798-A2FA-99BE36BEFEAD}"/>
              </a:ext>
            </a:extLst>
          </p:cNvPr>
          <p:cNvSpPr>
            <a:spLocks noGrp="1"/>
          </p:cNvSpPr>
          <p:nvPr/>
        </p:nvSpPr>
        <p:spPr>
          <a:xfrm>
            <a:off x="8001000" y="3238500"/>
            <a:ext cx="333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Soporte: frecuencia conjunta</a:t>
            </a:r>
          </a:p>
          <a:p>
            <a:pPr algn="l">
              <a:defRPr sz="1125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Confianza: P(Y | X)</a:t>
            </a:r>
          </a:p>
          <a:p>
            <a:pPr algn="l">
              <a:defRPr sz="1125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Lift &gt; 1: asociación positiva</a:t>
            </a:r>
          </a:p>
        </p:txBody>
      </p:sp>
      <p:sp>
        <p:nvSpPr>
          <p:cNvPr id="35" name="rule">
            <a:extLst>
              <a:ext uri="{FF2B5EF4-FFF2-40B4-BE49-F238E27FC236}">
                <a16:creationId xmlns:a16="http://schemas.microsoft.com/office/drawing/2014/main" id="{21365635-B78E-4242-81BA-3C54225EDA0F}"/>
              </a:ext>
            </a:extLst>
          </p:cNvPr>
          <p:cNvSpPr>
            <a:spLocks noGrp="1"/>
          </p:cNvSpPr>
          <p:nvPr/>
        </p:nvSpPr>
        <p:spPr>
          <a:xfrm>
            <a:off x="457200" y="4629150"/>
            <a:ext cx="11277600" cy="1066800"/>
          </a:xfrm>
          <a:prstGeom prst="roundRect">
            <a:avLst>
              <a:gd name="adj" fmla="val 5357"/>
            </a:avLst>
          </a:prstGeom>
          <a:solidFill>
            <a:srgbClr val="DCE5FA"/>
          </a:solidFill>
          <a:ln w="9525">
            <a:solidFill>
              <a:srgbClr val="315DBF"/>
            </a:solidFill>
            <a:prstDash val="solid"/>
          </a:ln>
        </p:spPr>
      </p:sp>
      <p:sp>
        <p:nvSpPr>
          <p:cNvPr id="36" name="rule-title">
            <a:extLst>
              <a:ext uri="{FF2B5EF4-FFF2-40B4-BE49-F238E27FC236}">
                <a16:creationId xmlns:a16="http://schemas.microsoft.com/office/drawing/2014/main" id="{D4EDF83E-0CE3-4A49-82FA-095D52C4D96A}"/>
              </a:ext>
            </a:extLst>
          </p:cNvPr>
          <p:cNvSpPr>
            <a:spLocks noGrp="1"/>
          </p:cNvSpPr>
          <p:nvPr/>
        </p:nvSpPr>
        <p:spPr>
          <a:xfrm>
            <a:off x="647700" y="47625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15DBF"/>
                </a:solidFill>
              </a:defRPr>
            </a:pPr>
            <a:r>
              <a:rPr sz="1400" b="1">
                <a:solidFill>
                  <a:srgbClr val="315DBF"/>
                </a:solidFill>
              </a:rPr>
              <a:t>Ejemplo de resultado</a:t>
            </a:r>
          </a:p>
        </p:txBody>
      </p:sp>
      <p:sp>
        <p:nvSpPr>
          <p:cNvPr id="37" name="rule-body">
            <a:extLst>
              <a:ext uri="{FF2B5EF4-FFF2-40B4-BE49-F238E27FC236}">
                <a16:creationId xmlns:a16="http://schemas.microsoft.com/office/drawing/2014/main" id="{1F944CAB-B826-4992-A506-BC7E95AD771D}"/>
              </a:ext>
            </a:extLst>
          </p:cNvPr>
          <p:cNvSpPr>
            <a:spLocks noGrp="1"/>
          </p:cNvSpPr>
          <p:nvPr/>
        </p:nvSpPr>
        <p:spPr>
          <a:xfrm>
            <a:off x="647700" y="50101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{Alicate} → {Navaja}   |   soporte = 0.40   ·   confianza = 0.80   ·   lift = 1.25</a:t>
            </a:r>
          </a:p>
          <a:p>
            <a:pPr algn="l">
              <a:defRPr sz="1125" b="0">
                <a:solidFill>
                  <a:srgbClr val="20252D"/>
                </a:solidFill>
              </a:defRPr>
            </a:pPr>
            <a:r>
              <a:rPr sz="1400" b="0">
                <a:solidFill>
                  <a:srgbClr val="20252D"/>
                </a:solidFill>
              </a:rPr>
              <a:t>Interpretación: cuando aparece un alicate, la navaja también aparece en 8 de cada 10 canastas; el lift mayor que 1 indica asociación positiva.</a:t>
            </a:r>
          </a:p>
        </p:txBody>
      </p:sp>
      <p:sp>
        <p:nvSpPr>
          <p:cNvPr id="38" name="example-note">
            <a:extLst>
              <a:ext uri="{FF2B5EF4-FFF2-40B4-BE49-F238E27FC236}">
                <a16:creationId xmlns:a16="http://schemas.microsoft.com/office/drawing/2014/main" id="{D403BD1E-681A-451F-AFFD-9DB23C36021B}"/>
              </a:ext>
            </a:extLst>
          </p:cNvPr>
          <p:cNvSpPr>
            <a:spLocks noGrp="1"/>
          </p:cNvSpPr>
          <p:nvPr/>
        </p:nvSpPr>
        <p:spPr>
          <a:xfrm>
            <a:off x="457200" y="598170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Utilidad: promociones combinadas, venta cruzada y recomendaciones del tipo “también compraron”. Valores ilustrativos.</a:t>
            </a:r>
          </a:p>
        </p:txBody>
      </p:sp>
    </p:spTree>
    <p:extLst>
      <p:ext uri="{BB962C8B-B14F-4D97-AF65-F5344CB8AC3E}">
        <p14:creationId xmlns:p14="http://schemas.microsoft.com/office/powerpoint/2010/main" val="17280549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603</Words>
  <Application>Microsoft Office PowerPoint</Application>
  <DocSecurity>0</DocSecurity>
  <PresentationFormat>Panorámica</PresentationFormat>
  <Paragraphs>137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Oscar David De la Cruz Hernández</cp:lastModifiedBy>
  <cp:revision>8</cp:revision>
  <dcterms:created xsi:type="dcterms:W3CDTF">2026-07-16T21:29:22Z</dcterms:created>
  <dcterms:modified xsi:type="dcterms:W3CDTF">2026-07-16T22:23:53Z</dcterms:modified>
</cp:coreProperties>
</file>